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rPr dirty="0"/>
              <a:t>Cold storage is part of integrated facilities, not an additional independent cap. Combined ceiling ₹300 lakh for 1(a)–1(d). Merchant exporter vehicle limit 2 per plan, manufacturer 5. Missing-gap line already established (manual facilities needing </a:t>
            </a:r>
            <a:r>
              <a:rPr dirty="0" err="1"/>
              <a:t>mechanisation</a:t>
            </a:r>
            <a:r>
              <a:rPr dirty="0"/>
              <a:t>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C9425B-40DF-4D86-A7B6-CA1C7C194F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91625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6300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1CF1DB-DE52-4F08-A2F2-10A8D7B3CE7C}"/>
              </a:ext>
            </a:extLst>
          </p:cNvPr>
          <p:cNvSpPr>
            <a:spLocks noGrp="1"/>
          </p:cNvSpPr>
          <p:nvPr/>
        </p:nvSpPr>
        <p:spPr>
          <a:xfrm>
            <a:off x="8477250" y="0"/>
            <a:ext cx="3714750" cy="1619250"/>
          </a:xfrm>
          <a:prstGeom prst="rect">
            <a:avLst/>
          </a:prstGeom>
          <a:gradFill>
            <a:gsLst>
              <a:gs pos="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077325" y="306203"/>
            <a:ext cx="2600325" cy="87349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5669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D8651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200" b="1">
                <a:solidFill>
                  <a:srgbClr val="2D8651"/>
                </a:solidFill>
                <a:latin typeface="Cambria"/>
                <a:ea typeface="Cambria"/>
                <a:cs typeface="Cambria"/>
              </a:defRPr>
            </a:pPr>
            <a:r>
              <a:rPr sz="2200" b="1">
                <a:solidFill>
                  <a:srgbClr val="2D8651"/>
                </a:solidFill>
                <a:latin typeface="Cambria"/>
                <a:ea typeface="Cambria"/>
                <a:cs typeface="Cambria"/>
              </a:rPr>
              <a:t>APEDA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67665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36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Bharat Krishi</a:t>
            </a:r>
          </a:p>
          <a:p>
            <a: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36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66928" y="3429000"/>
            <a:ext cx="64922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700" b="0">
                <a:solidFill>
                  <a:srgbClr val="223529"/>
                </a:solidFill>
                <a:latin typeface="Cambria"/>
                <a:ea typeface="Cambria"/>
                <a:cs typeface="Cambria"/>
              </a:defRPr>
            </a:pPr>
            <a:r>
              <a:rPr sz="1700" b="0" i="1">
                <a:solidFill>
                  <a:srgbClr val="223529"/>
                </a:solidFill>
                <a:latin typeface="Cambria"/>
                <a:ea typeface="Cambria"/>
                <a:cs typeface="Cambria"/>
              </a:rPr>
              <a:t>Financial Assistance Guidelines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950208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66928" y="3950208"/>
            <a:ext cx="2651760" cy="438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66928" y="4617720"/>
            <a:ext cx="61264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762046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8FC9BF-A0FA-3ECC-1E30-DCCFCDA56494}"/>
              </a:ext>
            </a:extLst>
          </p:cNvPr>
          <p:cNvCxnSpPr/>
          <p:nvPr/>
        </p:nvCxnSpPr>
        <p:spPr>
          <a:xfrm>
            <a:off x="164096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2CB9-2365-FFB4-596C-A95DE91FC7CF}"/>
              </a:ext>
            </a:extLst>
          </p:cNvPr>
          <p:cNvCxnSpPr/>
          <p:nvPr/>
        </p:nvCxnSpPr>
        <p:spPr>
          <a:xfrm>
            <a:off x="5477256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84D8612-2ED6-88E4-6FD7-9D161E5A72A6}"/>
              </a:ext>
            </a:extLst>
          </p:cNvPr>
          <p:cNvCxnSpPr/>
          <p:nvPr/>
        </p:nvCxnSpPr>
        <p:spPr>
          <a:xfrm>
            <a:off x="927620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1(a)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assistance limit for 1(a)–1(d)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897880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islands. Public common facilities use a separate route.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0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AC9EDF-0A01-7EA0-0FA5-96F36BDD2513}"/>
              </a:ext>
            </a:extLst>
          </p:cNvPr>
          <p:cNvCxnSpPr>
            <a:cxnSpLocks/>
          </p:cNvCxnSpPr>
          <p:nvPr/>
        </p:nvCxnSpPr>
        <p:spPr>
          <a:xfrm>
            <a:off x="1533525" y="4737735"/>
            <a:ext cx="770382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64592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facility under 1(a).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/ lease and packhouse norms apply.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135C2D-2D6A-4773-8CCD-4F8EDDD15735}"/>
              </a:ext>
            </a:extLst>
          </p:cNvPr>
          <p:cNvSpPr>
            <a:spLocks noGrp="1"/>
          </p:cNvSpPr>
          <p:nvPr/>
        </p:nvSpPr>
        <p:spPr>
          <a:xfrm>
            <a:off x="640080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1(a) / 1(b)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70148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49CA3-7BCB-4742-957C-9D08F7005A9E}"/>
              </a:ext>
            </a:extLst>
          </p:cNvPr>
          <p:cNvSpPr>
            <a:spLocks noGrp="1"/>
          </p:cNvSpPr>
          <p:nvPr/>
        </p:nvSpPr>
        <p:spPr>
          <a:xfrm>
            <a:off x="3470148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1(d)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0216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9DA51A-559D-41CA-9DCE-9F7E500858C4}"/>
              </a:ext>
            </a:extLst>
          </p:cNvPr>
          <p:cNvSpPr>
            <a:spLocks noGrp="1"/>
          </p:cNvSpPr>
          <p:nvPr/>
        </p:nvSpPr>
        <p:spPr>
          <a:xfrm>
            <a:off x="6300216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1(c)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284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6C77B9-42F5-46BE-B90E-FC1479764728}"/>
              </a:ext>
            </a:extLst>
          </p:cNvPr>
          <p:cNvSpPr>
            <a:spLocks noGrp="1"/>
          </p:cNvSpPr>
          <p:nvPr/>
        </p:nvSpPr>
        <p:spPr>
          <a:xfrm>
            <a:off x="9130284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15(b)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3931920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3931920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20240"/>
            <a:ext cx="36576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lang="en-US"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Q</a:t>
            </a:r>
            <a:r>
              <a:rPr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364224" y="3072384"/>
            <a:ext cx="5276088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Get 3 quotes from OEMs / authorised dealers; you may buy from any of them.</a:t>
            </a:r>
            <a:r>
              <a:rPr sz="1200" b="0" dirty="0" err="1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114800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114800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Filing-to-IPA expenditure needs APEDA’s acceptance.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547872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547872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Existing line + FSMS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for processing gaps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Vehicles per plan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138160" y="3831336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448288" y="3831336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3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004AFC3-8363-1EB2-2D36-D890E2C7D2CB}"/>
              </a:ext>
            </a:extLst>
          </p:cNvPr>
          <p:cNvCxnSpPr>
            <a:cxnSpLocks/>
          </p:cNvCxnSpPr>
          <p:nvPr/>
        </p:nvCxnSpPr>
        <p:spPr>
          <a:xfrm>
            <a:off x="901827" y="1846326"/>
            <a:ext cx="1143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BE2A99-3977-3786-9782-A6D3558D979F}"/>
              </a:ext>
            </a:extLst>
          </p:cNvPr>
          <p:cNvCxnSpPr>
            <a:cxnSpLocks/>
          </p:cNvCxnSpPr>
          <p:nvPr/>
        </p:nvCxnSpPr>
        <p:spPr>
          <a:xfrm>
            <a:off x="7076313" y="1826903"/>
            <a:ext cx="1439037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4224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8352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1">
                <a:solidFill>
                  <a:srgbClr val="174F35"/>
                </a:solidFill>
                <a:latin typeface="Arial"/>
              </a:rPr>
              <a:t>Quote 2</a:t>
            </a:r>
          </a:p>
          <a:p>
            <a:pPr algn="ctr"/>
            <a:r>
              <a:rPr sz="1000" b="0">
                <a:solidFill>
                  <a:srgbClr val="174F35"/>
                </a:solidFill>
                <a:latin typeface="Arial"/>
              </a:rPr>
              <a:t>lowest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3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36608" y="2606040"/>
            <a:ext cx="384048" cy="256032"/>
          </a:xfrm>
          <a:prstGeom prst="rightArrow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930384" y="2450592"/>
            <a:ext cx="1709928" cy="566928"/>
          </a:xfrm>
          <a:prstGeom prst="roundRect">
            <a:avLst>
              <a:gd name="adj" fmla="val 12903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</a:rPr>
              <a:t>Assistance calculated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 lowest quote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including renewals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9120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sample,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Packaging: line + FSMS. Testing: no IPA. Lab equipment excludes consumables, glassware, computers, general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5262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BHARATI registration + 3-year export projections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SPS evidence, target market and measurable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75390" r="520" b="390"/>
          <a:stretch/>
        </p:blipFill>
        <p:spPr>
          <a:xfrm>
            <a:off x="685800" y="4663440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7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E0A215-3DB6-8282-C309-FF8865FB3CD9}"/>
              </a:ext>
            </a:extLst>
          </p:cNvPr>
          <p:cNvCxnSpPr>
            <a:cxnSpLocks/>
          </p:cNvCxnSpPr>
          <p:nvPr/>
        </p:nvCxnSpPr>
        <p:spPr>
          <a:xfrm>
            <a:off x="2581275" y="5124831"/>
            <a:ext cx="77533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CEDC34-65EC-1310-D145-01EFE6DB4D14}"/>
              </a:ext>
            </a:extLst>
          </p:cNvPr>
          <p:cNvCxnSpPr>
            <a:cxnSpLocks/>
          </p:cNvCxnSpPr>
          <p:nvPr/>
        </p:nvCxnSpPr>
        <p:spPr>
          <a:xfrm>
            <a:off x="5792982" y="5124831"/>
            <a:ext cx="1307334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E7BC06-8BE4-E84A-06D9-1CD04B152321}"/>
              </a:ext>
            </a:extLst>
          </p:cNvPr>
          <p:cNvCxnSpPr>
            <a:cxnSpLocks/>
          </p:cNvCxnSpPr>
          <p:nvPr/>
        </p:nvCxnSpPr>
        <p:spPr>
          <a:xfrm>
            <a:off x="8905875" y="5105789"/>
            <a:ext cx="13239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93292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93292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51860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51860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0428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710428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27564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27564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Pay chain / authorised entity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at twice available funds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 / Authority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 &gt;₹250 lakh: Authority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facilities 1(e)/(f)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1(e)/(f)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48403-0520-4792-96F0-A48C576D9144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exporter assistance reimburses approved eligible cost after completion and verification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/ UDIN, invoices, bank payments and completion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Infrastructure grants: 3 years or until performance, whichever is later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17608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Retain assets. No sale / transfer. Recovery for breach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6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685800" y="731520"/>
            <a:ext cx="10607040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4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2960" y="3246120"/>
            <a:ext cx="4014216" cy="1344168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486400" y="2377440"/>
            <a:ext cx="0" cy="3291840"/>
          </a:xfrm>
          <a:prstGeom prst="line">
            <a:avLst/>
          </a:prstGeom>
          <a:noFill/>
          <a:ln w="1905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943600" y="2468880"/>
            <a:ext cx="53035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2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943600" y="2971800"/>
            <a:ext cx="530352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943600" y="3794760"/>
            <a:ext cx="530352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943600" y="4754880"/>
            <a:ext cx="53035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2923</Words>
  <Application>Microsoft Office PowerPoint</Application>
  <DocSecurity>0</DocSecurity>
  <PresentationFormat>Widescreen</PresentationFormat>
  <Paragraphs>266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Cambria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4</cp:revision>
  <dcterms:created xsi:type="dcterms:W3CDTF">2026-10-13T08:41:00Z</dcterms:created>
  <dcterms:modified xsi:type="dcterms:W3CDTF">2026-10-13T10:31:50Z</dcterms:modified>
</cp:coreProperties>
</file>