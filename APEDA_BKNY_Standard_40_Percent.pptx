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t>Cold storage is part of integrated facilities, not an additional independent cap. Combined ceiling ₹300 lakh for 1(a)–1(d). Merchant exporter vehicle limit 2 per plan, manufacturer 5. Missing-gap line already established (manual facilities needing mechanisation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74292" y="1463040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62956" y="1463040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51620" y="1463040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194560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194560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4348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257800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4937760"/>
            <a:ext cx="0" cy="73152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4937760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669280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Eligibility and support areas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D1D06-4846-4BAE-9717-B1345BFA6A2C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APEDA scheduled products and NPOP-certified organic products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390" r="83853" b="75390"/>
          <a:stretch/>
        </p:blipFill>
        <p:spPr>
          <a:xfrm>
            <a:off x="1802892" y="1691640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08960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700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520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390" r="33853" b="75390"/>
          <a:stretch/>
        </p:blipFill>
        <p:spPr>
          <a:xfrm>
            <a:off x="5591556" y="1691640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08960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700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520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25390" r="33853" b="50390"/>
          <a:stretch/>
        </p:blipFill>
        <p:spPr>
          <a:xfrm>
            <a:off x="9380220" y="1691640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08960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700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520440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4983480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2000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754880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645152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486400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376672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 operators, FPOs / PACS, listed labs and institutions</a:t>
            </a:r>
          </a:p>
        </p:txBody>
      </p:sp>
      <p:sp>
        <p:nvSpPr>
          <p:cNvPr id="25" name="Pentagon 24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B8DF92-D13B-4FD9-AA12-27928C4B148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855464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58184" y="5586984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 assistance for export infrastructure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695CAB-8A6D-4862-8312-69926A4C6BB2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route for projects in other states and ordinary beneficiary categories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0" name="Pentagon 29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60F299-6D0B-43F8-86A8-6A2A8FC677B2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006340" y="2651760"/>
            <a:ext cx="0" cy="50292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4526280" y="452628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5" name="Rounded Rectangle 24"/>
          <p:cNvSpPr/>
          <p:nvPr/>
        </p:nvSpPr>
        <p:spPr>
          <a:xfrm>
            <a:off x="4526280" y="5349240"/>
            <a:ext cx="3566160" cy="237744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packhouses and facility upgrades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661D1-CE16-4146-A191-9FBF99A20B41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Two investment routes, both at the standard 40% assistance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15000" y="1755648"/>
            <a:ext cx="27432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15000" y="3218688"/>
            <a:ext cx="27432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15000" y="2157984"/>
            <a:ext cx="27432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15000" y="3621024"/>
            <a:ext cx="27432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503920" y="1645920"/>
            <a:ext cx="3136392" cy="1051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503920" y="3108960"/>
            <a:ext cx="3136392" cy="1051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4526280" y="4800600"/>
            <a:ext cx="36576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8503920" y="4800600"/>
            <a:ext cx="3136392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19" name="Pentagon 1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42E42-52C7-4F5D-A992-DB3BFC42B0A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Oval 20"/>
          <p:cNvSpPr/>
          <p:nvPr/>
        </p:nvSpPr>
        <p:spPr>
          <a:xfrm>
            <a:off x="4526280" y="16916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26280" y="1691640"/>
            <a:ext cx="960120" cy="960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22" name="Oval 21"/>
          <p:cNvSpPr/>
          <p:nvPr/>
        </p:nvSpPr>
        <p:spPr>
          <a:xfrm>
            <a:off x="4526280" y="315468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26280" y="3154680"/>
            <a:ext cx="960120" cy="960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5349240"/>
            <a:ext cx="891540" cy="237744"/>
          </a:xfrm>
          <a:prstGeom prst="roundRect">
            <a:avLst>
              <a:gd name="adj" fmla="val 50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along the export supply chain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FB1CC-FF41-43B4-B9D1-D2D9EF93710B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Infrastructure support at 40%, followed by separate market-development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39" name="Pentagon 3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F63BC0-0E45-4C36-8EB6-B5AF87A0466E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094476" y="1600200"/>
            <a:ext cx="0" cy="24688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4" name="Rounded Rectangle 23"/>
          <p:cNvSpPr/>
          <p:nvPr/>
        </p:nvSpPr>
        <p:spPr>
          <a:xfrm>
            <a:off x="548640" y="2926080"/>
            <a:ext cx="3429000" cy="310896"/>
          </a:xfrm>
          <a:prstGeom prst="roundRect">
            <a:avLst>
              <a:gd name="adj" fmla="val 176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14216" y="2926080"/>
            <a:ext cx="1106424" cy="310896"/>
          </a:xfrm>
          <a:prstGeom prst="roundRect">
            <a:avLst>
              <a:gd name="adj" fmla="val 17647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68796" y="2130552"/>
            <a:ext cx="237744" cy="658368"/>
          </a:xfrm>
          <a:prstGeom prst="roundRect">
            <a:avLst>
              <a:gd name="adj" fmla="val 15384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16268" y="2331720"/>
            <a:ext cx="237744" cy="457200"/>
          </a:xfrm>
          <a:prstGeom prst="roundRect">
            <a:avLst>
              <a:gd name="adj" fmla="val 15384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063740" y="1965960"/>
            <a:ext cx="237744" cy="822960"/>
          </a:xfrm>
          <a:prstGeom prst="roundRect">
            <a:avLst>
              <a:gd name="adj" fmla="val 15384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368796" y="3200400"/>
            <a:ext cx="5271516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548640" y="45720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4200144" y="4846320"/>
            <a:ext cx="0" cy="822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7988808" y="4846320"/>
            <a:ext cx="0" cy="822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counts for the infrastructure grant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5F657-E078-49D5-B316-5287F691CBB1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Only eligible assets and eligible timing enter the assistance calculation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5271516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868680" y="2103120"/>
            <a:ext cx="4951476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548640" y="3383280"/>
            <a:ext cx="5271516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8796" y="1508760"/>
            <a:ext cx="5271516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7648956" y="2011680"/>
            <a:ext cx="3200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3 quotations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7648956" y="2487168"/>
            <a:ext cx="3991356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OEM / authorised suppliers. Assistance uses the lowest quoted rate, even if another supplier receives the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8796" y="3337560"/>
            <a:ext cx="5271516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before online filing are ineligible. Filing-to-IPA expenditure needs APEDA’s acceptance.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868680" y="4937760"/>
            <a:ext cx="305714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4657344" y="4937760"/>
            <a:ext cx="305714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8446008" y="4937760"/>
            <a:ext cx="305714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19" name="Pentagon 1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5F27DD-C627-4773-91D1-352C6F0697E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Oval 21"/>
          <p:cNvSpPr/>
          <p:nvPr/>
        </p:nvSpPr>
        <p:spPr>
          <a:xfrm>
            <a:off x="576072" y="2148840"/>
            <a:ext cx="128016" cy="128016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6072" y="2368296"/>
            <a:ext cx="128016" cy="128016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6928" y="5001768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355592" y="5001768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44256" y="5001768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48640" y="5266944"/>
            <a:ext cx="31089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5769864"/>
            <a:ext cx="1554480" cy="128016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297680" y="1463040"/>
            <a:ext cx="118872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97680" y="3840480"/>
            <a:ext cx="2203704" cy="146304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67144" y="1463040"/>
            <a:ext cx="118872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867144" y="3840480"/>
            <a:ext cx="2203704" cy="146304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684264" y="1554480"/>
            <a:ext cx="0" cy="39319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9436608" y="1463040"/>
            <a:ext cx="118872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436608" y="3840480"/>
            <a:ext cx="2203704" cy="146304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9253728" y="1554480"/>
            <a:ext cx="0" cy="39319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Quality, testing and laboratory assistance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2B203-557A-47F5-B6CC-F127BF62D230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rates for certification, shelf life and export-quality verification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2" r="1562"/>
          <a:stretch>
            <a:fillRect/>
          </a:stretch>
        </p:blipFill>
        <p:spPr>
          <a:xfrm>
            <a:off x="548640" y="1508760"/>
            <a:ext cx="3291840" cy="25511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390" r="520" b="75390"/>
          <a:stretch/>
        </p:blipFill>
        <p:spPr>
          <a:xfrm>
            <a:off x="4498848" y="1664208"/>
            <a:ext cx="786384" cy="78638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4297680" y="2834640"/>
            <a:ext cx="220370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4297680" y="3200400"/>
            <a:ext cx="2203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4297680" y="4160520"/>
            <a:ext cx="220370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4297680" y="4617720"/>
            <a:ext cx="220370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25390" r="50520" b="50390"/>
          <a:stretch/>
        </p:blipFill>
        <p:spPr>
          <a:xfrm>
            <a:off x="7068312" y="1664208"/>
            <a:ext cx="786384" cy="78638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6867144" y="2834640"/>
            <a:ext cx="220370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6867144" y="3200400"/>
            <a:ext cx="2203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6867144" y="4160520"/>
            <a:ext cx="220370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6867144" y="4617720"/>
            <a:ext cx="220370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637776" y="1664208"/>
            <a:ext cx="786384" cy="78638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9436608" y="2834640"/>
            <a:ext cx="220370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9436608" y="3200400"/>
            <a:ext cx="2203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9436608" y="4160520"/>
            <a:ext cx="220370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9436608" y="4617720"/>
            <a:ext cx="220370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4251960"/>
            <a:ext cx="329184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4617720"/>
            <a:ext cx="3291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548640" y="5486400"/>
            <a:ext cx="329184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548640" y="4983480"/>
            <a:ext cx="329184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consumables, civil works, furniture and office equipment excluded.</a:t>
            </a:r>
          </a:p>
        </p:txBody>
      </p:sp>
      <p:sp>
        <p:nvSpPr>
          <p:cNvPr id="26" name="Pentagon 2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F50093-F7A0-4AFC-9A7D-8050DC6FB96A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840480"/>
            <a:ext cx="1101852" cy="146304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67144" y="3840480"/>
            <a:ext cx="881482" cy="146304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436608" y="3840480"/>
            <a:ext cx="1101852" cy="146304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Innovation, startups and export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7C23C2-DD04-4CF8-BF34-B8A5746A70C9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Targeted assistance beyond the standard infrastructure routes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700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ToT: 50%, ₹5 lakh / year</a:t>
            </a:r>
          </a:p>
        </p:txBody>
      </p:sp>
      <p:sp>
        <p:nvSpPr>
          <p:cNvPr id="29" name="Pentagon 2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83B51E-CD6E-4A6B-9379-70A89CA79D57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120140" y="4192524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78708" y="4192524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637276" y="3589020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895844" y="4222699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54412" y="283464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343400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Market access and overseas promotion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6F162-974E-4424-9182-7552DC918536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Base assistance is 50% for the five routes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75390" r="83853" b="390"/>
          <a:stretch/>
        </p:blipFill>
        <p:spPr>
          <a:xfrm>
            <a:off x="1120140" y="1353312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73532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75390" r="64267" b="390"/>
          <a:stretch/>
        </p:blipFill>
        <p:spPr>
          <a:xfrm>
            <a:off x="3378708" y="1353312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73532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75390" r="50520" b="390"/>
          <a:stretch/>
        </p:blipFill>
        <p:spPr>
          <a:xfrm>
            <a:off x="5637276" y="1353312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13182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75390" r="33853" b="390"/>
          <a:stretch/>
        </p:blipFill>
        <p:spPr>
          <a:xfrm>
            <a:off x="7895844" y="1353312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765499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75390" r="17187" b="390"/>
          <a:stretch/>
        </p:blipFill>
        <p:spPr>
          <a:xfrm>
            <a:off x="10154412" y="1353312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498848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37744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303520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6" name="Pentagon 3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A554AF-4B9D-4D74-ABE1-6DB95ACB6FC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48920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4892040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00200"/>
            <a:ext cx="0" cy="4160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1965960"/>
            <a:ext cx="0" cy="1609344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432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575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1965960"/>
            <a:ext cx="0" cy="2752344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432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575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4718304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Market proposals: eligibility and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BA444-3BF6-41C2-818F-C25E65881FE7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The proposal must establish the target market and the activity-specific case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286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633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429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3776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331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474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331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286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633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474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429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3776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617720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572000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4919472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3" name="Pentagon 22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94B093-C0B1-48BA-8352-DC75E69B02A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0876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0876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08760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48640" y="39776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Application, approval and reimbursement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59541-498A-409C-8E69-C03276DFF483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APEDA website: Schemes menu, “Submit BKNY Application”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286000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72491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054096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11680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11680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72491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054096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11680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11680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72491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054096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11680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11680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72491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054096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4882896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475488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16636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48640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475488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16636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48640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475488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16636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48640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4754880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16636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486400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0" name="Pentagon 39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51FE1F-D915-4FE4-AC53-37603A21500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8640" y="15087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383024" y="15087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0200"/>
            <a:ext cx="0" cy="19202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087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0200"/>
            <a:ext cx="0" cy="19202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8404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83024" y="38404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3931920"/>
            <a:ext cx="0" cy="19202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8404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3931920"/>
            <a:ext cx="0" cy="19202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63016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Documents supporting the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3CE42F-56C6-45D2-886D-99B31FFA3DB0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Six groups cover the core file. Each sub-component adds its prescribed formats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713232" y="1673352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3736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69748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02666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25390" r="17187" b="50390"/>
          <a:stretch/>
        </p:blipFill>
        <p:spPr>
          <a:xfrm>
            <a:off x="4547616" y="1673352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3736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69748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02666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50390" r="50520" b="25390"/>
          <a:stretch/>
        </p:blipFill>
        <p:spPr>
          <a:xfrm>
            <a:off x="8382000" y="1673352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3736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69748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02666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Appraisal / loan or relevant financial evidence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50390" r="17187" b="25390"/>
          <a:stretch/>
        </p:blipFill>
        <p:spPr>
          <a:xfrm>
            <a:off x="713232" y="4005072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06908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35838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50390" r="67187" b="25390"/>
          <a:stretch/>
        </p:blipFill>
        <p:spPr>
          <a:xfrm>
            <a:off x="4547616" y="4005072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06908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02920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35838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Engineer-certified BOQ and project drawing / layout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50390" r="33853" b="25390"/>
          <a:stretch/>
        </p:blipFill>
        <p:spPr>
          <a:xfrm>
            <a:off x="8382000" y="4005072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069080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029200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358384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36" name="Pentagon 3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579080-D023-46C8-87D5-1300441AC608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48640" y="36576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6035040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7156094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8277149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9398203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10519258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11640312" y="3840480"/>
            <a:ext cx="0" cy="21488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8" name="Rounded Rectangle 37"/>
          <p:cNvSpPr/>
          <p:nvPr/>
        </p:nvSpPr>
        <p:spPr>
          <a:xfrm>
            <a:off x="6035040" y="4078224"/>
            <a:ext cx="5605272" cy="256032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exporter assistance reimburses approved eligible cost after completion and verification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1D470AC-AB83-4692-95E6-83150ACABE51}"/>
              </a:ext>
            </a:extLst>
          </p:cNvPr>
          <p:cNvSpPr>
            <a:spLocks noGrp="1"/>
          </p:cNvSpPr>
          <p:nvPr/>
        </p:nvSpPr>
        <p:spPr>
          <a:xfrm>
            <a:off x="685800" y="1691640"/>
            <a:ext cx="7577328" cy="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6268665-F276-42E8-A8D4-E5502076B86C}"/>
              </a:ext>
            </a:extLst>
          </p:cNvPr>
          <p:cNvSpPr>
            <a:spLocks noGrp="1"/>
          </p:cNvSpPr>
          <p:nvPr/>
        </p:nvSpPr>
        <p:spPr>
          <a:xfrm>
            <a:off x="548640" y="1554480"/>
            <a:ext cx="274320" cy="27432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1993392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31720"/>
            <a:ext cx="324002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1A04D46-DE00-41E4-ACC8-31564E5A1492}"/>
              </a:ext>
            </a:extLst>
          </p:cNvPr>
          <p:cNvSpPr>
            <a:spLocks noGrp="1"/>
          </p:cNvSpPr>
          <p:nvPr/>
        </p:nvSpPr>
        <p:spPr>
          <a:xfrm>
            <a:off x="4337304" y="1554480"/>
            <a:ext cx="274320" cy="27432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1993392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31720"/>
            <a:ext cx="324002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6DAAB4-0BDB-4130-86F4-0C3A56949170}"/>
              </a:ext>
            </a:extLst>
          </p:cNvPr>
          <p:cNvSpPr>
            <a:spLocks noGrp="1"/>
          </p:cNvSpPr>
          <p:nvPr/>
        </p:nvSpPr>
        <p:spPr>
          <a:xfrm>
            <a:off x="8125968" y="1554480"/>
            <a:ext cx="274320" cy="274320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1993392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31720"/>
            <a:ext cx="324002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822960" y="3154680"/>
            <a:ext cx="1081735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548640" y="3931920"/>
            <a:ext cx="16002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194560" y="3931920"/>
            <a:ext cx="36118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548640" y="4617720"/>
            <a:ext cx="16002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2194560" y="4617720"/>
            <a:ext cx="36118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548640" y="5303520"/>
            <a:ext cx="16002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2194560" y="5303520"/>
            <a:ext cx="36118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28" name="Pentagon 27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CDFDD3-1100-4B94-89BA-5F9E210B7152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0" name="Oval 29"/>
          <p:cNvSpPr/>
          <p:nvPr/>
        </p:nvSpPr>
        <p:spPr>
          <a:xfrm>
            <a:off x="566928" y="3236976"/>
            <a:ext cx="128016" cy="128016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35040" y="4078224"/>
            <a:ext cx="3363163" cy="25603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115736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95999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76263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56527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36790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517054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97317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077581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57845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638108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918372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198635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478899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759163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039426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319690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599953" y="4832604"/>
            <a:ext cx="118872" cy="118872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880217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160481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440744" y="4832604"/>
            <a:ext cx="118872" cy="118872"/>
          </a:xfrm>
          <a:prstGeom prst="ellipse">
            <a:avLst/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035040" y="5449824"/>
            <a:ext cx="5605272" cy="25603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3036</Words>
  <Application>Microsoft Office PowerPoint</Application>
  <DocSecurity>0</DocSecurity>
  <PresentationFormat>Widescreen</PresentationFormat>
  <Paragraphs>273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1</cp:revision>
  <dcterms:created xsi:type="dcterms:W3CDTF">2026-10-13T08:41:00Z</dcterms:created>
  <dcterms:modified xsi:type="dcterms:W3CDTF">2026-10-13T09:13:17Z</dcterms:modified>
</cp:coreProperties>
</file>