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C9425B-40DF-4D86-A7B6-CA1C7C194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91625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300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CF1DB-DE52-4F08-A2F2-10A8D7B3CE7C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1619250"/>
          </a:xfrm>
          <a:prstGeom prst="rect">
            <a:avLst/>
          </a:prstGeom>
          <a:gradFill>
            <a:gsLst>
              <a:gs pos="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77325" y="306203"/>
            <a:ext cx="2600325" cy="87349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pPr>
            <a:r>
              <a:rPr sz="2200" b="1">
                <a:solidFill>
                  <a:srgbClr val="2D8651"/>
                </a:solidFill>
                <a:latin typeface="Cambria"/>
                <a:ea typeface="Cambria"/>
                <a:cs typeface="Cambria"/>
              </a:rPr>
              <a:t>APEDA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67665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Bharat Krishi</a:t>
            </a:r>
          </a:p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66928" y="3429000"/>
            <a:ext cx="6492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pPr>
            <a:r>
              <a:rPr sz="1700" b="0" i="1">
                <a:solidFill>
                  <a:srgbClr val="223529"/>
                </a:solidFill>
                <a:latin typeface="Cambria"/>
                <a:ea typeface="Cambria"/>
                <a:cs typeface="Cambria"/>
              </a:rPr>
              <a:t>Financial Assistance Guidelines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5020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66928" y="3950208"/>
            <a:ext cx="2651760" cy="438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66928" y="4617720"/>
            <a:ext cx="61264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D1D06-4846-4BAE-9717-B1345BFA6A2C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APEDA scheduled products and NPOP-certified organic products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 operators, FPOs / PACS, listed labs and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Text 4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695CAB-8A6D-4862-8312-69926A4C6BB2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route for projects in other states and ordinary beneficiary categories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B661D1-CE16-4146-A191-9FBF99A20B41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Two investment routes, both at the standard 40% assistance rate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64592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Text 34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35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4FB1CC-FF41-43B4-B9D1-D2D9EF93710B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Infrastructure support at 40%, followed by separate market-development support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6318504" y="3291840"/>
            <a:ext cx="1188720" cy="0"/>
          </a:xfrm>
          <a:prstGeom prst="line">
            <a:avLst/>
          </a:prstGeom>
          <a:ln w="12700">
            <a:solidFill>
              <a:srgbClr val="B9C8B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3931920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3931920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B5F657-E078-49D5-B316-5287F691CBB1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Only eligible assets and eligible timing enter the assistance calculation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65960"/>
            <a:ext cx="27432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3 quotations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7781544" y="2395728"/>
            <a:ext cx="38587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OEM / authorised suppliers.</a:t>
            </a:r>
          </a:p>
        </p:txBody>
      </p:sp>
      <p:sp>
        <p:nvSpPr>
          <p:cNvPr id="32" name="Rectangle 9"/>
          <p:cNvSpPr>
            <a:spLocks noGrp="1"/>
          </p:cNvSpPr>
          <p:nvPr/>
        </p:nvSpPr>
        <p:spPr>
          <a:xfrm>
            <a:off x="8028432" y="2724912"/>
            <a:ext cx="36118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Assistance uses the lowest quoted rate, even if another supplier receives the order.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114800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114800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2606040"/>
            <a:ext cx="274320" cy="68580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48272" y="2834640"/>
            <a:ext cx="274320" cy="457200"/>
          </a:xfrm>
          <a:prstGeom prst="roundRect">
            <a:avLst>
              <a:gd name="adj" fmla="val 1333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32320" y="2423160"/>
            <a:ext cx="274320" cy="86868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781544" y="2798064"/>
            <a:ext cx="128016" cy="128016"/>
          </a:xfrm>
          <a:prstGeom prst="roundRect">
            <a:avLst>
              <a:gd name="adj" fmla="val 14285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138160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48288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2" name="Text 52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3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2B203-557A-47F5-B6CC-F127BF62D230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rates for certification, shelf life and export-quality verification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9120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consumables, civil works, furniture and office equipment excluded.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5" name="Text 45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6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7C23C2-DD04-4CF8-BF34-B8A5746A70C9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Targeted assistance beyond the standard infrastructure routes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Text 46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7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D6F162-974E-4424-9182-7552DC918536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Base assistance is 50% for the five routes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ABA444-3BF6-41C2-818F-C25E65881FE7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The proposal must establish the target market and the activity-specific case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59541-498A-409C-8E69-C03276DFF483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APEDA website: Schemes menu, “Submit BKNY Application”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5" name="Text 45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6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3CE42F-56C6-45D2-886D-99B31FFA3DB0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Six groups cover the core file. Each sub-component adds its prescribed formats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Appraisal / loan or relevant financial evidence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Engineer-certified BOQ and project drawing / layout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0012680" y="164592"/>
            <a:ext cx="17373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defRPr>
            </a:pPr>
            <a:r>
              <a:rPr sz="5800" b="1">
                <a:solidFill>
                  <a:srgbClr val="E39B26">
                    <a:alpha val="60000"/>
                  </a:srgbClr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exporter assistance reimburses approved eligible cost after completion and verification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17608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3" name="Text 63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64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731520"/>
            <a:ext cx="1060704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4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2960" y="324612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486400" y="2377440"/>
            <a:ext cx="0" cy="329184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943600" y="2468880"/>
            <a:ext cx="53035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2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943600" y="2971800"/>
            <a:ext cx="530352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943600" y="3794760"/>
            <a:ext cx="530352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943600" y="4754880"/>
            <a:ext cx="5303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3036</Words>
  <Application>Microsoft Office PowerPoint</Application>
  <DocSecurity>0</DocSecurity>
  <PresentationFormat>Widescreen</PresentationFormat>
  <Paragraphs>273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2</cp:revision>
  <dcterms:created xsi:type="dcterms:W3CDTF">2026-10-13T08:41:00Z</dcterms:created>
  <dcterms:modified xsi:type="dcterms:W3CDTF">2026-10-13T09:47:43Z</dcterms:modified>
</cp:coreProperties>
</file>