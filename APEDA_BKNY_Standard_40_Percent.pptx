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95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v>Share of eligible cost</c:v>
          </c:tx>
          <c:dPt>
            <c:idx val="0"/>
            <c:bubble3D val="0"/>
            <c:spPr>
              <a:solidFill>
                <a:srgbClr val="2D8651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EB7D-4DCD-B4BB-9F1EAF9C5F61}"/>
              </c:ext>
            </c:extLst>
          </c:dPt>
          <c:dPt>
            <c:idx val="1"/>
            <c:bubble3D val="0"/>
            <c:spPr>
              <a:solidFill>
                <a:srgbClr val="EEF4EC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EB7D-4DCD-B4BB-9F1EAF9C5F61}"/>
              </c:ext>
            </c:extLst>
          </c:dPt>
          <c:cat>
            <c:strLit>
              <c:ptCount val="2"/>
              <c:pt idx="0">
                <c:v>APEDA assistance</c:v>
              </c:pt>
              <c:pt idx="1">
                <c:v>Balance financing</c:v>
              </c:pt>
            </c:strLit>
          </c:cat>
          <c:val>
            <c:numLit>
              <c:formatCode>0%</c:formatCode>
              <c:ptCount val="2"/>
              <c:pt idx="0">
                <c:v>0.4</c:v>
              </c:pt>
              <c:pt idx="1">
                <c:v>0.6</c:v>
              </c:pt>
            </c:numLit>
          </c:val>
          <c:extLst>
            <c:ext xmlns:c16="http://schemas.microsoft.com/office/drawing/2014/chart" uri="{C3380CC4-5D6E-409C-BE32-E72D297353CC}">
              <c16:uniqueId val="{00000004-EB7D-4DCD-B4BB-9F1EAF9C5F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70"/>
        <c:holeSize val="72"/>
      </c:doughnutChart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guidelines pp. 1–4. Krishika logo from supplied UP presentation. Cover and facility photographs are AI-generated illustrative assets, not records of an actual funded project. Native text and policy diagrams remain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4–8,16–19,29–31,35–36.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Component-specific eligibility matters. FPO/PACS, SC/ST, women and startups may qualify for higher rates, briefly mentioned on slide 3. SC/ST entity conditions: proprietor or ≥51% qualifying ownership, entity/holding history ≥1 year. Women category: woman proprietor, or all partners/directors/promoters women, wholly owned/managed for ≥1 year. Startup: RCMC + DPIIT certificate, 2–5 years, annual turnover ≤₹500 lakh. Organic applicants require NPOP certification/registration. APEDA-implemented ecosystem activities include standards/NRL, technology development, fairs/BSMs, market intelligence, protocols, internationalisation and grant administration.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7–11,35. Standard applicant route is the presentation's primary focus. Percentages are assistance up to the stated rate, subject to eligible cost, component ceilings, approval and funds.</a:t>
            </a:r>
          </a:p>
          <a:p>
            <a:r>
              <a:t>Specified regions: North-Eastern States, Ladakh, J&amp;K, Andaman &amp; Nicobar and Lakshadweep. Higher rates also apply to eligible FPO/PACS, SC/ST, women and startups across India unless a different component rate is specified. Monetary ceilings remain unchanged. The standard 40% share illustration is before ceilings and fee deductions; it does not imply an automatic entitlement. Public common-facility assistance under 1(e)/(f): up to 90%, caps ₹600 lakh new and ₹200 lakh upgrade, restricted regions, government/public institutions; detailed MoU, 40/40/20 instalments and 50% BG requirements are secondary to the standard exporter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9–10,36. Standard applicant route is the presentation's primary focus. Percentages are assistance up to the stated rate, subject to eligible cost, component ceilings, approval and funds.</a:t>
            </a:r>
          </a:p>
          <a:p>
            <a:r>
              <a:t>Cleaning/washing/grading assistance is limited to fresh fruits and vegetables, floriculture and fruit/vegetable seeds. Land in applicant’s name or registered lease valid for 15 years at application. CLU and landowner NOC where applicable. Packhouses follow NCCD/MIDH minimum cold-chain standards and importing-country requirements. Technical civil BOQ certified by engineer/architect. Photograph is conceptual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Source: supplied FAS_Guidelines_06102026.pdf, pp. 7–11,30,33. Standard applicant route is the presentation's primary focus. Percentages are assistance up to the stated rate, subject to eligible cost, component ceilings, approval and funds.</a:t>
            </a:r>
          </a:p>
          <a:p>
            <a:r>
              <a:rPr dirty="0"/>
              <a:t>Cold storage is part of integrated facilities, not an additional independent cap. Combined ceiling ₹300 lakh for 1(a)–1(d). Merchant exporter vehicle limit 2 per plan, manufacturer 5. Missing-gap line already established (manual facilities needing </a:t>
            </a:r>
            <a:r>
              <a:rPr dirty="0" err="1"/>
              <a:t>mechanisation</a:t>
            </a:r>
            <a:r>
              <a:rPr dirty="0"/>
              <a:t> can qualify), HACCP/ISO 22000 in place, quality/productivity equipment not an integral line item. Trial shipment base 50%, cap ₹10 lakh; higher rate in overview for special categories differs from detailed clause and should be clarified.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Exceptions to three quotes: sole manufacturer, imports or government procurement rules need declaration; 1(e)/(f) excluded. Quotes identify supplier address/GSTN/TIN/PAN, specifications, validity and itemised costs. No duplicate funding for same project/components, disclose other grant applications/support. CLU and landowner NOC as applicable. Existing HACCP/ISO 22000 must have prescribed accreditation. FSSAI and other regulatory permissions 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16–18,20–25. Standard applicant route is the presentation's primary focus. Percentages are assistance up to the stated rate, subject to eligible cost, component ceilings, approval and funds.</a:t>
            </a:r>
          </a:p>
          <a:p>
            <a:r>
              <a:t>Certification FSMS for own manufacturing, sustainability for manufacturing/production, ISO 9001 also merchant. Recognised/IAF-accredited bodies as applicable, separate application per certification, Annexure III fees. Packaging CAP/MAP/active, HACCP/ISO 22000 required. Lab testing is mandatory importing-country or notified APEDA traceability/monitoring. RCMC manufacturers/producers and NPOP operators. NPOP high-risk exports need Transaction Certificate on Trace.Net. NPOP 2% sampling reimbursable, CB-funded 5% sampling excluded. Recognised lab upgrades: APEDA recognition + NABL ISO 17025, equipment/eligible CRM. In-house lab eligible RCMC/NPOP. Higher special-category rates not the main route here. Photo is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18–19,21–22,24–28,35. Standard applicant route is the presentation's primary focus. Percentages are assistance up to the stated rate, subject to eligible cost, component ceilings, approval and funds.</a:t>
            </a:r>
          </a:p>
          <a:p>
            <a:r>
              <a:t>Startup definition: RCMC + DPIIT, 2–5 years existence, turnover ≤₹500 lakh. BHARATI cohort indicative 10–20 per plan, export linkage/scalability and performance monitoring. ToT restricted to Central/State government institutions with competence and IPA. Workshop specific conditions exclude merchant exporters. Courses up to 1 month; training table includes travel+fee but detailed conditions only course/participation fee. ToT higher rate differs between table and detailed conditions. Imported material institutions rate up to90%; exporter60%, ₹50 lakh/product/plan, applicant handles import/royalty. Confirm differences with APEDA.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30–34.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support restricted to FPOs, women-led enterprises, SC/ST exporters and startups. Special75% rates appear in component tables for studies/trials/IPR/GI while detailed trial/IPR/GI clauses list50%; confirm applicable approved rate. Study higher-category list also institutions/Indian missions/trade associations/organic. APEDA-led fairs/BSMs/ODOP/GI/organic promotion separate APEDA-implemented activity with preference new participants.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33–34,36.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fees are one-time initial onboarding / shelf-placement fees. Chain must operate in at least one foreign country. GI proposal includes market rationale, competitors, export projections and activity-wise budget. Routine business costs and domestic promotion excluded. Trial advisor may be ICAR, research institution/university or qualified expert; proposal follows APEDA priorities.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35–41. Standard applicant route is the presentation's primary focus. Percentages are assistance up to the stated rate, subject to eligible cost, component ceilings, approval and funds.</a:t>
            </a:r>
          </a:p>
          <a:p>
            <a:r>
              <a:t>Oversight Committee receives TC recommended applications for information. Technical/financial viability, designated applicant categories and pre-inspection may affect acceptance. Authority threshold is project cost over₹250 lakh, not grant. IPA required all components except lab testing5. Amendments within IPA validity; extension case-by-case. Claims and verification before disbursement, budget dependent.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9–14,25–27,33–36,38,42–65. Standard applicant route is the presentation's primary focus. Percentages are assistance up to the stated rate, subject to eligible cost, component ceilings, approval and funds.</a:t>
            </a:r>
          </a:p>
          <a:p>
            <a:r>
              <a:t>Annexure I DPR and engineer forms, III certification fees, VIII training, IV testing linkage, VI CA claim, VII asset bond, IX ToT CA certificate and X NPOP2% procedures. Claim additions: invoices, highlighted bank debits, CA/UDIN/registration, ₹100 notarised indemnity bond, installation certificate, import Bill of Entry, prescribed APEDA asset marking, certificates/reports and Aadhaar as applicable. Public facilities require2 years audited statements and prescribed project appraisal, separate bank account, MoU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35–41,59–63,66–80. Standard applicant route is the presentation's primary focus. Percentages are assistance up to the stated rate, subject to eligible cost, component ceilings, approval and funds.</a:t>
            </a:r>
          </a:p>
          <a:p>
            <a:r>
              <a:t>25% infrastructure BG renewed annually; release after request, GST returns and performance verification. Special-category annual undertakings3 years, ownership/control plan or3 years post-disbursement whichever longer. FSSAI/regulatory requirements and RCMC ownership/location updates apply. Paint original APEDA logo plus Assisted by APEDA; stickers excluded. NPOP2% grower sampling claim through CB: recognised organic lab, payment/sampling/test evidence, counter samples retained≥6 months. CB-funded5% testing excluded. AnnexureVII5-year asset bond specifies12% recovery interest while general clauses use GFR norms. No right to carry claims beyond plan, subject scheme continuation/funds. Public1e/f40/40/20 releases and50% BG are a separate route, briefly mentioned on slide3.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Krishika brand and contact details from supplied UP presentation, retained as authorised by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B678D5C-ED70-427E-B382-3735C2CE4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6D35700-6373-42CC-B070-5FC560BEDA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262CFBF-E634-40A4-9A8B-E3A05F46C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B876E-1EAE-4203-B08A-6567BFD7D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F2FFE9D-B1E0-4D07-A19E-3456B54C3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94563C9B-709D-4344-A22B-3902E8D7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F2B2BB1-F72E-474B-972D-41AF9016B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537E84F1-D53B-4A51-B7A1-FC339EE6299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F258F7-051D-449F-A62E-1F59D4CDF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0C86897-FA37-4922-A4E8-A6484940E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360000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4160520" y="6077620"/>
            <a:ext cx="7973568" cy="825072"/>
          </a:xfrm>
          <a:custGeom>
            <a:avLst/>
            <a:gdLst/>
            <a:ahLst/>
            <a:cxnLst/>
            <a:rect l="l" t="t" r="r" b="b"/>
            <a:pathLst>
              <a:path w="7973568" h="825072">
                <a:moveTo>
                  <a:pt x="0" y="357142"/>
                </a:moveTo>
                <a:lnTo>
                  <a:pt x="73152" y="315530"/>
                </a:lnTo>
                <a:lnTo>
                  <a:pt x="146304" y="274338"/>
                </a:lnTo>
                <a:lnTo>
                  <a:pt x="219456" y="234200"/>
                </a:lnTo>
                <a:lnTo>
                  <a:pt x="292608" y="195732"/>
                </a:lnTo>
                <a:lnTo>
                  <a:pt x="365760" y="159518"/>
                </a:lnTo>
                <a:lnTo>
                  <a:pt x="438912" y="126096"/>
                </a:lnTo>
                <a:lnTo>
                  <a:pt x="512064" y="95945"/>
                </a:lnTo>
                <a:lnTo>
                  <a:pt x="585216" y="69471"/>
                </a:lnTo>
                <a:lnTo>
                  <a:pt x="658368" y="47003"/>
                </a:lnTo>
                <a:lnTo>
                  <a:pt x="731520" y="28784"/>
                </a:lnTo>
                <a:lnTo>
                  <a:pt x="804672" y="14964"/>
                </a:lnTo>
                <a:lnTo>
                  <a:pt x="877824" y="5600"/>
                </a:lnTo>
                <a:lnTo>
                  <a:pt x="950976" y="654"/>
                </a:lnTo>
                <a:lnTo>
                  <a:pt x="1024128" y="0"/>
                </a:lnTo>
                <a:lnTo>
                  <a:pt x="1097280" y="3424"/>
                </a:lnTo>
                <a:lnTo>
                  <a:pt x="1170432" y="10633"/>
                </a:lnTo>
                <a:lnTo>
                  <a:pt x="1243584" y="21266"/>
                </a:lnTo>
                <a:lnTo>
                  <a:pt x="1316736" y="34901"/>
                </a:lnTo>
                <a:lnTo>
                  <a:pt x="1389888" y="51073"/>
                </a:lnTo>
                <a:lnTo>
                  <a:pt x="1463040" y="69281"/>
                </a:lnTo>
                <a:lnTo>
                  <a:pt x="1536192" y="89010"/>
                </a:lnTo>
                <a:lnTo>
                  <a:pt x="1609344" y="109737"/>
                </a:lnTo>
                <a:lnTo>
                  <a:pt x="1682496" y="130953"/>
                </a:lnTo>
                <a:lnTo>
                  <a:pt x="1755648" y="152173"/>
                </a:lnTo>
                <a:lnTo>
                  <a:pt x="1828800" y="172950"/>
                </a:lnTo>
                <a:lnTo>
                  <a:pt x="1901952" y="192885"/>
                </a:lnTo>
                <a:lnTo>
                  <a:pt x="1975104" y="211642"/>
                </a:lnTo>
                <a:lnTo>
                  <a:pt x="2048256" y="228951"/>
                </a:lnTo>
                <a:lnTo>
                  <a:pt x="2121408" y="244617"/>
                </a:lnTo>
                <a:lnTo>
                  <a:pt x="2194560" y="258525"/>
                </a:lnTo>
                <a:lnTo>
                  <a:pt x="2267712" y="270639"/>
                </a:lnTo>
                <a:lnTo>
                  <a:pt x="2340864" y="281000"/>
                </a:lnTo>
                <a:lnTo>
                  <a:pt x="2414016" y="289730"/>
                </a:lnTo>
                <a:lnTo>
                  <a:pt x="2487168" y="297017"/>
                </a:lnTo>
                <a:lnTo>
                  <a:pt x="2560320" y="303115"/>
                </a:lnTo>
                <a:lnTo>
                  <a:pt x="2633472" y="308329"/>
                </a:lnTo>
                <a:lnTo>
                  <a:pt x="2706624" y="313009"/>
                </a:lnTo>
                <a:lnTo>
                  <a:pt x="2779776" y="317533"/>
                </a:lnTo>
                <a:lnTo>
                  <a:pt x="2852928" y="322296"/>
                </a:lnTo>
                <a:lnTo>
                  <a:pt x="2926080" y="327697"/>
                </a:lnTo>
                <a:lnTo>
                  <a:pt x="2999232" y="334123"/>
                </a:lnTo>
                <a:lnTo>
                  <a:pt x="3072384" y="341936"/>
                </a:lnTo>
                <a:lnTo>
                  <a:pt x="3145536" y="351461"/>
                </a:lnTo>
                <a:lnTo>
                  <a:pt x="3218688" y="362972"/>
                </a:lnTo>
                <a:lnTo>
                  <a:pt x="3291840" y="376683"/>
                </a:lnTo>
                <a:lnTo>
                  <a:pt x="3364992" y="392740"/>
                </a:lnTo>
                <a:lnTo>
                  <a:pt x="3438144" y="411212"/>
                </a:lnTo>
                <a:lnTo>
                  <a:pt x="3511296" y="432087"/>
                </a:lnTo>
                <a:lnTo>
                  <a:pt x="3584448" y="455270"/>
                </a:lnTo>
                <a:lnTo>
                  <a:pt x="3657600" y="480585"/>
                </a:lnTo>
                <a:lnTo>
                  <a:pt x="3730752" y="507774"/>
                </a:lnTo>
                <a:lnTo>
                  <a:pt x="3803904" y="536504"/>
                </a:lnTo>
                <a:lnTo>
                  <a:pt x="3877056" y="566373"/>
                </a:lnTo>
                <a:lnTo>
                  <a:pt x="3950208" y="596921"/>
                </a:lnTo>
                <a:lnTo>
                  <a:pt x="4023360" y="627639"/>
                </a:lnTo>
                <a:lnTo>
                  <a:pt x="4096512" y="657983"/>
                </a:lnTo>
                <a:lnTo>
                  <a:pt x="4169664" y="687387"/>
                </a:lnTo>
                <a:lnTo>
                  <a:pt x="4242816" y="715277"/>
                </a:lnTo>
                <a:lnTo>
                  <a:pt x="4315968" y="741087"/>
                </a:lnTo>
                <a:lnTo>
                  <a:pt x="4389120" y="764273"/>
                </a:lnTo>
                <a:lnTo>
                  <a:pt x="4462272" y="784328"/>
                </a:lnTo>
                <a:lnTo>
                  <a:pt x="4535424" y="800792"/>
                </a:lnTo>
                <a:lnTo>
                  <a:pt x="4608576" y="813272"/>
                </a:lnTo>
                <a:lnTo>
                  <a:pt x="4681728" y="821445"/>
                </a:lnTo>
                <a:lnTo>
                  <a:pt x="4754880" y="825072"/>
                </a:lnTo>
                <a:lnTo>
                  <a:pt x="4828032" y="824000"/>
                </a:lnTo>
                <a:lnTo>
                  <a:pt x="4901184" y="818174"/>
                </a:lnTo>
                <a:lnTo>
                  <a:pt x="4974336" y="807630"/>
                </a:lnTo>
                <a:lnTo>
                  <a:pt x="5047488" y="792501"/>
                </a:lnTo>
                <a:lnTo>
                  <a:pt x="5120640" y="773012"/>
                </a:lnTo>
                <a:lnTo>
                  <a:pt x="5193792" y="749476"/>
                </a:lnTo>
                <a:lnTo>
                  <a:pt x="5266944" y="722283"/>
                </a:lnTo>
                <a:lnTo>
                  <a:pt x="5340096" y="691895"/>
                </a:lnTo>
                <a:lnTo>
                  <a:pt x="5413248" y="658831"/>
                </a:lnTo>
                <a:lnTo>
                  <a:pt x="5486400" y="623655"/>
                </a:lnTo>
                <a:lnTo>
                  <a:pt x="5559552" y="586964"/>
                </a:lnTo>
                <a:lnTo>
                  <a:pt x="5632704" y="549370"/>
                </a:lnTo>
                <a:lnTo>
                  <a:pt x="5705856" y="511488"/>
                </a:lnTo>
                <a:lnTo>
                  <a:pt x="5779008" y="473919"/>
                </a:lnTo>
                <a:lnTo>
                  <a:pt x="5852160" y="437236"/>
                </a:lnTo>
                <a:lnTo>
                  <a:pt x="5925312" y="401970"/>
                </a:lnTo>
                <a:lnTo>
                  <a:pt x="5998464" y="368600"/>
                </a:lnTo>
                <a:lnTo>
                  <a:pt x="6071616" y="337539"/>
                </a:lnTo>
                <a:lnTo>
                  <a:pt x="6144768" y="309125"/>
                </a:lnTo>
                <a:lnTo>
                  <a:pt x="6217920" y="283618"/>
                </a:lnTo>
                <a:lnTo>
                  <a:pt x="6291072" y="261192"/>
                </a:lnTo>
                <a:lnTo>
                  <a:pt x="6364224" y="241935"/>
                </a:lnTo>
                <a:lnTo>
                  <a:pt x="6437376" y="225847"/>
                </a:lnTo>
                <a:lnTo>
                  <a:pt x="6510528" y="212845"/>
                </a:lnTo>
                <a:lnTo>
                  <a:pt x="6583680" y="202767"/>
                </a:lnTo>
                <a:lnTo>
                  <a:pt x="6656832" y="195381"/>
                </a:lnTo>
                <a:lnTo>
                  <a:pt x="6729984" y="190390"/>
                </a:lnTo>
                <a:lnTo>
                  <a:pt x="6803136" y="187448"/>
                </a:lnTo>
                <a:lnTo>
                  <a:pt x="6876288" y="186170"/>
                </a:lnTo>
                <a:lnTo>
                  <a:pt x="6949440" y="186145"/>
                </a:lnTo>
                <a:lnTo>
                  <a:pt x="7022592" y="186949"/>
                </a:lnTo>
                <a:lnTo>
                  <a:pt x="7095744" y="188163"/>
                </a:lnTo>
                <a:lnTo>
                  <a:pt x="7168896" y="189381"/>
                </a:lnTo>
                <a:lnTo>
                  <a:pt x="7242048" y="190230"/>
                </a:lnTo>
                <a:lnTo>
                  <a:pt x="7315200" y="190376"/>
                </a:lnTo>
                <a:lnTo>
                  <a:pt x="7388352" y="189539"/>
                </a:lnTo>
                <a:lnTo>
                  <a:pt x="7461504" y="187501"/>
                </a:lnTo>
                <a:lnTo>
                  <a:pt x="7534656" y="184114"/>
                </a:lnTo>
                <a:lnTo>
                  <a:pt x="7607808" y="179304"/>
                </a:lnTo>
                <a:lnTo>
                  <a:pt x="7680960" y="173075"/>
                </a:lnTo>
                <a:lnTo>
                  <a:pt x="7754112" y="165510"/>
                </a:lnTo>
                <a:lnTo>
                  <a:pt x="7827264" y="156768"/>
                </a:lnTo>
                <a:lnTo>
                  <a:pt x="7900416" y="147080"/>
                </a:lnTo>
                <a:lnTo>
                  <a:pt x="7973568" y="136742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4160520" y="6106194"/>
            <a:ext cx="7973568" cy="757745"/>
          </a:xfrm>
          <a:custGeom>
            <a:avLst/>
            <a:gdLst/>
            <a:ahLst/>
            <a:cxnLst/>
            <a:rect l="l" t="t" r="r" b="b"/>
            <a:pathLst>
              <a:path w="7973568" h="757745">
                <a:moveTo>
                  <a:pt x="0" y="344015"/>
                </a:moveTo>
                <a:lnTo>
                  <a:pt x="73152" y="302898"/>
                </a:lnTo>
                <a:lnTo>
                  <a:pt x="146304" y="262502"/>
                </a:lnTo>
                <a:lnTo>
                  <a:pt x="219456" y="223438"/>
                </a:lnTo>
                <a:lnTo>
                  <a:pt x="292608" y="186283"/>
                </a:lnTo>
                <a:lnTo>
                  <a:pt x="365760" y="151567"/>
                </a:lnTo>
                <a:lnTo>
                  <a:pt x="438912" y="119759"/>
                </a:lnTo>
                <a:lnTo>
                  <a:pt x="512064" y="91258"/>
                </a:lnTo>
                <a:lnTo>
                  <a:pt x="585216" y="66382"/>
                </a:lnTo>
                <a:lnTo>
                  <a:pt x="658368" y="45365"/>
                </a:lnTo>
                <a:lnTo>
                  <a:pt x="731520" y="28351"/>
                </a:lnTo>
                <a:lnTo>
                  <a:pt x="804672" y="15389"/>
                </a:lnTo>
                <a:lnTo>
                  <a:pt x="877824" y="6443"/>
                </a:lnTo>
                <a:lnTo>
                  <a:pt x="950976" y="1383"/>
                </a:lnTo>
                <a:lnTo>
                  <a:pt x="1024128" y="0"/>
                </a:lnTo>
                <a:lnTo>
                  <a:pt x="1097280" y="2011"/>
                </a:lnTo>
                <a:lnTo>
                  <a:pt x="1170432" y="7067"/>
                </a:lnTo>
                <a:lnTo>
                  <a:pt x="1243584" y="14766"/>
                </a:lnTo>
                <a:lnTo>
                  <a:pt x="1316736" y="24664"/>
                </a:lnTo>
                <a:lnTo>
                  <a:pt x="1389888" y="36292"/>
                </a:lnTo>
                <a:lnTo>
                  <a:pt x="1463040" y="49166"/>
                </a:lnTo>
                <a:lnTo>
                  <a:pt x="1536192" y="62804"/>
                </a:lnTo>
                <a:lnTo>
                  <a:pt x="1609344" y="76741"/>
                </a:lnTo>
                <a:lnTo>
                  <a:pt x="1682496" y="90540"/>
                </a:lnTo>
                <a:lnTo>
                  <a:pt x="1755648" y="103806"/>
                </a:lnTo>
                <a:lnTo>
                  <a:pt x="1828800" y="116196"/>
                </a:lnTo>
                <a:lnTo>
                  <a:pt x="1901952" y="127431"/>
                </a:lnTo>
                <a:lnTo>
                  <a:pt x="1975104" y="137301"/>
                </a:lnTo>
                <a:lnTo>
                  <a:pt x="2048256" y="145671"/>
                </a:lnTo>
                <a:lnTo>
                  <a:pt x="2121408" y="152485"/>
                </a:lnTo>
                <a:lnTo>
                  <a:pt x="2194560" y="157765"/>
                </a:lnTo>
                <a:lnTo>
                  <a:pt x="2267712" y="161611"/>
                </a:lnTo>
                <a:lnTo>
                  <a:pt x="2340864" y="164196"/>
                </a:lnTo>
                <a:lnTo>
                  <a:pt x="2414016" y="165760"/>
                </a:lnTo>
                <a:lnTo>
                  <a:pt x="2487168" y="166600"/>
                </a:lnTo>
                <a:lnTo>
                  <a:pt x="2560320" y="167063"/>
                </a:lnTo>
                <a:lnTo>
                  <a:pt x="2633472" y="167533"/>
                </a:lnTo>
                <a:lnTo>
                  <a:pt x="2706624" y="168414"/>
                </a:lnTo>
                <a:lnTo>
                  <a:pt x="2779776" y="170125"/>
                </a:lnTo>
                <a:lnTo>
                  <a:pt x="2852928" y="173078"/>
                </a:lnTo>
                <a:lnTo>
                  <a:pt x="2926080" y="177669"/>
                </a:lnTo>
                <a:lnTo>
                  <a:pt x="2999232" y="184260"/>
                </a:lnTo>
                <a:lnTo>
                  <a:pt x="3072384" y="193171"/>
                </a:lnTo>
                <a:lnTo>
                  <a:pt x="3145536" y="204664"/>
                </a:lnTo>
                <a:lnTo>
                  <a:pt x="3218688" y="218938"/>
                </a:lnTo>
                <a:lnTo>
                  <a:pt x="3291840" y="236116"/>
                </a:lnTo>
                <a:lnTo>
                  <a:pt x="3364992" y="256239"/>
                </a:lnTo>
                <a:lnTo>
                  <a:pt x="3438144" y="279267"/>
                </a:lnTo>
                <a:lnTo>
                  <a:pt x="3511296" y="305071"/>
                </a:lnTo>
                <a:lnTo>
                  <a:pt x="3584448" y="333439"/>
                </a:lnTo>
                <a:lnTo>
                  <a:pt x="3657600" y="364077"/>
                </a:lnTo>
                <a:lnTo>
                  <a:pt x="3730752" y="396614"/>
                </a:lnTo>
                <a:lnTo>
                  <a:pt x="3803904" y="430612"/>
                </a:lnTo>
                <a:lnTo>
                  <a:pt x="3877056" y="465575"/>
                </a:lnTo>
                <a:lnTo>
                  <a:pt x="3950208" y="500958"/>
                </a:lnTo>
                <a:lnTo>
                  <a:pt x="4023360" y="536186"/>
                </a:lnTo>
                <a:lnTo>
                  <a:pt x="4096512" y="570661"/>
                </a:lnTo>
                <a:lnTo>
                  <a:pt x="4169664" y="603782"/>
                </a:lnTo>
                <a:lnTo>
                  <a:pt x="4242816" y="634959"/>
                </a:lnTo>
                <a:lnTo>
                  <a:pt x="4315968" y="663624"/>
                </a:lnTo>
                <a:lnTo>
                  <a:pt x="4389120" y="689251"/>
                </a:lnTo>
                <a:lnTo>
                  <a:pt x="4462272" y="711366"/>
                </a:lnTo>
                <a:lnTo>
                  <a:pt x="4535424" y="729561"/>
                </a:lnTo>
                <a:lnTo>
                  <a:pt x="4608576" y="743501"/>
                </a:lnTo>
                <a:lnTo>
                  <a:pt x="4681728" y="752936"/>
                </a:lnTo>
                <a:lnTo>
                  <a:pt x="4754880" y="757706"/>
                </a:lnTo>
                <a:lnTo>
                  <a:pt x="4828032" y="757745"/>
                </a:lnTo>
                <a:lnTo>
                  <a:pt x="4901184" y="753083"/>
                </a:lnTo>
                <a:lnTo>
                  <a:pt x="4974336" y="743843"/>
                </a:lnTo>
                <a:lnTo>
                  <a:pt x="5047488" y="730240"/>
                </a:lnTo>
                <a:lnTo>
                  <a:pt x="5120640" y="712575"/>
                </a:lnTo>
                <a:lnTo>
                  <a:pt x="5193792" y="691224"/>
                </a:lnTo>
                <a:lnTo>
                  <a:pt x="5266944" y="666633"/>
                </a:lnTo>
                <a:lnTo>
                  <a:pt x="5340096" y="639302"/>
                </a:lnTo>
                <a:lnTo>
                  <a:pt x="5413248" y="609773"/>
                </a:lnTo>
                <a:lnTo>
                  <a:pt x="5486400" y="578617"/>
                </a:lnTo>
                <a:lnTo>
                  <a:pt x="5559552" y="546419"/>
                </a:lnTo>
                <a:lnTo>
                  <a:pt x="5632704" y="513761"/>
                </a:lnTo>
                <a:lnTo>
                  <a:pt x="5705856" y="481211"/>
                </a:lnTo>
                <a:lnTo>
                  <a:pt x="5779008" y="449305"/>
                </a:lnTo>
                <a:lnTo>
                  <a:pt x="5852160" y="418538"/>
                </a:lnTo>
                <a:lnTo>
                  <a:pt x="5925312" y="389346"/>
                </a:lnTo>
                <a:lnTo>
                  <a:pt x="5998464" y="362104"/>
                </a:lnTo>
                <a:lnTo>
                  <a:pt x="6071616" y="337110"/>
                </a:lnTo>
                <a:lnTo>
                  <a:pt x="6144768" y="314585"/>
                </a:lnTo>
                <a:lnTo>
                  <a:pt x="6217920" y="294665"/>
                </a:lnTo>
                <a:lnTo>
                  <a:pt x="6291072" y="277403"/>
                </a:lnTo>
                <a:lnTo>
                  <a:pt x="6364224" y="262768"/>
                </a:lnTo>
                <a:lnTo>
                  <a:pt x="6437376" y="250649"/>
                </a:lnTo>
                <a:lnTo>
                  <a:pt x="6510528" y="240862"/>
                </a:lnTo>
                <a:lnTo>
                  <a:pt x="6583680" y="233157"/>
                </a:lnTo>
                <a:lnTo>
                  <a:pt x="6656832" y="227226"/>
                </a:lnTo>
                <a:lnTo>
                  <a:pt x="6729984" y="222717"/>
                </a:lnTo>
                <a:lnTo>
                  <a:pt x="6803136" y="219248"/>
                </a:lnTo>
                <a:lnTo>
                  <a:pt x="6876288" y="216416"/>
                </a:lnTo>
                <a:lnTo>
                  <a:pt x="6949440" y="213812"/>
                </a:lnTo>
                <a:lnTo>
                  <a:pt x="7022592" y="211039"/>
                </a:lnTo>
                <a:lnTo>
                  <a:pt x="7095744" y="207720"/>
                </a:lnTo>
                <a:lnTo>
                  <a:pt x="7168896" y="203516"/>
                </a:lnTo>
                <a:lnTo>
                  <a:pt x="7242048" y="198134"/>
                </a:lnTo>
                <a:lnTo>
                  <a:pt x="7315200" y="191341"/>
                </a:lnTo>
                <a:lnTo>
                  <a:pt x="7388352" y="182966"/>
                </a:lnTo>
                <a:lnTo>
                  <a:pt x="7461504" y="172917"/>
                </a:lnTo>
                <a:lnTo>
                  <a:pt x="7534656" y="161175"/>
                </a:lnTo>
                <a:lnTo>
                  <a:pt x="7607808" y="147802"/>
                </a:lnTo>
                <a:lnTo>
                  <a:pt x="7680960" y="132940"/>
                </a:lnTo>
                <a:lnTo>
                  <a:pt x="7754112" y="116806"/>
                </a:lnTo>
                <a:lnTo>
                  <a:pt x="7827264" y="99689"/>
                </a:lnTo>
                <a:lnTo>
                  <a:pt x="7900416" y="81943"/>
                </a:lnTo>
                <a:lnTo>
                  <a:pt x="7973568" y="6397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4160520" y="6138531"/>
            <a:ext cx="7973568" cy="667270"/>
          </a:xfrm>
          <a:custGeom>
            <a:avLst/>
            <a:gdLst/>
            <a:ahLst/>
            <a:cxnLst/>
            <a:rect l="l" t="t" r="r" b="b"/>
            <a:pathLst>
              <a:path w="7973568" h="667270">
                <a:moveTo>
                  <a:pt x="0" y="321726"/>
                </a:moveTo>
                <a:lnTo>
                  <a:pt x="73152" y="283078"/>
                </a:lnTo>
                <a:lnTo>
                  <a:pt x="146304" y="245441"/>
                </a:lnTo>
                <a:lnTo>
                  <a:pt x="219456" y="209375"/>
                </a:lnTo>
                <a:lnTo>
                  <a:pt x="292608" y="175389"/>
                </a:lnTo>
                <a:lnTo>
                  <a:pt x="365760" y="143934"/>
                </a:lnTo>
                <a:lnTo>
                  <a:pt x="438912" y="115386"/>
                </a:lnTo>
                <a:lnTo>
                  <a:pt x="512064" y="90045"/>
                </a:lnTo>
                <a:lnTo>
                  <a:pt x="585216" y="68125"/>
                </a:lnTo>
                <a:lnTo>
                  <a:pt x="658368" y="49753"/>
                </a:lnTo>
                <a:lnTo>
                  <a:pt x="731520" y="34964"/>
                </a:lnTo>
                <a:lnTo>
                  <a:pt x="804672" y="23707"/>
                </a:lnTo>
                <a:lnTo>
                  <a:pt x="877824" y="15848"/>
                </a:lnTo>
                <a:lnTo>
                  <a:pt x="950976" y="11174"/>
                </a:lnTo>
                <a:lnTo>
                  <a:pt x="1024128" y="9402"/>
                </a:lnTo>
                <a:lnTo>
                  <a:pt x="1097280" y="10190"/>
                </a:lnTo>
                <a:lnTo>
                  <a:pt x="1170432" y="13149"/>
                </a:lnTo>
                <a:lnTo>
                  <a:pt x="1243584" y="17854"/>
                </a:lnTo>
                <a:lnTo>
                  <a:pt x="1316736" y="23859"/>
                </a:lnTo>
                <a:lnTo>
                  <a:pt x="1389888" y="30712"/>
                </a:lnTo>
                <a:lnTo>
                  <a:pt x="1463040" y="37966"/>
                </a:lnTo>
                <a:lnTo>
                  <a:pt x="1536192" y="45198"/>
                </a:lnTo>
                <a:lnTo>
                  <a:pt x="1609344" y="52017"/>
                </a:lnTo>
                <a:lnTo>
                  <a:pt x="1682496" y="58078"/>
                </a:lnTo>
                <a:lnTo>
                  <a:pt x="1755648" y="63094"/>
                </a:lnTo>
                <a:lnTo>
                  <a:pt x="1828800" y="66843"/>
                </a:lnTo>
                <a:lnTo>
                  <a:pt x="1901952" y="69173"/>
                </a:lnTo>
                <a:lnTo>
                  <a:pt x="1975104" y="70012"/>
                </a:lnTo>
                <a:lnTo>
                  <a:pt x="2048256" y="69364"/>
                </a:lnTo>
                <a:lnTo>
                  <a:pt x="2121408" y="67311"/>
                </a:lnTo>
                <a:lnTo>
                  <a:pt x="2194560" y="64013"/>
                </a:lnTo>
                <a:lnTo>
                  <a:pt x="2267712" y="59698"/>
                </a:lnTo>
                <a:lnTo>
                  <a:pt x="2340864" y="54659"/>
                </a:lnTo>
                <a:lnTo>
                  <a:pt x="2414016" y="49243"/>
                </a:lnTo>
                <a:lnTo>
                  <a:pt x="2487168" y="43841"/>
                </a:lnTo>
                <a:lnTo>
                  <a:pt x="2560320" y="38875"/>
                </a:lnTo>
                <a:lnTo>
                  <a:pt x="2633472" y="34784"/>
                </a:lnTo>
                <a:lnTo>
                  <a:pt x="2706624" y="32013"/>
                </a:lnTo>
                <a:lnTo>
                  <a:pt x="2779776" y="30995"/>
                </a:lnTo>
                <a:lnTo>
                  <a:pt x="2852928" y="32139"/>
                </a:lnTo>
                <a:lnTo>
                  <a:pt x="2926080" y="35819"/>
                </a:lnTo>
                <a:lnTo>
                  <a:pt x="2999232" y="42355"/>
                </a:lnTo>
                <a:lnTo>
                  <a:pt x="3072384" y="52007"/>
                </a:lnTo>
                <a:lnTo>
                  <a:pt x="3145536" y="64965"/>
                </a:lnTo>
                <a:lnTo>
                  <a:pt x="3218688" y="81339"/>
                </a:lnTo>
                <a:lnTo>
                  <a:pt x="3291840" y="101154"/>
                </a:lnTo>
                <a:lnTo>
                  <a:pt x="3364992" y="124349"/>
                </a:lnTo>
                <a:lnTo>
                  <a:pt x="3438144" y="150772"/>
                </a:lnTo>
                <a:lnTo>
                  <a:pt x="3511296" y="180188"/>
                </a:lnTo>
                <a:lnTo>
                  <a:pt x="3584448" y="212275"/>
                </a:lnTo>
                <a:lnTo>
                  <a:pt x="3657600" y="246637"/>
                </a:lnTo>
                <a:lnTo>
                  <a:pt x="3730752" y="282809"/>
                </a:lnTo>
                <a:lnTo>
                  <a:pt x="3803904" y="320270"/>
                </a:lnTo>
                <a:lnTo>
                  <a:pt x="3877056" y="358453"/>
                </a:lnTo>
                <a:lnTo>
                  <a:pt x="3950208" y="396758"/>
                </a:lnTo>
                <a:lnTo>
                  <a:pt x="4023360" y="434570"/>
                </a:lnTo>
                <a:lnTo>
                  <a:pt x="4096512" y="471268"/>
                </a:lnTo>
                <a:lnTo>
                  <a:pt x="4169664" y="506248"/>
                </a:lnTo>
                <a:lnTo>
                  <a:pt x="4242816" y="538929"/>
                </a:lnTo>
                <a:lnTo>
                  <a:pt x="4315968" y="568776"/>
                </a:lnTo>
                <a:lnTo>
                  <a:pt x="4389120" y="595305"/>
                </a:lnTo>
                <a:lnTo>
                  <a:pt x="4462272" y="618100"/>
                </a:lnTo>
                <a:lnTo>
                  <a:pt x="4535424" y="636824"/>
                </a:lnTo>
                <a:lnTo>
                  <a:pt x="4608576" y="651220"/>
                </a:lnTo>
                <a:lnTo>
                  <a:pt x="4681728" y="661124"/>
                </a:lnTo>
                <a:lnTo>
                  <a:pt x="4754880" y="666467"/>
                </a:lnTo>
                <a:lnTo>
                  <a:pt x="4828032" y="667270"/>
                </a:lnTo>
                <a:lnTo>
                  <a:pt x="4901184" y="663652"/>
                </a:lnTo>
                <a:lnTo>
                  <a:pt x="4974336" y="655818"/>
                </a:lnTo>
                <a:lnTo>
                  <a:pt x="5047488" y="644056"/>
                </a:lnTo>
                <a:lnTo>
                  <a:pt x="5120640" y="628730"/>
                </a:lnTo>
                <a:lnTo>
                  <a:pt x="5193792" y="610265"/>
                </a:lnTo>
                <a:lnTo>
                  <a:pt x="5266944" y="589141"/>
                </a:lnTo>
                <a:lnTo>
                  <a:pt x="5340096" y="565873"/>
                </a:lnTo>
                <a:lnTo>
                  <a:pt x="5413248" y="541003"/>
                </a:lnTo>
                <a:lnTo>
                  <a:pt x="5486400" y="515082"/>
                </a:lnTo>
                <a:lnTo>
                  <a:pt x="5559552" y="488657"/>
                </a:lnTo>
                <a:lnTo>
                  <a:pt x="5632704" y="462254"/>
                </a:lnTo>
                <a:lnTo>
                  <a:pt x="5705856" y="436366"/>
                </a:lnTo>
                <a:lnTo>
                  <a:pt x="5779008" y="411442"/>
                </a:lnTo>
                <a:lnTo>
                  <a:pt x="5852160" y="387872"/>
                </a:lnTo>
                <a:lnTo>
                  <a:pt x="5925312" y="365982"/>
                </a:lnTo>
                <a:lnTo>
                  <a:pt x="5998464" y="346022"/>
                </a:lnTo>
                <a:lnTo>
                  <a:pt x="6071616" y="328165"/>
                </a:lnTo>
                <a:lnTo>
                  <a:pt x="6144768" y="312502"/>
                </a:lnTo>
                <a:lnTo>
                  <a:pt x="6217920" y="299040"/>
                </a:lnTo>
                <a:lnTo>
                  <a:pt x="6291072" y="287709"/>
                </a:lnTo>
                <a:lnTo>
                  <a:pt x="6364224" y="278362"/>
                </a:lnTo>
                <a:lnTo>
                  <a:pt x="6437376" y="270781"/>
                </a:lnTo>
                <a:lnTo>
                  <a:pt x="6510528" y="264691"/>
                </a:lnTo>
                <a:lnTo>
                  <a:pt x="6583680" y="259763"/>
                </a:lnTo>
                <a:lnTo>
                  <a:pt x="6656832" y="255632"/>
                </a:lnTo>
                <a:lnTo>
                  <a:pt x="6729984" y="251907"/>
                </a:lnTo>
                <a:lnTo>
                  <a:pt x="6803136" y="248185"/>
                </a:lnTo>
                <a:lnTo>
                  <a:pt x="6876288" y="244064"/>
                </a:lnTo>
                <a:lnTo>
                  <a:pt x="6949440" y="239160"/>
                </a:lnTo>
                <a:lnTo>
                  <a:pt x="7022592" y="233117"/>
                </a:lnTo>
                <a:lnTo>
                  <a:pt x="7095744" y="225622"/>
                </a:lnTo>
                <a:lnTo>
                  <a:pt x="7168896" y="216413"/>
                </a:lnTo>
                <a:lnTo>
                  <a:pt x="7242048" y="205295"/>
                </a:lnTo>
                <a:lnTo>
                  <a:pt x="7315200" y="192141"/>
                </a:lnTo>
                <a:lnTo>
                  <a:pt x="7388352" y="176902"/>
                </a:lnTo>
                <a:lnTo>
                  <a:pt x="7461504" y="159609"/>
                </a:lnTo>
                <a:lnTo>
                  <a:pt x="7534656" y="140374"/>
                </a:lnTo>
                <a:lnTo>
                  <a:pt x="7607808" y="119392"/>
                </a:lnTo>
                <a:lnTo>
                  <a:pt x="7680960" y="96931"/>
                </a:lnTo>
                <a:lnTo>
                  <a:pt x="7754112" y="73333"/>
                </a:lnTo>
                <a:lnTo>
                  <a:pt x="7827264" y="49001"/>
                </a:lnTo>
                <a:lnTo>
                  <a:pt x="7900416" y="24391"/>
                </a:lnTo>
                <a:lnTo>
                  <a:pt x="7973568" y="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4160520" y="6077293"/>
            <a:ext cx="7973568" cy="652215"/>
          </a:xfrm>
          <a:custGeom>
            <a:avLst/>
            <a:gdLst/>
            <a:ahLst/>
            <a:cxnLst/>
            <a:rect l="l" t="t" r="r" b="b"/>
            <a:pathLst>
              <a:path w="7973568" h="652215">
                <a:moveTo>
                  <a:pt x="0" y="385766"/>
                </a:moveTo>
                <a:lnTo>
                  <a:pt x="73152" y="351365"/>
                </a:lnTo>
                <a:lnTo>
                  <a:pt x="146304" y="318242"/>
                </a:lnTo>
                <a:lnTo>
                  <a:pt x="219456" y="286878"/>
                </a:lnTo>
                <a:lnTo>
                  <a:pt x="292608" y="257690"/>
                </a:lnTo>
                <a:lnTo>
                  <a:pt x="365760" y="231026"/>
                </a:lnTo>
                <a:lnTo>
                  <a:pt x="438912" y="207154"/>
                </a:lnTo>
                <a:lnTo>
                  <a:pt x="512064" y="186259"/>
                </a:lnTo>
                <a:lnTo>
                  <a:pt x="585216" y="168440"/>
                </a:lnTo>
                <a:lnTo>
                  <a:pt x="658368" y="153709"/>
                </a:lnTo>
                <a:lnTo>
                  <a:pt x="731520" y="141993"/>
                </a:lnTo>
                <a:lnTo>
                  <a:pt x="804672" y="133142"/>
                </a:lnTo>
                <a:lnTo>
                  <a:pt x="877824" y="126929"/>
                </a:lnTo>
                <a:lnTo>
                  <a:pt x="950976" y="123065"/>
                </a:lnTo>
                <a:lnTo>
                  <a:pt x="1024128" y="121208"/>
                </a:lnTo>
                <a:lnTo>
                  <a:pt x="1097280" y="120973"/>
                </a:lnTo>
                <a:lnTo>
                  <a:pt x="1170432" y="121948"/>
                </a:lnTo>
                <a:lnTo>
                  <a:pt x="1243584" y="123704"/>
                </a:lnTo>
                <a:lnTo>
                  <a:pt x="1316736" y="125812"/>
                </a:lnTo>
                <a:lnTo>
                  <a:pt x="1389888" y="127859"/>
                </a:lnTo>
                <a:lnTo>
                  <a:pt x="1463040" y="129455"/>
                </a:lnTo>
                <a:lnTo>
                  <a:pt x="1536192" y="130252"/>
                </a:lnTo>
                <a:lnTo>
                  <a:pt x="1609344" y="129952"/>
                </a:lnTo>
                <a:lnTo>
                  <a:pt x="1682496" y="128319"/>
                </a:lnTo>
                <a:lnTo>
                  <a:pt x="1755648" y="125184"/>
                </a:lnTo>
                <a:lnTo>
                  <a:pt x="1828800" y="120454"/>
                </a:lnTo>
                <a:lnTo>
                  <a:pt x="1901952" y="114113"/>
                </a:lnTo>
                <a:lnTo>
                  <a:pt x="1975104" y="106225"/>
                </a:lnTo>
                <a:lnTo>
                  <a:pt x="2048256" y="96931"/>
                </a:lnTo>
                <a:lnTo>
                  <a:pt x="2121408" y="86449"/>
                </a:lnTo>
                <a:lnTo>
                  <a:pt x="2194560" y="75063"/>
                </a:lnTo>
                <a:lnTo>
                  <a:pt x="2267712" y="63119"/>
                </a:lnTo>
                <a:lnTo>
                  <a:pt x="2340864" y="51015"/>
                </a:lnTo>
                <a:lnTo>
                  <a:pt x="2414016" y="39186"/>
                </a:lnTo>
                <a:lnTo>
                  <a:pt x="2487168" y="28094"/>
                </a:lnTo>
                <a:lnTo>
                  <a:pt x="2560320" y="18216"/>
                </a:lnTo>
                <a:lnTo>
                  <a:pt x="2633472" y="10025"/>
                </a:lnTo>
                <a:lnTo>
                  <a:pt x="2706624" y="3980"/>
                </a:lnTo>
                <a:lnTo>
                  <a:pt x="2779776" y="510"/>
                </a:lnTo>
                <a:lnTo>
                  <a:pt x="2852928" y="0"/>
                </a:lnTo>
                <a:lnTo>
                  <a:pt x="2926080" y="2780"/>
                </a:lnTo>
                <a:lnTo>
                  <a:pt x="2999232" y="9113"/>
                </a:lnTo>
                <a:lnTo>
                  <a:pt x="3072384" y="19187"/>
                </a:lnTo>
                <a:lnTo>
                  <a:pt x="3145536" y="33107"/>
                </a:lnTo>
                <a:lnTo>
                  <a:pt x="3218688" y="50891"/>
                </a:lnTo>
                <a:lnTo>
                  <a:pt x="3291840" y="72463"/>
                </a:lnTo>
                <a:lnTo>
                  <a:pt x="3364992" y="97662"/>
                </a:lnTo>
                <a:lnTo>
                  <a:pt x="3438144" y="126234"/>
                </a:lnTo>
                <a:lnTo>
                  <a:pt x="3511296" y="157844"/>
                </a:lnTo>
                <a:lnTo>
                  <a:pt x="3584448" y="192079"/>
                </a:lnTo>
                <a:lnTo>
                  <a:pt x="3657600" y="228460"/>
                </a:lnTo>
                <a:lnTo>
                  <a:pt x="3730752" y="266451"/>
                </a:lnTo>
                <a:lnTo>
                  <a:pt x="3803904" y="305473"/>
                </a:lnTo>
                <a:lnTo>
                  <a:pt x="3877056" y="344915"/>
                </a:lnTo>
                <a:lnTo>
                  <a:pt x="3950208" y="384152"/>
                </a:lnTo>
                <a:lnTo>
                  <a:pt x="4023360" y="422559"/>
                </a:lnTo>
                <a:lnTo>
                  <a:pt x="4096512" y="459525"/>
                </a:lnTo>
                <a:lnTo>
                  <a:pt x="4169664" y="494469"/>
                </a:lnTo>
                <a:lnTo>
                  <a:pt x="4242816" y="526854"/>
                </a:lnTo>
                <a:lnTo>
                  <a:pt x="4315968" y="556199"/>
                </a:lnTo>
                <a:lnTo>
                  <a:pt x="4389120" y="582089"/>
                </a:lnTo>
                <a:lnTo>
                  <a:pt x="4462272" y="604189"/>
                </a:lnTo>
                <a:lnTo>
                  <a:pt x="4535424" y="622247"/>
                </a:lnTo>
                <a:lnTo>
                  <a:pt x="4608576" y="636102"/>
                </a:lnTo>
                <a:lnTo>
                  <a:pt x="4681728" y="645684"/>
                </a:lnTo>
                <a:lnTo>
                  <a:pt x="4754880" y="651017"/>
                </a:lnTo>
                <a:lnTo>
                  <a:pt x="4828032" y="652215"/>
                </a:lnTo>
                <a:lnTo>
                  <a:pt x="4901184" y="649478"/>
                </a:lnTo>
                <a:lnTo>
                  <a:pt x="4974336" y="643086"/>
                </a:lnTo>
                <a:lnTo>
                  <a:pt x="5047488" y="633389"/>
                </a:lnTo>
                <a:lnTo>
                  <a:pt x="5120640" y="620795"/>
                </a:lnTo>
                <a:lnTo>
                  <a:pt x="5193792" y="605763"/>
                </a:lnTo>
                <a:lnTo>
                  <a:pt x="5266944" y="588782"/>
                </a:lnTo>
                <a:lnTo>
                  <a:pt x="5340096" y="570363"/>
                </a:lnTo>
                <a:lnTo>
                  <a:pt x="5413248" y="551022"/>
                </a:lnTo>
                <a:lnTo>
                  <a:pt x="5486400" y="531265"/>
                </a:lnTo>
                <a:lnTo>
                  <a:pt x="5559552" y="511575"/>
                </a:lnTo>
                <a:lnTo>
                  <a:pt x="5632704" y="492398"/>
                </a:lnTo>
                <a:lnTo>
                  <a:pt x="5705856" y="474134"/>
                </a:lnTo>
                <a:lnTo>
                  <a:pt x="5779008" y="457119"/>
                </a:lnTo>
                <a:lnTo>
                  <a:pt x="5852160" y="441627"/>
                </a:lnTo>
                <a:lnTo>
                  <a:pt x="5925312" y="427854"/>
                </a:lnTo>
                <a:lnTo>
                  <a:pt x="5998464" y="415917"/>
                </a:lnTo>
                <a:lnTo>
                  <a:pt x="6071616" y="405856"/>
                </a:lnTo>
                <a:lnTo>
                  <a:pt x="6144768" y="397629"/>
                </a:lnTo>
                <a:lnTo>
                  <a:pt x="6217920" y="391115"/>
                </a:lnTo>
                <a:lnTo>
                  <a:pt x="6291072" y="386125"/>
                </a:lnTo>
                <a:lnTo>
                  <a:pt x="6364224" y="382401"/>
                </a:lnTo>
                <a:lnTo>
                  <a:pt x="6437376" y="379634"/>
                </a:lnTo>
                <a:lnTo>
                  <a:pt x="6510528" y="377467"/>
                </a:lnTo>
                <a:lnTo>
                  <a:pt x="6583680" y="375513"/>
                </a:lnTo>
                <a:lnTo>
                  <a:pt x="6656832" y="373365"/>
                </a:lnTo>
                <a:lnTo>
                  <a:pt x="6729984" y="370611"/>
                </a:lnTo>
                <a:lnTo>
                  <a:pt x="6803136" y="366847"/>
                </a:lnTo>
                <a:lnTo>
                  <a:pt x="6876288" y="361695"/>
                </a:lnTo>
                <a:lnTo>
                  <a:pt x="6949440" y="354809"/>
                </a:lnTo>
                <a:lnTo>
                  <a:pt x="7022592" y="345893"/>
                </a:lnTo>
                <a:lnTo>
                  <a:pt x="7095744" y="334711"/>
                </a:lnTo>
                <a:lnTo>
                  <a:pt x="7168896" y="321094"/>
                </a:lnTo>
                <a:lnTo>
                  <a:pt x="7242048" y="304949"/>
                </a:lnTo>
                <a:lnTo>
                  <a:pt x="7315200" y="286263"/>
                </a:lnTo>
                <a:lnTo>
                  <a:pt x="7388352" y="265108"/>
                </a:lnTo>
                <a:lnTo>
                  <a:pt x="7461504" y="241637"/>
                </a:lnTo>
                <a:lnTo>
                  <a:pt x="7534656" y="216089"/>
                </a:lnTo>
                <a:lnTo>
                  <a:pt x="7607808" y="188775"/>
                </a:lnTo>
                <a:lnTo>
                  <a:pt x="7680960" y="160081"/>
                </a:lnTo>
                <a:lnTo>
                  <a:pt x="7754112" y="130452"/>
                </a:lnTo>
                <a:lnTo>
                  <a:pt x="7827264" y="100385"/>
                </a:lnTo>
                <a:lnTo>
                  <a:pt x="7900416" y="70416"/>
                </a:lnTo>
                <a:lnTo>
                  <a:pt x="7973568" y="41106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4160520" y="6001402"/>
            <a:ext cx="7973568" cy="636779"/>
          </a:xfrm>
          <a:custGeom>
            <a:avLst/>
            <a:gdLst/>
            <a:ahLst/>
            <a:cxnLst/>
            <a:rect l="l" t="t" r="r" b="b"/>
            <a:pathLst>
              <a:path w="7973568" h="636779">
                <a:moveTo>
                  <a:pt x="0" y="455937"/>
                </a:moveTo>
                <a:lnTo>
                  <a:pt x="73152" y="427286"/>
                </a:lnTo>
                <a:lnTo>
                  <a:pt x="146304" y="400142"/>
                </a:lnTo>
                <a:lnTo>
                  <a:pt x="219456" y="374882"/>
                </a:lnTo>
                <a:lnTo>
                  <a:pt x="292608" y="351813"/>
                </a:lnTo>
                <a:lnTo>
                  <a:pt x="365760" y="331165"/>
                </a:lnTo>
                <a:lnTo>
                  <a:pt x="438912" y="313083"/>
                </a:lnTo>
                <a:lnTo>
                  <a:pt x="512064" y="297630"/>
                </a:lnTo>
                <a:lnTo>
                  <a:pt x="585216" y="284784"/>
                </a:lnTo>
                <a:lnTo>
                  <a:pt x="658368" y="274443"/>
                </a:lnTo>
                <a:lnTo>
                  <a:pt x="731520" y="266428"/>
                </a:lnTo>
                <a:lnTo>
                  <a:pt x="804672" y="260494"/>
                </a:lnTo>
                <a:lnTo>
                  <a:pt x="877824" y="256337"/>
                </a:lnTo>
                <a:lnTo>
                  <a:pt x="950976" y="253605"/>
                </a:lnTo>
                <a:lnTo>
                  <a:pt x="1024128" y="251909"/>
                </a:lnTo>
                <a:lnTo>
                  <a:pt x="1097280" y="250841"/>
                </a:lnTo>
                <a:lnTo>
                  <a:pt x="1170432" y="249982"/>
                </a:lnTo>
                <a:lnTo>
                  <a:pt x="1243584" y="248923"/>
                </a:lnTo>
                <a:lnTo>
                  <a:pt x="1316736" y="247271"/>
                </a:lnTo>
                <a:lnTo>
                  <a:pt x="1389888" y="244667"/>
                </a:lnTo>
                <a:lnTo>
                  <a:pt x="1463040" y="240798"/>
                </a:lnTo>
                <a:lnTo>
                  <a:pt x="1536192" y="235407"/>
                </a:lnTo>
                <a:lnTo>
                  <a:pt x="1609344" y="228302"/>
                </a:lnTo>
                <a:lnTo>
                  <a:pt x="1682496" y="219363"/>
                </a:lnTo>
                <a:lnTo>
                  <a:pt x="1755648" y="208549"/>
                </a:lnTo>
                <a:lnTo>
                  <a:pt x="1828800" y="195896"/>
                </a:lnTo>
                <a:lnTo>
                  <a:pt x="1901952" y="181523"/>
                </a:lnTo>
                <a:lnTo>
                  <a:pt x="1975104" y="165628"/>
                </a:lnTo>
                <a:lnTo>
                  <a:pt x="2048256" y="148481"/>
                </a:lnTo>
                <a:lnTo>
                  <a:pt x="2121408" y="130419"/>
                </a:lnTo>
                <a:lnTo>
                  <a:pt x="2194560" y="111839"/>
                </a:lnTo>
                <a:lnTo>
                  <a:pt x="2267712" y="93185"/>
                </a:lnTo>
                <a:lnTo>
                  <a:pt x="2340864" y="74936"/>
                </a:lnTo>
                <a:lnTo>
                  <a:pt x="2414016" y="57596"/>
                </a:lnTo>
                <a:lnTo>
                  <a:pt x="2487168" y="41675"/>
                </a:lnTo>
                <a:lnTo>
                  <a:pt x="2560320" y="27677"/>
                </a:lnTo>
                <a:lnTo>
                  <a:pt x="2633472" y="16086"/>
                </a:lnTo>
                <a:lnTo>
                  <a:pt x="2706624" y="7352"/>
                </a:lnTo>
                <a:lnTo>
                  <a:pt x="2779776" y="1876"/>
                </a:lnTo>
                <a:lnTo>
                  <a:pt x="2852928" y="0"/>
                </a:lnTo>
                <a:lnTo>
                  <a:pt x="2926080" y="1993"/>
                </a:lnTo>
                <a:lnTo>
                  <a:pt x="2999232" y="8047"/>
                </a:lnTo>
                <a:lnTo>
                  <a:pt x="3072384" y="18268"/>
                </a:lnTo>
                <a:lnTo>
                  <a:pt x="3145536" y="32669"/>
                </a:lnTo>
                <a:lnTo>
                  <a:pt x="3218688" y="51173"/>
                </a:lnTo>
                <a:lnTo>
                  <a:pt x="3291840" y="73610"/>
                </a:lnTo>
                <a:lnTo>
                  <a:pt x="3364992" y="99721"/>
                </a:lnTo>
                <a:lnTo>
                  <a:pt x="3438144" y="129165"/>
                </a:lnTo>
                <a:lnTo>
                  <a:pt x="3511296" y="161521"/>
                </a:lnTo>
                <a:lnTo>
                  <a:pt x="3584448" y="196306"/>
                </a:lnTo>
                <a:lnTo>
                  <a:pt x="3657600" y="232980"/>
                </a:lnTo>
                <a:lnTo>
                  <a:pt x="3730752" y="270961"/>
                </a:lnTo>
                <a:lnTo>
                  <a:pt x="3803904" y="309640"/>
                </a:lnTo>
                <a:lnTo>
                  <a:pt x="3877056" y="348393"/>
                </a:lnTo>
                <a:lnTo>
                  <a:pt x="3950208" y="386599"/>
                </a:lnTo>
                <a:lnTo>
                  <a:pt x="4023360" y="423654"/>
                </a:lnTo>
                <a:lnTo>
                  <a:pt x="4096512" y="458987"/>
                </a:lnTo>
                <a:lnTo>
                  <a:pt x="4169664" y="492070"/>
                </a:lnTo>
                <a:lnTo>
                  <a:pt x="4242816" y="522433"/>
                </a:lnTo>
                <a:lnTo>
                  <a:pt x="4315968" y="549675"/>
                </a:lnTo>
                <a:lnTo>
                  <a:pt x="4389120" y="573472"/>
                </a:lnTo>
                <a:lnTo>
                  <a:pt x="4462272" y="593586"/>
                </a:lnTo>
                <a:lnTo>
                  <a:pt x="4535424" y="609866"/>
                </a:lnTo>
                <a:lnTo>
                  <a:pt x="4608576" y="622251"/>
                </a:lnTo>
                <a:lnTo>
                  <a:pt x="4681728" y="630772"/>
                </a:lnTo>
                <a:lnTo>
                  <a:pt x="4754880" y="635548"/>
                </a:lnTo>
                <a:lnTo>
                  <a:pt x="4828032" y="636779"/>
                </a:lnTo>
                <a:lnTo>
                  <a:pt x="4901184" y="634742"/>
                </a:lnTo>
                <a:lnTo>
                  <a:pt x="4974336" y="629776"/>
                </a:lnTo>
                <a:lnTo>
                  <a:pt x="5047488" y="622280"/>
                </a:lnTo>
                <a:lnTo>
                  <a:pt x="5120640" y="612689"/>
                </a:lnTo>
                <a:lnTo>
                  <a:pt x="5193792" y="601472"/>
                </a:lnTo>
                <a:lnTo>
                  <a:pt x="5266944" y="589110"/>
                </a:lnTo>
                <a:lnTo>
                  <a:pt x="5340096" y="576083"/>
                </a:lnTo>
                <a:lnTo>
                  <a:pt x="5413248" y="562859"/>
                </a:lnTo>
                <a:lnTo>
                  <a:pt x="5486400" y="549877"/>
                </a:lnTo>
                <a:lnTo>
                  <a:pt x="5559552" y="537535"/>
                </a:lnTo>
                <a:lnTo>
                  <a:pt x="5632704" y="526180"/>
                </a:lnTo>
                <a:lnTo>
                  <a:pt x="5705856" y="516097"/>
                </a:lnTo>
                <a:lnTo>
                  <a:pt x="5779008" y="507501"/>
                </a:lnTo>
                <a:lnTo>
                  <a:pt x="5852160" y="500532"/>
                </a:lnTo>
                <a:lnTo>
                  <a:pt x="5925312" y="495251"/>
                </a:lnTo>
                <a:lnTo>
                  <a:pt x="5998464" y="491640"/>
                </a:lnTo>
                <a:lnTo>
                  <a:pt x="6071616" y="489602"/>
                </a:lnTo>
                <a:lnTo>
                  <a:pt x="6144768" y="488966"/>
                </a:lnTo>
                <a:lnTo>
                  <a:pt x="6217920" y="489492"/>
                </a:lnTo>
                <a:lnTo>
                  <a:pt x="6291072" y="490880"/>
                </a:lnTo>
                <a:lnTo>
                  <a:pt x="6364224" y="492778"/>
                </a:lnTo>
                <a:lnTo>
                  <a:pt x="6437376" y="494797"/>
                </a:lnTo>
                <a:lnTo>
                  <a:pt x="6510528" y="496520"/>
                </a:lnTo>
                <a:lnTo>
                  <a:pt x="6583680" y="497519"/>
                </a:lnTo>
                <a:lnTo>
                  <a:pt x="6656832" y="497365"/>
                </a:lnTo>
                <a:lnTo>
                  <a:pt x="6729984" y="495647"/>
                </a:lnTo>
                <a:lnTo>
                  <a:pt x="6803136" y="491981"/>
                </a:lnTo>
                <a:lnTo>
                  <a:pt x="6876288" y="486027"/>
                </a:lnTo>
                <a:lnTo>
                  <a:pt x="6949440" y="477497"/>
                </a:lnTo>
                <a:lnTo>
                  <a:pt x="7022592" y="466170"/>
                </a:lnTo>
                <a:lnTo>
                  <a:pt x="7095744" y="451896"/>
                </a:lnTo>
                <a:lnTo>
                  <a:pt x="7168896" y="434607"/>
                </a:lnTo>
                <a:lnTo>
                  <a:pt x="7242048" y="414317"/>
                </a:lnTo>
                <a:lnTo>
                  <a:pt x="7315200" y="391128"/>
                </a:lnTo>
                <a:lnTo>
                  <a:pt x="7388352" y="365227"/>
                </a:lnTo>
                <a:lnTo>
                  <a:pt x="7461504" y="336883"/>
                </a:lnTo>
                <a:lnTo>
                  <a:pt x="7534656" y="306445"/>
                </a:lnTo>
                <a:lnTo>
                  <a:pt x="7607808" y="274331"/>
                </a:lnTo>
                <a:lnTo>
                  <a:pt x="7680960" y="241019"/>
                </a:lnTo>
                <a:lnTo>
                  <a:pt x="7754112" y="207037"/>
                </a:lnTo>
                <a:lnTo>
                  <a:pt x="7827264" y="172952"/>
                </a:lnTo>
                <a:lnTo>
                  <a:pt x="7900416" y="139350"/>
                </a:lnTo>
                <a:lnTo>
                  <a:pt x="7973568" y="10682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4160520" y="5944260"/>
            <a:ext cx="7973568" cy="591305"/>
          </a:xfrm>
          <a:custGeom>
            <a:avLst/>
            <a:gdLst/>
            <a:ahLst/>
            <a:cxnLst/>
            <a:rect l="l" t="t" r="r" b="b"/>
            <a:pathLst>
              <a:path w="7973568" h="591305">
                <a:moveTo>
                  <a:pt x="0" y="498172"/>
                </a:moveTo>
                <a:lnTo>
                  <a:pt x="73152" y="476435"/>
                </a:lnTo>
                <a:lnTo>
                  <a:pt x="146304" y="456379"/>
                </a:lnTo>
                <a:lnTo>
                  <a:pt x="219456" y="438264"/>
                </a:lnTo>
                <a:lnTo>
                  <a:pt x="292608" y="422271"/>
                </a:lnTo>
                <a:lnTo>
                  <a:pt x="365760" y="408500"/>
                </a:lnTo>
                <a:lnTo>
                  <a:pt x="438912" y="396970"/>
                </a:lnTo>
                <a:lnTo>
                  <a:pt x="512064" y="387617"/>
                </a:lnTo>
                <a:lnTo>
                  <a:pt x="585216" y="380301"/>
                </a:lnTo>
                <a:lnTo>
                  <a:pt x="658368" y="374810"/>
                </a:lnTo>
                <a:lnTo>
                  <a:pt x="731520" y="370869"/>
                </a:lnTo>
                <a:lnTo>
                  <a:pt x="804672" y="368152"/>
                </a:lnTo>
                <a:lnTo>
                  <a:pt x="877824" y="366288"/>
                </a:lnTo>
                <a:lnTo>
                  <a:pt x="950976" y="364879"/>
                </a:lnTo>
                <a:lnTo>
                  <a:pt x="1024128" y="363511"/>
                </a:lnTo>
                <a:lnTo>
                  <a:pt x="1097280" y="361770"/>
                </a:lnTo>
                <a:lnTo>
                  <a:pt x="1170432" y="359253"/>
                </a:lnTo>
                <a:lnTo>
                  <a:pt x="1243584" y="355584"/>
                </a:lnTo>
                <a:lnTo>
                  <a:pt x="1316736" y="350427"/>
                </a:lnTo>
                <a:lnTo>
                  <a:pt x="1389888" y="343496"/>
                </a:lnTo>
                <a:lnTo>
                  <a:pt x="1463040" y="334567"/>
                </a:lnTo>
                <a:lnTo>
                  <a:pt x="1536192" y="323484"/>
                </a:lnTo>
                <a:lnTo>
                  <a:pt x="1609344" y="310169"/>
                </a:lnTo>
                <a:lnTo>
                  <a:pt x="1682496" y="294626"/>
                </a:lnTo>
                <a:lnTo>
                  <a:pt x="1755648" y="276937"/>
                </a:lnTo>
                <a:lnTo>
                  <a:pt x="1828800" y="257269"/>
                </a:lnTo>
                <a:lnTo>
                  <a:pt x="1901952" y="235868"/>
                </a:lnTo>
                <a:lnTo>
                  <a:pt x="1975104" y="213052"/>
                </a:lnTo>
                <a:lnTo>
                  <a:pt x="2048256" y="189205"/>
                </a:lnTo>
                <a:lnTo>
                  <a:pt x="2121408" y="164769"/>
                </a:lnTo>
                <a:lnTo>
                  <a:pt x="2194560" y="140230"/>
                </a:lnTo>
                <a:lnTo>
                  <a:pt x="2267712" y="116108"/>
                </a:lnTo>
                <a:lnTo>
                  <a:pt x="2340864" y="92940"/>
                </a:lnTo>
                <a:lnTo>
                  <a:pt x="2414016" y="71269"/>
                </a:lnTo>
                <a:lnTo>
                  <a:pt x="2487168" y="51627"/>
                </a:lnTo>
                <a:lnTo>
                  <a:pt x="2560320" y="34523"/>
                </a:lnTo>
                <a:lnTo>
                  <a:pt x="2633472" y="20424"/>
                </a:lnTo>
                <a:lnTo>
                  <a:pt x="2706624" y="9747"/>
                </a:lnTo>
                <a:lnTo>
                  <a:pt x="2779776" y="2846"/>
                </a:lnTo>
                <a:lnTo>
                  <a:pt x="2852928" y="0"/>
                </a:lnTo>
                <a:lnTo>
                  <a:pt x="2926080" y="1404"/>
                </a:lnTo>
                <a:lnTo>
                  <a:pt x="2999232" y="7168"/>
                </a:lnTo>
                <a:lnTo>
                  <a:pt x="3072384" y="17306"/>
                </a:lnTo>
                <a:lnTo>
                  <a:pt x="3145536" y="31742"/>
                </a:lnTo>
                <a:lnTo>
                  <a:pt x="3218688" y="50305"/>
                </a:lnTo>
                <a:lnTo>
                  <a:pt x="3291840" y="72736"/>
                </a:lnTo>
                <a:lnTo>
                  <a:pt x="3364992" y="98693"/>
                </a:lnTo>
                <a:lnTo>
                  <a:pt x="3438144" y="127758"/>
                </a:lnTo>
                <a:lnTo>
                  <a:pt x="3511296" y="159449"/>
                </a:lnTo>
                <a:lnTo>
                  <a:pt x="3584448" y="193233"/>
                </a:lnTo>
                <a:lnTo>
                  <a:pt x="3657600" y="228533"/>
                </a:lnTo>
                <a:lnTo>
                  <a:pt x="3730752" y="264751"/>
                </a:lnTo>
                <a:lnTo>
                  <a:pt x="3803904" y="301275"/>
                </a:lnTo>
                <a:lnTo>
                  <a:pt x="3877056" y="337499"/>
                </a:lnTo>
                <a:lnTo>
                  <a:pt x="3950208" y="372836"/>
                </a:lnTo>
                <a:lnTo>
                  <a:pt x="4023360" y="406733"/>
                </a:lnTo>
                <a:lnTo>
                  <a:pt x="4096512" y="438684"/>
                </a:lnTo>
                <a:lnTo>
                  <a:pt x="4169664" y="468240"/>
                </a:lnTo>
                <a:lnTo>
                  <a:pt x="4242816" y="495023"/>
                </a:lnTo>
                <a:lnTo>
                  <a:pt x="4315968" y="518731"/>
                </a:lnTo>
                <a:lnTo>
                  <a:pt x="4389120" y="539148"/>
                </a:lnTo>
                <a:lnTo>
                  <a:pt x="4462272" y="556143"/>
                </a:lnTo>
                <a:lnTo>
                  <a:pt x="4535424" y="569674"/>
                </a:lnTo>
                <a:lnTo>
                  <a:pt x="4608576" y="579788"/>
                </a:lnTo>
                <a:lnTo>
                  <a:pt x="4681728" y="586613"/>
                </a:lnTo>
                <a:lnTo>
                  <a:pt x="4754880" y="590360"/>
                </a:lnTo>
                <a:lnTo>
                  <a:pt x="4828032" y="591305"/>
                </a:lnTo>
                <a:lnTo>
                  <a:pt x="4901184" y="589790"/>
                </a:lnTo>
                <a:lnTo>
                  <a:pt x="4974336" y="586201"/>
                </a:lnTo>
                <a:lnTo>
                  <a:pt x="5047488" y="580964"/>
                </a:lnTo>
                <a:lnTo>
                  <a:pt x="5120640" y="574526"/>
                </a:lnTo>
                <a:lnTo>
                  <a:pt x="5193792" y="567342"/>
                </a:lnTo>
                <a:lnTo>
                  <a:pt x="5266944" y="559863"/>
                </a:lnTo>
                <a:lnTo>
                  <a:pt x="5340096" y="552520"/>
                </a:lnTo>
                <a:lnTo>
                  <a:pt x="5413248" y="545709"/>
                </a:lnTo>
                <a:lnTo>
                  <a:pt x="5486400" y="539784"/>
                </a:lnTo>
                <a:lnTo>
                  <a:pt x="5559552" y="535040"/>
                </a:lnTo>
                <a:lnTo>
                  <a:pt x="5632704" y="531711"/>
                </a:lnTo>
                <a:lnTo>
                  <a:pt x="5705856" y="529954"/>
                </a:lnTo>
                <a:lnTo>
                  <a:pt x="5779008" y="529854"/>
                </a:lnTo>
                <a:lnTo>
                  <a:pt x="5852160" y="531413"/>
                </a:lnTo>
                <a:lnTo>
                  <a:pt x="5925312" y="534557"/>
                </a:lnTo>
                <a:lnTo>
                  <a:pt x="5998464" y="539133"/>
                </a:lnTo>
                <a:lnTo>
                  <a:pt x="6071616" y="544915"/>
                </a:lnTo>
                <a:lnTo>
                  <a:pt x="6144768" y="551613"/>
                </a:lnTo>
                <a:lnTo>
                  <a:pt x="6217920" y="558879"/>
                </a:lnTo>
                <a:lnTo>
                  <a:pt x="6291072" y="566319"/>
                </a:lnTo>
                <a:lnTo>
                  <a:pt x="6364224" y="573505"/>
                </a:lnTo>
                <a:lnTo>
                  <a:pt x="6437376" y="579990"/>
                </a:lnTo>
                <a:lnTo>
                  <a:pt x="6510528" y="585316"/>
                </a:lnTo>
                <a:lnTo>
                  <a:pt x="6583680" y="589036"/>
                </a:lnTo>
                <a:lnTo>
                  <a:pt x="6656832" y="590722"/>
                </a:lnTo>
                <a:lnTo>
                  <a:pt x="6729984" y="589983"/>
                </a:lnTo>
                <a:lnTo>
                  <a:pt x="6803136" y="586475"/>
                </a:lnTo>
                <a:lnTo>
                  <a:pt x="6876288" y="579913"/>
                </a:lnTo>
                <a:lnTo>
                  <a:pt x="6949440" y="570082"/>
                </a:lnTo>
                <a:lnTo>
                  <a:pt x="7022592" y="556845"/>
                </a:lnTo>
                <a:lnTo>
                  <a:pt x="7095744" y="540149"/>
                </a:lnTo>
                <a:lnTo>
                  <a:pt x="7168896" y="520026"/>
                </a:lnTo>
                <a:lnTo>
                  <a:pt x="7242048" y="496600"/>
                </a:lnTo>
                <a:lnTo>
                  <a:pt x="7315200" y="470080"/>
                </a:lnTo>
                <a:lnTo>
                  <a:pt x="7388352" y="440760"/>
                </a:lnTo>
                <a:lnTo>
                  <a:pt x="7461504" y="409012"/>
                </a:lnTo>
                <a:lnTo>
                  <a:pt x="7534656" y="375279"/>
                </a:lnTo>
                <a:lnTo>
                  <a:pt x="7607808" y="340060"/>
                </a:lnTo>
                <a:lnTo>
                  <a:pt x="7680960" y="303907"/>
                </a:lnTo>
                <a:lnTo>
                  <a:pt x="7754112" y="267403"/>
                </a:lnTo>
                <a:lnTo>
                  <a:pt x="7827264" y="231154"/>
                </a:lnTo>
                <a:lnTo>
                  <a:pt x="7900416" y="195771"/>
                </a:lnTo>
                <a:lnTo>
                  <a:pt x="7973568" y="16185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160520" y="5906113"/>
            <a:ext cx="7973568" cy="650534"/>
          </a:xfrm>
          <a:custGeom>
            <a:avLst/>
            <a:gdLst/>
            <a:ahLst/>
            <a:cxnLst/>
            <a:rect l="l" t="t" r="r" b="b"/>
            <a:pathLst>
              <a:path w="7973568" h="650534">
                <a:moveTo>
                  <a:pt x="0" y="512179"/>
                </a:moveTo>
                <a:lnTo>
                  <a:pt x="73152" y="498133"/>
                </a:lnTo>
                <a:lnTo>
                  <a:pt x="146304" y="485877"/>
                </a:lnTo>
                <a:lnTo>
                  <a:pt x="219456" y="475541"/>
                </a:lnTo>
                <a:lnTo>
                  <a:pt x="292608" y="467175"/>
                </a:lnTo>
                <a:lnTo>
                  <a:pt x="365760" y="460746"/>
                </a:lnTo>
                <a:lnTo>
                  <a:pt x="438912" y="456144"/>
                </a:lnTo>
                <a:lnTo>
                  <a:pt x="512064" y="453185"/>
                </a:lnTo>
                <a:lnTo>
                  <a:pt x="585216" y="451617"/>
                </a:lnTo>
                <a:lnTo>
                  <a:pt x="658368" y="451129"/>
                </a:lnTo>
                <a:lnTo>
                  <a:pt x="731520" y="451365"/>
                </a:lnTo>
                <a:lnTo>
                  <a:pt x="804672" y="451931"/>
                </a:lnTo>
                <a:lnTo>
                  <a:pt x="877824" y="452411"/>
                </a:lnTo>
                <a:lnTo>
                  <a:pt x="950976" y="452379"/>
                </a:lnTo>
                <a:lnTo>
                  <a:pt x="1024128" y="451416"/>
                </a:lnTo>
                <a:lnTo>
                  <a:pt x="1097280" y="449121"/>
                </a:lnTo>
                <a:lnTo>
                  <a:pt x="1170432" y="445127"/>
                </a:lnTo>
                <a:lnTo>
                  <a:pt x="1243584" y="439110"/>
                </a:lnTo>
                <a:lnTo>
                  <a:pt x="1316736" y="430805"/>
                </a:lnTo>
                <a:lnTo>
                  <a:pt x="1389888" y="420012"/>
                </a:lnTo>
                <a:lnTo>
                  <a:pt x="1463040" y="406606"/>
                </a:lnTo>
                <a:lnTo>
                  <a:pt x="1536192" y="390541"/>
                </a:lnTo>
                <a:lnTo>
                  <a:pt x="1609344" y="371855"/>
                </a:lnTo>
                <a:lnTo>
                  <a:pt x="1682496" y="350672"/>
                </a:lnTo>
                <a:lnTo>
                  <a:pt x="1755648" y="327197"/>
                </a:lnTo>
                <a:lnTo>
                  <a:pt x="1828800" y="301715"/>
                </a:lnTo>
                <a:lnTo>
                  <a:pt x="1901952" y="274586"/>
                </a:lnTo>
                <a:lnTo>
                  <a:pt x="1975104" y="246232"/>
                </a:lnTo>
                <a:lnTo>
                  <a:pt x="2048256" y="217133"/>
                </a:lnTo>
                <a:lnTo>
                  <a:pt x="2121408" y="187809"/>
                </a:lnTo>
                <a:lnTo>
                  <a:pt x="2194560" y="158814"/>
                </a:lnTo>
                <a:lnTo>
                  <a:pt x="2267712" y="130714"/>
                </a:lnTo>
                <a:lnTo>
                  <a:pt x="2340864" y="104077"/>
                </a:lnTo>
                <a:lnTo>
                  <a:pt x="2414016" y="79460"/>
                </a:lnTo>
                <a:lnTo>
                  <a:pt x="2487168" y="57388"/>
                </a:lnTo>
                <a:lnTo>
                  <a:pt x="2560320" y="38346"/>
                </a:lnTo>
                <a:lnTo>
                  <a:pt x="2633472" y="22763"/>
                </a:lnTo>
                <a:lnTo>
                  <a:pt x="2706624" y="11001"/>
                </a:lnTo>
                <a:lnTo>
                  <a:pt x="2779776" y="3346"/>
                </a:lnTo>
                <a:lnTo>
                  <a:pt x="2852928" y="0"/>
                </a:lnTo>
                <a:lnTo>
                  <a:pt x="2926080" y="1073"/>
                </a:lnTo>
                <a:lnTo>
                  <a:pt x="2999232" y="6585"/>
                </a:lnTo>
                <a:lnTo>
                  <a:pt x="3072384" y="16460"/>
                </a:lnTo>
                <a:lnTo>
                  <a:pt x="3145536" y="30529"/>
                </a:lnTo>
                <a:lnTo>
                  <a:pt x="3218688" y="48537"/>
                </a:lnTo>
                <a:lnTo>
                  <a:pt x="3291840" y="70146"/>
                </a:lnTo>
                <a:lnTo>
                  <a:pt x="3364992" y="94945"/>
                </a:lnTo>
                <a:lnTo>
                  <a:pt x="3438144" y="122462"/>
                </a:lnTo>
                <a:lnTo>
                  <a:pt x="3511296" y="152173"/>
                </a:lnTo>
                <a:lnTo>
                  <a:pt x="3584448" y="183519"/>
                </a:lnTo>
                <a:lnTo>
                  <a:pt x="3657600" y="215915"/>
                </a:lnTo>
                <a:lnTo>
                  <a:pt x="3730752" y="248772"/>
                </a:lnTo>
                <a:lnTo>
                  <a:pt x="3803904" y="281508"/>
                </a:lnTo>
                <a:lnTo>
                  <a:pt x="3877056" y="313560"/>
                </a:lnTo>
                <a:lnTo>
                  <a:pt x="3950208" y="344404"/>
                </a:lnTo>
                <a:lnTo>
                  <a:pt x="4023360" y="373563"/>
                </a:lnTo>
                <a:lnTo>
                  <a:pt x="4096512" y="400621"/>
                </a:lnTo>
                <a:lnTo>
                  <a:pt x="4169664" y="425231"/>
                </a:lnTo>
                <a:lnTo>
                  <a:pt x="4242816" y="447123"/>
                </a:lnTo>
                <a:lnTo>
                  <a:pt x="4315968" y="466112"/>
                </a:lnTo>
                <a:lnTo>
                  <a:pt x="4389120" y="482095"/>
                </a:lnTo>
                <a:lnTo>
                  <a:pt x="4462272" y="495059"/>
                </a:lnTo>
                <a:lnTo>
                  <a:pt x="4535424" y="505073"/>
                </a:lnTo>
                <a:lnTo>
                  <a:pt x="4608576" y="512287"/>
                </a:lnTo>
                <a:lnTo>
                  <a:pt x="4681728" y="516926"/>
                </a:lnTo>
                <a:lnTo>
                  <a:pt x="4754880" y="519279"/>
                </a:lnTo>
                <a:lnTo>
                  <a:pt x="4828032" y="519690"/>
                </a:lnTo>
                <a:lnTo>
                  <a:pt x="4901184" y="518546"/>
                </a:lnTo>
                <a:lnTo>
                  <a:pt x="4974336" y="516265"/>
                </a:lnTo>
                <a:lnTo>
                  <a:pt x="5047488" y="513282"/>
                </a:lnTo>
                <a:lnTo>
                  <a:pt x="5120640" y="510031"/>
                </a:lnTo>
                <a:lnTo>
                  <a:pt x="5193792" y="506938"/>
                </a:lnTo>
                <a:lnTo>
                  <a:pt x="5266944" y="504402"/>
                </a:lnTo>
                <a:lnTo>
                  <a:pt x="5340096" y="502783"/>
                </a:lnTo>
                <a:lnTo>
                  <a:pt x="5413248" y="502392"/>
                </a:lnTo>
                <a:lnTo>
                  <a:pt x="5486400" y="503479"/>
                </a:lnTo>
                <a:lnTo>
                  <a:pt x="5559552" y="506226"/>
                </a:lnTo>
                <a:lnTo>
                  <a:pt x="5632704" y="510740"/>
                </a:lnTo>
                <a:lnTo>
                  <a:pt x="5705856" y="517051"/>
                </a:lnTo>
                <a:lnTo>
                  <a:pt x="5779008" y="525106"/>
                </a:lnTo>
                <a:lnTo>
                  <a:pt x="5852160" y="534776"/>
                </a:lnTo>
                <a:lnTo>
                  <a:pt x="5925312" y="545852"/>
                </a:lnTo>
                <a:lnTo>
                  <a:pt x="5998464" y="558057"/>
                </a:lnTo>
                <a:lnTo>
                  <a:pt x="6071616" y="571049"/>
                </a:lnTo>
                <a:lnTo>
                  <a:pt x="6144768" y="584435"/>
                </a:lnTo>
                <a:lnTo>
                  <a:pt x="6217920" y="597777"/>
                </a:lnTo>
                <a:lnTo>
                  <a:pt x="6291072" y="610609"/>
                </a:lnTo>
                <a:lnTo>
                  <a:pt x="6364224" y="622447"/>
                </a:lnTo>
                <a:lnTo>
                  <a:pt x="6437376" y="632809"/>
                </a:lnTo>
                <a:lnTo>
                  <a:pt x="6510528" y="641222"/>
                </a:lnTo>
                <a:lnTo>
                  <a:pt x="6583680" y="647242"/>
                </a:lnTo>
                <a:lnTo>
                  <a:pt x="6656832" y="650463"/>
                </a:lnTo>
                <a:lnTo>
                  <a:pt x="6729984" y="650534"/>
                </a:lnTo>
                <a:lnTo>
                  <a:pt x="6803136" y="647168"/>
                </a:lnTo>
                <a:lnTo>
                  <a:pt x="6876288" y="640151"/>
                </a:lnTo>
                <a:lnTo>
                  <a:pt x="6949440" y="629352"/>
                </a:lnTo>
                <a:lnTo>
                  <a:pt x="7022592" y="614726"/>
                </a:lnTo>
                <a:lnTo>
                  <a:pt x="7095744" y="596317"/>
                </a:lnTo>
                <a:lnTo>
                  <a:pt x="7168896" y="574261"/>
                </a:lnTo>
                <a:lnTo>
                  <a:pt x="7242048" y="548782"/>
                </a:lnTo>
                <a:lnTo>
                  <a:pt x="7315200" y="520188"/>
                </a:lnTo>
                <a:lnTo>
                  <a:pt x="7388352" y="488867"/>
                </a:lnTo>
                <a:lnTo>
                  <a:pt x="7461504" y="455275"/>
                </a:lnTo>
                <a:lnTo>
                  <a:pt x="7534656" y="419924"/>
                </a:lnTo>
                <a:lnTo>
                  <a:pt x="7607808" y="383378"/>
                </a:lnTo>
                <a:lnTo>
                  <a:pt x="7680960" y="346228"/>
                </a:lnTo>
                <a:lnTo>
                  <a:pt x="7754112" y="309086"/>
                </a:lnTo>
                <a:lnTo>
                  <a:pt x="7827264" y="272569"/>
                </a:lnTo>
                <a:lnTo>
                  <a:pt x="7900416" y="237279"/>
                </a:lnTo>
                <a:lnTo>
                  <a:pt x="7973568" y="20379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4160520" y="5886223"/>
            <a:ext cx="7973568" cy="676099"/>
          </a:xfrm>
          <a:custGeom>
            <a:avLst/>
            <a:gdLst/>
            <a:ahLst/>
            <a:cxnLst/>
            <a:rect l="l" t="t" r="r" b="b"/>
            <a:pathLst>
              <a:path w="7973568" h="676099">
                <a:moveTo>
                  <a:pt x="0" y="499230"/>
                </a:moveTo>
                <a:lnTo>
                  <a:pt x="73152" y="493239"/>
                </a:lnTo>
                <a:lnTo>
                  <a:pt x="146304" y="489075"/>
                </a:lnTo>
                <a:lnTo>
                  <a:pt x="219456" y="486731"/>
                </a:lnTo>
                <a:lnTo>
                  <a:pt x="292608" y="486123"/>
                </a:lnTo>
                <a:lnTo>
                  <a:pt x="365760" y="487090"/>
                </a:lnTo>
                <a:lnTo>
                  <a:pt x="438912" y="489399"/>
                </a:lnTo>
                <a:lnTo>
                  <a:pt x="512064" y="492756"/>
                </a:lnTo>
                <a:lnTo>
                  <a:pt x="585216" y="496810"/>
                </a:lnTo>
                <a:lnTo>
                  <a:pt x="658368" y="501170"/>
                </a:lnTo>
                <a:lnTo>
                  <a:pt x="731520" y="505412"/>
                </a:lnTo>
                <a:lnTo>
                  <a:pt x="804672" y="509098"/>
                </a:lnTo>
                <a:lnTo>
                  <a:pt x="877824" y="511786"/>
                </a:lnTo>
                <a:lnTo>
                  <a:pt x="950976" y="513044"/>
                </a:lnTo>
                <a:lnTo>
                  <a:pt x="1024128" y="512467"/>
                </a:lnTo>
                <a:lnTo>
                  <a:pt x="1097280" y="509689"/>
                </a:lnTo>
                <a:lnTo>
                  <a:pt x="1170432" y="504393"/>
                </a:lnTo>
                <a:lnTo>
                  <a:pt x="1243584" y="496327"/>
                </a:lnTo>
                <a:lnTo>
                  <a:pt x="1316736" y="485308"/>
                </a:lnTo>
                <a:lnTo>
                  <a:pt x="1389888" y="471232"/>
                </a:lnTo>
                <a:lnTo>
                  <a:pt x="1463040" y="454078"/>
                </a:lnTo>
                <a:lnTo>
                  <a:pt x="1536192" y="433912"/>
                </a:lnTo>
                <a:lnTo>
                  <a:pt x="1609344" y="410886"/>
                </a:lnTo>
                <a:lnTo>
                  <a:pt x="1682496" y="385237"/>
                </a:lnTo>
                <a:lnTo>
                  <a:pt x="1755648" y="357282"/>
                </a:lnTo>
                <a:lnTo>
                  <a:pt x="1828800" y="327410"/>
                </a:lnTo>
                <a:lnTo>
                  <a:pt x="1901952" y="296075"/>
                </a:lnTo>
                <a:lnTo>
                  <a:pt x="1975104" y="263785"/>
                </a:lnTo>
                <a:lnTo>
                  <a:pt x="2048256" y="231087"/>
                </a:lnTo>
                <a:lnTo>
                  <a:pt x="2121408" y="198558"/>
                </a:lnTo>
                <a:lnTo>
                  <a:pt x="2194560" y="166787"/>
                </a:lnTo>
                <a:lnTo>
                  <a:pt x="2267712" y="136359"/>
                </a:lnTo>
                <a:lnTo>
                  <a:pt x="2340864" y="107847"/>
                </a:lnTo>
                <a:lnTo>
                  <a:pt x="2414016" y="81788"/>
                </a:lnTo>
                <a:lnTo>
                  <a:pt x="2487168" y="58677"/>
                </a:lnTo>
                <a:lnTo>
                  <a:pt x="2560320" y="38950"/>
                </a:lnTo>
                <a:lnTo>
                  <a:pt x="2633472" y="22973"/>
                </a:lnTo>
                <a:lnTo>
                  <a:pt x="2706624" y="11036"/>
                </a:lnTo>
                <a:lnTo>
                  <a:pt x="2779776" y="3341"/>
                </a:lnTo>
                <a:lnTo>
                  <a:pt x="2852928" y="0"/>
                </a:lnTo>
                <a:lnTo>
                  <a:pt x="2926080" y="1034"/>
                </a:lnTo>
                <a:lnTo>
                  <a:pt x="2999232" y="6368"/>
                </a:lnTo>
                <a:lnTo>
                  <a:pt x="3072384" y="15836"/>
                </a:lnTo>
                <a:lnTo>
                  <a:pt x="3145536" y="29186"/>
                </a:lnTo>
                <a:lnTo>
                  <a:pt x="3218688" y="46089"/>
                </a:lnTo>
                <a:lnTo>
                  <a:pt x="3291840" y="66141"/>
                </a:lnTo>
                <a:lnTo>
                  <a:pt x="3364992" y="88883"/>
                </a:lnTo>
                <a:lnTo>
                  <a:pt x="3438144" y="113807"/>
                </a:lnTo>
                <a:lnTo>
                  <a:pt x="3511296" y="140372"/>
                </a:lnTo>
                <a:lnTo>
                  <a:pt x="3584448" y="168018"/>
                </a:lnTo>
                <a:lnTo>
                  <a:pt x="3657600" y="196181"/>
                </a:lnTo>
                <a:lnTo>
                  <a:pt x="3730752" y="224307"/>
                </a:lnTo>
                <a:lnTo>
                  <a:pt x="3803904" y="251869"/>
                </a:lnTo>
                <a:lnTo>
                  <a:pt x="3877056" y="278377"/>
                </a:lnTo>
                <a:lnTo>
                  <a:pt x="3950208" y="303391"/>
                </a:lnTo>
                <a:lnTo>
                  <a:pt x="4023360" y="326534"/>
                </a:lnTo>
                <a:lnTo>
                  <a:pt x="4096512" y="347500"/>
                </a:lnTo>
                <a:lnTo>
                  <a:pt x="4169664" y="366057"/>
                </a:lnTo>
                <a:lnTo>
                  <a:pt x="4242816" y="382060"/>
                </a:lnTo>
                <a:lnTo>
                  <a:pt x="4315968" y="395444"/>
                </a:lnTo>
                <a:lnTo>
                  <a:pt x="4389120" y="406229"/>
                </a:lnTo>
                <a:lnTo>
                  <a:pt x="4462272" y="414519"/>
                </a:lnTo>
                <a:lnTo>
                  <a:pt x="4535424" y="420490"/>
                </a:lnTo>
                <a:lnTo>
                  <a:pt x="4608576" y="424391"/>
                </a:lnTo>
                <a:lnTo>
                  <a:pt x="4681728" y="426528"/>
                </a:lnTo>
                <a:lnTo>
                  <a:pt x="4754880" y="427258"/>
                </a:lnTo>
                <a:lnTo>
                  <a:pt x="4828032" y="426976"/>
                </a:lnTo>
                <a:lnTo>
                  <a:pt x="4901184" y="426099"/>
                </a:lnTo>
                <a:lnTo>
                  <a:pt x="4974336" y="425054"/>
                </a:lnTo>
                <a:lnTo>
                  <a:pt x="5047488" y="424264"/>
                </a:lnTo>
                <a:lnTo>
                  <a:pt x="5120640" y="424136"/>
                </a:lnTo>
                <a:lnTo>
                  <a:pt x="5193792" y="425043"/>
                </a:lnTo>
                <a:lnTo>
                  <a:pt x="5266944" y="427313"/>
                </a:lnTo>
                <a:lnTo>
                  <a:pt x="5340096" y="431223"/>
                </a:lnTo>
                <a:lnTo>
                  <a:pt x="5413248" y="436982"/>
                </a:lnTo>
                <a:lnTo>
                  <a:pt x="5486400" y="444728"/>
                </a:lnTo>
                <a:lnTo>
                  <a:pt x="5559552" y="454521"/>
                </a:lnTo>
                <a:lnTo>
                  <a:pt x="5632704" y="466340"/>
                </a:lnTo>
                <a:lnTo>
                  <a:pt x="5705856" y="480084"/>
                </a:lnTo>
                <a:lnTo>
                  <a:pt x="5779008" y="495571"/>
                </a:lnTo>
                <a:lnTo>
                  <a:pt x="5852160" y="512543"/>
                </a:lnTo>
                <a:lnTo>
                  <a:pt x="5925312" y="530674"/>
                </a:lnTo>
                <a:lnTo>
                  <a:pt x="5998464" y="549575"/>
                </a:lnTo>
                <a:lnTo>
                  <a:pt x="6071616" y="568807"/>
                </a:lnTo>
                <a:lnTo>
                  <a:pt x="6144768" y="587894"/>
                </a:lnTo>
                <a:lnTo>
                  <a:pt x="6217920" y="606332"/>
                </a:lnTo>
                <a:lnTo>
                  <a:pt x="6291072" y="623605"/>
                </a:lnTo>
                <a:lnTo>
                  <a:pt x="6364224" y="639203"/>
                </a:lnTo>
                <a:lnTo>
                  <a:pt x="6437376" y="652629"/>
                </a:lnTo>
                <a:lnTo>
                  <a:pt x="6510528" y="663420"/>
                </a:lnTo>
                <a:lnTo>
                  <a:pt x="6583680" y="671158"/>
                </a:lnTo>
                <a:lnTo>
                  <a:pt x="6656832" y="675482"/>
                </a:lnTo>
                <a:lnTo>
                  <a:pt x="6729984" y="676099"/>
                </a:lnTo>
                <a:lnTo>
                  <a:pt x="6803136" y="672794"/>
                </a:lnTo>
                <a:lnTo>
                  <a:pt x="6876288" y="665436"/>
                </a:lnTo>
                <a:lnTo>
                  <a:pt x="6949440" y="653983"/>
                </a:lnTo>
                <a:lnTo>
                  <a:pt x="7022592" y="638487"/>
                </a:lnTo>
                <a:lnTo>
                  <a:pt x="7095744" y="619089"/>
                </a:lnTo>
                <a:lnTo>
                  <a:pt x="7168896" y="596020"/>
                </a:lnTo>
                <a:lnTo>
                  <a:pt x="7242048" y="569598"/>
                </a:lnTo>
                <a:lnTo>
                  <a:pt x="7315200" y="540214"/>
                </a:lnTo>
                <a:lnTo>
                  <a:pt x="7388352" y="508330"/>
                </a:lnTo>
                <a:lnTo>
                  <a:pt x="7461504" y="474464"/>
                </a:lnTo>
                <a:lnTo>
                  <a:pt x="7534656" y="439179"/>
                </a:lnTo>
                <a:lnTo>
                  <a:pt x="7607808" y="403068"/>
                </a:lnTo>
                <a:lnTo>
                  <a:pt x="7680960" y="366740"/>
                </a:lnTo>
                <a:lnTo>
                  <a:pt x="7754112" y="330803"/>
                </a:lnTo>
                <a:lnTo>
                  <a:pt x="7827264" y="295854"/>
                </a:lnTo>
                <a:lnTo>
                  <a:pt x="7900416" y="262460"/>
                </a:lnTo>
                <a:lnTo>
                  <a:pt x="7973568" y="23114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4160520" y="5882957"/>
            <a:ext cx="7973568" cy="667340"/>
          </a:xfrm>
          <a:custGeom>
            <a:avLst/>
            <a:gdLst/>
            <a:ahLst/>
            <a:cxnLst/>
            <a:rect l="l" t="t" r="r" b="b"/>
            <a:pathLst>
              <a:path w="7973568" h="667340">
                <a:moveTo>
                  <a:pt x="0" y="462002"/>
                </a:moveTo>
                <a:lnTo>
                  <a:pt x="73152" y="464021"/>
                </a:lnTo>
                <a:lnTo>
                  <a:pt x="146304" y="467818"/>
                </a:lnTo>
                <a:lnTo>
                  <a:pt x="219456" y="473257"/>
                </a:lnTo>
                <a:lnTo>
                  <a:pt x="292608" y="480125"/>
                </a:lnTo>
                <a:lnTo>
                  <a:pt x="365760" y="488141"/>
                </a:lnTo>
                <a:lnTo>
                  <a:pt x="438912" y="496963"/>
                </a:lnTo>
                <a:lnTo>
                  <a:pt x="512064" y="506201"/>
                </a:lnTo>
                <a:lnTo>
                  <a:pt x="585216" y="515425"/>
                </a:lnTo>
                <a:lnTo>
                  <a:pt x="658368" y="524182"/>
                </a:lnTo>
                <a:lnTo>
                  <a:pt x="731520" y="532005"/>
                </a:lnTo>
                <a:lnTo>
                  <a:pt x="804672" y="538432"/>
                </a:lnTo>
                <a:lnTo>
                  <a:pt x="877824" y="543016"/>
                </a:lnTo>
                <a:lnTo>
                  <a:pt x="950976" y="545343"/>
                </a:lnTo>
                <a:lnTo>
                  <a:pt x="1024128" y="545043"/>
                </a:lnTo>
                <a:lnTo>
                  <a:pt x="1097280" y="541801"/>
                </a:lnTo>
                <a:lnTo>
                  <a:pt x="1170432" y="535370"/>
                </a:lnTo>
                <a:lnTo>
                  <a:pt x="1243584" y="525577"/>
                </a:lnTo>
                <a:lnTo>
                  <a:pt x="1316736" y="512334"/>
                </a:lnTo>
                <a:lnTo>
                  <a:pt x="1389888" y="495636"/>
                </a:lnTo>
                <a:lnTo>
                  <a:pt x="1463040" y="475569"/>
                </a:lnTo>
                <a:lnTo>
                  <a:pt x="1536192" y="452306"/>
                </a:lnTo>
                <a:lnTo>
                  <a:pt x="1609344" y="426107"/>
                </a:lnTo>
                <a:lnTo>
                  <a:pt x="1682496" y="397310"/>
                </a:lnTo>
                <a:lnTo>
                  <a:pt x="1755648" y="366328"/>
                </a:lnTo>
                <a:lnTo>
                  <a:pt x="1828800" y="333634"/>
                </a:lnTo>
                <a:lnTo>
                  <a:pt x="1901952" y="299756"/>
                </a:lnTo>
                <a:lnTo>
                  <a:pt x="1975104" y="265258"/>
                </a:lnTo>
                <a:lnTo>
                  <a:pt x="2048256" y="230733"/>
                </a:lnTo>
                <a:lnTo>
                  <a:pt x="2121408" y="196780"/>
                </a:lnTo>
                <a:lnTo>
                  <a:pt x="2194560" y="163997"/>
                </a:lnTo>
                <a:lnTo>
                  <a:pt x="2267712" y="132960"/>
                </a:lnTo>
                <a:lnTo>
                  <a:pt x="2340864" y="104214"/>
                </a:lnTo>
                <a:lnTo>
                  <a:pt x="2414016" y="78252"/>
                </a:lnTo>
                <a:lnTo>
                  <a:pt x="2487168" y="55512"/>
                </a:lnTo>
                <a:lnTo>
                  <a:pt x="2560320" y="36357"/>
                </a:lnTo>
                <a:lnTo>
                  <a:pt x="2633472" y="21075"/>
                </a:lnTo>
                <a:lnTo>
                  <a:pt x="2706624" y="9864"/>
                </a:lnTo>
                <a:lnTo>
                  <a:pt x="2779776" y="2834"/>
                </a:lnTo>
                <a:lnTo>
                  <a:pt x="2852928" y="0"/>
                </a:lnTo>
                <a:lnTo>
                  <a:pt x="2926080" y="1287"/>
                </a:lnTo>
                <a:lnTo>
                  <a:pt x="2999232" y="6529"/>
                </a:lnTo>
                <a:lnTo>
                  <a:pt x="3072384" y="15479"/>
                </a:lnTo>
                <a:lnTo>
                  <a:pt x="3145536" y="27810"/>
                </a:lnTo>
                <a:lnTo>
                  <a:pt x="3218688" y="43131"/>
                </a:lnTo>
                <a:lnTo>
                  <a:pt x="3291840" y="60994"/>
                </a:lnTo>
                <a:lnTo>
                  <a:pt x="3364992" y="80909"/>
                </a:lnTo>
                <a:lnTo>
                  <a:pt x="3438144" y="102357"/>
                </a:lnTo>
                <a:lnTo>
                  <a:pt x="3511296" y="124803"/>
                </a:lnTo>
                <a:lnTo>
                  <a:pt x="3584448" y="147712"/>
                </a:lnTo>
                <a:lnTo>
                  <a:pt x="3657600" y="170566"/>
                </a:lnTo>
                <a:lnTo>
                  <a:pt x="3730752" y="192874"/>
                </a:lnTo>
                <a:lnTo>
                  <a:pt x="3803904" y="214185"/>
                </a:lnTo>
                <a:lnTo>
                  <a:pt x="3877056" y="234103"/>
                </a:lnTo>
                <a:lnTo>
                  <a:pt x="3950208" y="252296"/>
                </a:lnTo>
                <a:lnTo>
                  <a:pt x="4023360" y="268502"/>
                </a:lnTo>
                <a:lnTo>
                  <a:pt x="4096512" y="282538"/>
                </a:lnTo>
                <a:lnTo>
                  <a:pt x="4169664" y="294300"/>
                </a:lnTo>
                <a:lnTo>
                  <a:pt x="4242816" y="303770"/>
                </a:lnTo>
                <a:lnTo>
                  <a:pt x="4315968" y="311010"/>
                </a:lnTo>
                <a:lnTo>
                  <a:pt x="4389120" y="316160"/>
                </a:lnTo>
                <a:lnTo>
                  <a:pt x="4462272" y="319433"/>
                </a:lnTo>
                <a:lnTo>
                  <a:pt x="4535424" y="321106"/>
                </a:lnTo>
                <a:lnTo>
                  <a:pt x="4608576" y="321513"/>
                </a:lnTo>
                <a:lnTo>
                  <a:pt x="4681728" y="321028"/>
                </a:lnTo>
                <a:lnTo>
                  <a:pt x="4754880" y="320060"/>
                </a:lnTo>
                <a:lnTo>
                  <a:pt x="4828032" y="319032"/>
                </a:lnTo>
                <a:lnTo>
                  <a:pt x="4901184" y="318373"/>
                </a:lnTo>
                <a:lnTo>
                  <a:pt x="4974336" y="318500"/>
                </a:lnTo>
                <a:lnTo>
                  <a:pt x="5047488" y="319807"/>
                </a:lnTo>
                <a:lnTo>
                  <a:pt x="5120640" y="322647"/>
                </a:lnTo>
                <a:lnTo>
                  <a:pt x="5193792" y="327328"/>
                </a:lnTo>
                <a:lnTo>
                  <a:pt x="5266944" y="334095"/>
                </a:lnTo>
                <a:lnTo>
                  <a:pt x="5340096" y="343124"/>
                </a:lnTo>
                <a:lnTo>
                  <a:pt x="5413248" y="354516"/>
                </a:lnTo>
                <a:lnTo>
                  <a:pt x="5486400" y="368290"/>
                </a:lnTo>
                <a:lnTo>
                  <a:pt x="5559552" y="384384"/>
                </a:lnTo>
                <a:lnTo>
                  <a:pt x="5632704" y="402651"/>
                </a:lnTo>
                <a:lnTo>
                  <a:pt x="5705856" y="422865"/>
                </a:lnTo>
                <a:lnTo>
                  <a:pt x="5779008" y="444725"/>
                </a:lnTo>
                <a:lnTo>
                  <a:pt x="5852160" y="467861"/>
                </a:lnTo>
                <a:lnTo>
                  <a:pt x="5925312" y="491842"/>
                </a:lnTo>
                <a:lnTo>
                  <a:pt x="5998464" y="516192"/>
                </a:lnTo>
                <a:lnTo>
                  <a:pt x="6071616" y="540397"/>
                </a:lnTo>
                <a:lnTo>
                  <a:pt x="6144768" y="563921"/>
                </a:lnTo>
                <a:lnTo>
                  <a:pt x="6217920" y="586221"/>
                </a:lnTo>
                <a:lnTo>
                  <a:pt x="6291072" y="606760"/>
                </a:lnTo>
                <a:lnTo>
                  <a:pt x="6364224" y="625022"/>
                </a:lnTo>
                <a:lnTo>
                  <a:pt x="6437376" y="640528"/>
                </a:lnTo>
                <a:lnTo>
                  <a:pt x="6510528" y="652846"/>
                </a:lnTo>
                <a:lnTo>
                  <a:pt x="6583680" y="661606"/>
                </a:lnTo>
                <a:lnTo>
                  <a:pt x="6656832" y="666510"/>
                </a:lnTo>
                <a:lnTo>
                  <a:pt x="6729984" y="667340"/>
                </a:lnTo>
                <a:lnTo>
                  <a:pt x="6803136" y="663964"/>
                </a:lnTo>
                <a:lnTo>
                  <a:pt x="6876288" y="656342"/>
                </a:lnTo>
                <a:lnTo>
                  <a:pt x="6949440" y="644527"/>
                </a:lnTo>
                <a:lnTo>
                  <a:pt x="7022592" y="628663"/>
                </a:lnTo>
                <a:lnTo>
                  <a:pt x="7095744" y="608984"/>
                </a:lnTo>
                <a:lnTo>
                  <a:pt x="7168896" y="585808"/>
                </a:lnTo>
                <a:lnTo>
                  <a:pt x="7242048" y="559528"/>
                </a:lnTo>
                <a:lnTo>
                  <a:pt x="7315200" y="530604"/>
                </a:lnTo>
                <a:lnTo>
                  <a:pt x="7388352" y="499551"/>
                </a:lnTo>
                <a:lnTo>
                  <a:pt x="7461504" y="466925"/>
                </a:lnTo>
                <a:lnTo>
                  <a:pt x="7534656" y="433310"/>
                </a:lnTo>
                <a:lnTo>
                  <a:pt x="7607808" y="399302"/>
                </a:lnTo>
                <a:lnTo>
                  <a:pt x="7680960" y="365498"/>
                </a:lnTo>
                <a:lnTo>
                  <a:pt x="7754112" y="332475"/>
                </a:lnTo>
                <a:lnTo>
                  <a:pt x="7827264" y="300780"/>
                </a:lnTo>
                <a:lnTo>
                  <a:pt x="7900416" y="270917"/>
                </a:lnTo>
                <a:lnTo>
                  <a:pt x="7973568" y="24333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4160520" y="5893910"/>
            <a:ext cx="7973568" cy="626658"/>
          </a:xfrm>
          <a:custGeom>
            <a:avLst/>
            <a:gdLst/>
            <a:ahLst/>
            <a:cxnLst/>
            <a:rect l="l" t="t" r="r" b="b"/>
            <a:pathLst>
              <a:path w="7973568" h="626658">
                <a:moveTo>
                  <a:pt x="0" y="404359"/>
                </a:moveTo>
                <a:lnTo>
                  <a:pt x="73152" y="413944"/>
                </a:lnTo>
                <a:lnTo>
                  <a:pt x="146304" y="425177"/>
                </a:lnTo>
                <a:lnTo>
                  <a:pt x="219456" y="437796"/>
                </a:lnTo>
                <a:lnTo>
                  <a:pt x="292608" y="451472"/>
                </a:lnTo>
                <a:lnTo>
                  <a:pt x="365760" y="465820"/>
                </a:lnTo>
                <a:lnTo>
                  <a:pt x="438912" y="480408"/>
                </a:lnTo>
                <a:lnTo>
                  <a:pt x="512064" y="494769"/>
                </a:lnTo>
                <a:lnTo>
                  <a:pt x="585216" y="508418"/>
                </a:lnTo>
                <a:lnTo>
                  <a:pt x="658368" y="520862"/>
                </a:lnTo>
                <a:lnTo>
                  <a:pt x="731520" y="531614"/>
                </a:lnTo>
                <a:lnTo>
                  <a:pt x="804672" y="540214"/>
                </a:lnTo>
                <a:lnTo>
                  <a:pt x="877824" y="546233"/>
                </a:lnTo>
                <a:lnTo>
                  <a:pt x="950976" y="549295"/>
                </a:lnTo>
                <a:lnTo>
                  <a:pt x="1024128" y="549083"/>
                </a:lnTo>
                <a:lnTo>
                  <a:pt x="1097280" y="545351"/>
                </a:lnTo>
                <a:lnTo>
                  <a:pt x="1170432" y="537933"/>
                </a:lnTo>
                <a:lnTo>
                  <a:pt x="1243584" y="526747"/>
                </a:lnTo>
                <a:lnTo>
                  <a:pt x="1316736" y="511802"/>
                </a:lnTo>
                <a:lnTo>
                  <a:pt x="1389888" y="493195"/>
                </a:lnTo>
                <a:lnTo>
                  <a:pt x="1463040" y="471115"/>
                </a:lnTo>
                <a:lnTo>
                  <a:pt x="1536192" y="445834"/>
                </a:lnTo>
                <a:lnTo>
                  <a:pt x="1609344" y="417706"/>
                </a:lnTo>
                <a:lnTo>
                  <a:pt x="1682496" y="387156"/>
                </a:lnTo>
                <a:lnTo>
                  <a:pt x="1755648" y="354671"/>
                </a:lnTo>
                <a:lnTo>
                  <a:pt x="1828800" y="320787"/>
                </a:lnTo>
                <a:lnTo>
                  <a:pt x="1901952" y="286078"/>
                </a:lnTo>
                <a:lnTo>
                  <a:pt x="1975104" y="251141"/>
                </a:lnTo>
                <a:lnTo>
                  <a:pt x="2048256" y="216579"/>
                </a:lnTo>
                <a:lnTo>
                  <a:pt x="2121408" y="182990"/>
                </a:lnTo>
                <a:lnTo>
                  <a:pt x="2194560" y="150948"/>
                </a:lnTo>
                <a:lnTo>
                  <a:pt x="2267712" y="120991"/>
                </a:lnTo>
                <a:lnTo>
                  <a:pt x="2340864" y="93608"/>
                </a:lnTo>
                <a:lnTo>
                  <a:pt x="2414016" y="69227"/>
                </a:lnTo>
                <a:lnTo>
                  <a:pt x="2487168" y="48204"/>
                </a:lnTo>
                <a:lnTo>
                  <a:pt x="2560320" y="30812"/>
                </a:lnTo>
                <a:lnTo>
                  <a:pt x="2633472" y="17242"/>
                </a:lnTo>
                <a:lnTo>
                  <a:pt x="2706624" y="7593"/>
                </a:lnTo>
                <a:lnTo>
                  <a:pt x="2779776" y="1873"/>
                </a:lnTo>
                <a:lnTo>
                  <a:pt x="2852928" y="0"/>
                </a:lnTo>
                <a:lnTo>
                  <a:pt x="2926080" y="1804"/>
                </a:lnTo>
                <a:lnTo>
                  <a:pt x="2999232" y="7036"/>
                </a:lnTo>
                <a:lnTo>
                  <a:pt x="3072384" y="15375"/>
                </a:lnTo>
                <a:lnTo>
                  <a:pt x="3145536" y="26435"/>
                </a:lnTo>
                <a:lnTo>
                  <a:pt x="3218688" y="39781"/>
                </a:lnTo>
                <a:lnTo>
                  <a:pt x="3291840" y="54938"/>
                </a:lnTo>
                <a:lnTo>
                  <a:pt x="3364992" y="71409"/>
                </a:lnTo>
                <a:lnTo>
                  <a:pt x="3438144" y="88686"/>
                </a:lnTo>
                <a:lnTo>
                  <a:pt x="3511296" y="106265"/>
                </a:lnTo>
                <a:lnTo>
                  <a:pt x="3584448" y="123661"/>
                </a:lnTo>
                <a:lnTo>
                  <a:pt x="3657600" y="140424"/>
                </a:lnTo>
                <a:lnTo>
                  <a:pt x="3730752" y="156145"/>
                </a:lnTo>
                <a:lnTo>
                  <a:pt x="3803904" y="170474"/>
                </a:lnTo>
                <a:lnTo>
                  <a:pt x="3877056" y="183126"/>
                </a:lnTo>
                <a:lnTo>
                  <a:pt x="3950208" y="193889"/>
                </a:lnTo>
                <a:lnTo>
                  <a:pt x="4023360" y="202628"/>
                </a:lnTo>
                <a:lnTo>
                  <a:pt x="4096512" y="209292"/>
                </a:lnTo>
                <a:lnTo>
                  <a:pt x="4169664" y="213908"/>
                </a:lnTo>
                <a:lnTo>
                  <a:pt x="4242816" y="216584"/>
                </a:lnTo>
                <a:lnTo>
                  <a:pt x="4315968" y="217506"/>
                </a:lnTo>
                <a:lnTo>
                  <a:pt x="4389120" y="216924"/>
                </a:lnTo>
                <a:lnTo>
                  <a:pt x="4462272" y="215153"/>
                </a:lnTo>
                <a:lnTo>
                  <a:pt x="4535424" y="212555"/>
                </a:lnTo>
                <a:lnTo>
                  <a:pt x="4608576" y="209531"/>
                </a:lnTo>
                <a:lnTo>
                  <a:pt x="4681728" y="206507"/>
                </a:lnTo>
                <a:lnTo>
                  <a:pt x="4754880" y="203920"/>
                </a:lnTo>
                <a:lnTo>
                  <a:pt x="4828032" y="202206"/>
                </a:lnTo>
                <a:lnTo>
                  <a:pt x="4901184" y="201781"/>
                </a:lnTo>
                <a:lnTo>
                  <a:pt x="4974336" y="203034"/>
                </a:lnTo>
                <a:lnTo>
                  <a:pt x="5047488" y="206308"/>
                </a:lnTo>
                <a:lnTo>
                  <a:pt x="5120640" y="211892"/>
                </a:lnTo>
                <a:lnTo>
                  <a:pt x="5193792" y="220009"/>
                </a:lnTo>
                <a:lnTo>
                  <a:pt x="5266944" y="230810"/>
                </a:lnTo>
                <a:lnTo>
                  <a:pt x="5340096" y="244365"/>
                </a:lnTo>
                <a:lnTo>
                  <a:pt x="5413248" y="260660"/>
                </a:lnTo>
                <a:lnTo>
                  <a:pt x="5486400" y="279599"/>
                </a:lnTo>
                <a:lnTo>
                  <a:pt x="5559552" y="300997"/>
                </a:lnTo>
                <a:lnTo>
                  <a:pt x="5632704" y="324593"/>
                </a:lnTo>
                <a:lnTo>
                  <a:pt x="5705856" y="350048"/>
                </a:lnTo>
                <a:lnTo>
                  <a:pt x="5779008" y="376955"/>
                </a:lnTo>
                <a:lnTo>
                  <a:pt x="5852160" y="404852"/>
                </a:lnTo>
                <a:lnTo>
                  <a:pt x="5925312" y="433229"/>
                </a:lnTo>
                <a:lnTo>
                  <a:pt x="5998464" y="461543"/>
                </a:lnTo>
                <a:lnTo>
                  <a:pt x="6071616" y="489233"/>
                </a:lnTo>
                <a:lnTo>
                  <a:pt x="6144768" y="515731"/>
                </a:lnTo>
                <a:lnTo>
                  <a:pt x="6217920" y="540483"/>
                </a:lnTo>
                <a:lnTo>
                  <a:pt x="6291072" y="562957"/>
                </a:lnTo>
                <a:lnTo>
                  <a:pt x="6364224" y="582660"/>
                </a:lnTo>
                <a:lnTo>
                  <a:pt x="6437376" y="599152"/>
                </a:lnTo>
                <a:lnTo>
                  <a:pt x="6510528" y="612059"/>
                </a:lnTo>
                <a:lnTo>
                  <a:pt x="6583680" y="621077"/>
                </a:lnTo>
                <a:lnTo>
                  <a:pt x="6656832" y="625987"/>
                </a:lnTo>
                <a:lnTo>
                  <a:pt x="6729984" y="626658"/>
                </a:lnTo>
                <a:lnTo>
                  <a:pt x="6803136" y="623050"/>
                </a:lnTo>
                <a:lnTo>
                  <a:pt x="6876288" y="615216"/>
                </a:lnTo>
                <a:lnTo>
                  <a:pt x="6949440" y="603303"/>
                </a:lnTo>
                <a:lnTo>
                  <a:pt x="7022592" y="587544"/>
                </a:lnTo>
                <a:lnTo>
                  <a:pt x="7095744" y="568256"/>
                </a:lnTo>
                <a:lnTo>
                  <a:pt x="7168896" y="545827"/>
                </a:lnTo>
                <a:lnTo>
                  <a:pt x="7242048" y="520712"/>
                </a:lnTo>
                <a:lnTo>
                  <a:pt x="7315200" y="493415"/>
                </a:lnTo>
                <a:lnTo>
                  <a:pt x="7388352" y="464482"/>
                </a:lnTo>
                <a:lnTo>
                  <a:pt x="7461504" y="434480"/>
                </a:lnTo>
                <a:lnTo>
                  <a:pt x="7534656" y="403987"/>
                </a:lnTo>
                <a:lnTo>
                  <a:pt x="7607808" y="373578"/>
                </a:lnTo>
                <a:lnTo>
                  <a:pt x="7680960" y="343806"/>
                </a:lnTo>
                <a:lnTo>
                  <a:pt x="7754112" y="315190"/>
                </a:lnTo>
                <a:lnTo>
                  <a:pt x="7827264" y="288203"/>
                </a:lnTo>
                <a:lnTo>
                  <a:pt x="7900416" y="263260"/>
                </a:lnTo>
                <a:lnTo>
                  <a:pt x="7973568" y="24070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4160520" y="5916076"/>
            <a:ext cx="7973568" cy="557980"/>
          </a:xfrm>
          <a:custGeom>
            <a:avLst/>
            <a:gdLst/>
            <a:ahLst/>
            <a:cxnLst/>
            <a:rect l="l" t="t" r="r" b="b"/>
            <a:pathLst>
              <a:path w="7973568" h="557980">
                <a:moveTo>
                  <a:pt x="0" y="331054"/>
                </a:moveTo>
                <a:lnTo>
                  <a:pt x="73152" y="347408"/>
                </a:lnTo>
                <a:lnTo>
                  <a:pt x="146304" y="365194"/>
                </a:lnTo>
                <a:lnTo>
                  <a:pt x="219456" y="384040"/>
                </a:lnTo>
                <a:lnTo>
                  <a:pt x="292608" y="403521"/>
                </a:lnTo>
                <a:lnTo>
                  <a:pt x="365760" y="423165"/>
                </a:lnTo>
                <a:lnTo>
                  <a:pt x="438912" y="442474"/>
                </a:lnTo>
                <a:lnTo>
                  <a:pt x="512064" y="460930"/>
                </a:lnTo>
                <a:lnTo>
                  <a:pt x="585216" y="478015"/>
                </a:lnTo>
                <a:lnTo>
                  <a:pt x="658368" y="493223"/>
                </a:lnTo>
                <a:lnTo>
                  <a:pt x="731520" y="506074"/>
                </a:lnTo>
                <a:lnTo>
                  <a:pt x="804672" y="516130"/>
                </a:lnTo>
                <a:lnTo>
                  <a:pt x="877824" y="523006"/>
                </a:lnTo>
                <a:lnTo>
                  <a:pt x="950976" y="526380"/>
                </a:lnTo>
                <a:lnTo>
                  <a:pt x="1024128" y="526007"/>
                </a:lnTo>
                <a:lnTo>
                  <a:pt x="1097280" y="521724"/>
                </a:lnTo>
                <a:lnTo>
                  <a:pt x="1170432" y="513453"/>
                </a:lnTo>
                <a:lnTo>
                  <a:pt x="1243584" y="501209"/>
                </a:lnTo>
                <a:lnTo>
                  <a:pt x="1316736" y="485099"/>
                </a:lnTo>
                <a:lnTo>
                  <a:pt x="1389888" y="465319"/>
                </a:lnTo>
                <a:lnTo>
                  <a:pt x="1463040" y="442149"/>
                </a:lnTo>
                <a:lnTo>
                  <a:pt x="1536192" y="415952"/>
                </a:lnTo>
                <a:lnTo>
                  <a:pt x="1609344" y="387158"/>
                </a:lnTo>
                <a:lnTo>
                  <a:pt x="1682496" y="356258"/>
                </a:lnTo>
                <a:lnTo>
                  <a:pt x="1755648" y="323792"/>
                </a:lnTo>
                <a:lnTo>
                  <a:pt x="1828800" y="290331"/>
                </a:lnTo>
                <a:lnTo>
                  <a:pt x="1901952" y="256470"/>
                </a:lnTo>
                <a:lnTo>
                  <a:pt x="1975104" y="222807"/>
                </a:lnTo>
                <a:lnTo>
                  <a:pt x="2048256" y="189930"/>
                </a:lnTo>
                <a:lnTo>
                  <a:pt x="2121408" y="158401"/>
                </a:lnTo>
                <a:lnTo>
                  <a:pt x="2194560" y="128747"/>
                </a:lnTo>
                <a:lnTo>
                  <a:pt x="2267712" y="101440"/>
                </a:lnTo>
                <a:lnTo>
                  <a:pt x="2340864" y="76891"/>
                </a:lnTo>
                <a:lnTo>
                  <a:pt x="2414016" y="55437"/>
                </a:lnTo>
                <a:lnTo>
                  <a:pt x="2487168" y="37335"/>
                </a:lnTo>
                <a:lnTo>
                  <a:pt x="2560320" y="22757"/>
                </a:lnTo>
                <a:lnTo>
                  <a:pt x="2633472" y="11785"/>
                </a:lnTo>
                <a:lnTo>
                  <a:pt x="2706624" y="4412"/>
                </a:lnTo>
                <a:lnTo>
                  <a:pt x="2779776" y="543"/>
                </a:lnTo>
                <a:lnTo>
                  <a:pt x="2852928" y="0"/>
                </a:lnTo>
                <a:lnTo>
                  <a:pt x="2926080" y="2529"/>
                </a:lnTo>
                <a:lnTo>
                  <a:pt x="2999232" y="7806"/>
                </a:lnTo>
                <a:lnTo>
                  <a:pt x="3072384" y="15448"/>
                </a:lnTo>
                <a:lnTo>
                  <a:pt x="3145536" y="25030"/>
                </a:lnTo>
                <a:lnTo>
                  <a:pt x="3218688" y="36090"/>
                </a:lnTo>
                <a:lnTo>
                  <a:pt x="3291840" y="48150"/>
                </a:lnTo>
                <a:lnTo>
                  <a:pt x="3364992" y="60725"/>
                </a:lnTo>
                <a:lnTo>
                  <a:pt x="3438144" y="73343"/>
                </a:lnTo>
                <a:lnTo>
                  <a:pt x="3511296" y="85552"/>
                </a:lnTo>
                <a:lnTo>
                  <a:pt x="3584448" y="96940"/>
                </a:lnTo>
                <a:lnTo>
                  <a:pt x="3657600" y="107142"/>
                </a:lnTo>
                <a:lnTo>
                  <a:pt x="3730752" y="115853"/>
                </a:lnTo>
                <a:lnTo>
                  <a:pt x="3803904" y="122837"/>
                </a:lnTo>
                <a:lnTo>
                  <a:pt x="3877056" y="127932"/>
                </a:lnTo>
                <a:lnTo>
                  <a:pt x="3950208" y="131055"/>
                </a:lnTo>
                <a:lnTo>
                  <a:pt x="4023360" y="132204"/>
                </a:lnTo>
                <a:lnTo>
                  <a:pt x="4096512" y="131458"/>
                </a:lnTo>
                <a:lnTo>
                  <a:pt x="4169664" y="128974"/>
                </a:lnTo>
                <a:lnTo>
                  <a:pt x="4242816" y="124981"/>
                </a:lnTo>
                <a:lnTo>
                  <a:pt x="4315968" y="119775"/>
                </a:lnTo>
                <a:lnTo>
                  <a:pt x="4389120" y="113707"/>
                </a:lnTo>
                <a:lnTo>
                  <a:pt x="4462272" y="107174"/>
                </a:lnTo>
                <a:lnTo>
                  <a:pt x="4535424" y="100605"/>
                </a:lnTo>
                <a:lnTo>
                  <a:pt x="4608576" y="94450"/>
                </a:lnTo>
                <a:lnTo>
                  <a:pt x="4681728" y="89163"/>
                </a:lnTo>
                <a:lnTo>
                  <a:pt x="4754880" y="85192"/>
                </a:lnTo>
                <a:lnTo>
                  <a:pt x="4828032" y="82958"/>
                </a:lnTo>
                <a:lnTo>
                  <a:pt x="4901184" y="82849"/>
                </a:lnTo>
                <a:lnTo>
                  <a:pt x="4974336" y="85202"/>
                </a:lnTo>
                <a:lnTo>
                  <a:pt x="5047488" y="90297"/>
                </a:lnTo>
                <a:lnTo>
                  <a:pt x="5120640" y="98341"/>
                </a:lnTo>
                <a:lnTo>
                  <a:pt x="5193792" y="109464"/>
                </a:lnTo>
                <a:lnTo>
                  <a:pt x="5266944" y="123715"/>
                </a:lnTo>
                <a:lnTo>
                  <a:pt x="5340096" y="141054"/>
                </a:lnTo>
                <a:lnTo>
                  <a:pt x="5413248" y="161357"/>
                </a:lnTo>
                <a:lnTo>
                  <a:pt x="5486400" y="184412"/>
                </a:lnTo>
                <a:lnTo>
                  <a:pt x="5559552" y="209927"/>
                </a:lnTo>
                <a:lnTo>
                  <a:pt x="5632704" y="237535"/>
                </a:lnTo>
                <a:lnTo>
                  <a:pt x="5705856" y="266804"/>
                </a:lnTo>
                <a:lnTo>
                  <a:pt x="5779008" y="297242"/>
                </a:lnTo>
                <a:lnTo>
                  <a:pt x="5852160" y="328318"/>
                </a:lnTo>
                <a:lnTo>
                  <a:pt x="5925312" y="359467"/>
                </a:lnTo>
                <a:lnTo>
                  <a:pt x="5998464" y="390110"/>
                </a:lnTo>
                <a:lnTo>
                  <a:pt x="6071616" y="419663"/>
                </a:lnTo>
                <a:lnTo>
                  <a:pt x="6144768" y="447560"/>
                </a:lnTo>
                <a:lnTo>
                  <a:pt x="6217920" y="473260"/>
                </a:lnTo>
                <a:lnTo>
                  <a:pt x="6291072" y="496264"/>
                </a:lnTo>
                <a:lnTo>
                  <a:pt x="6364224" y="516130"/>
                </a:lnTo>
                <a:lnTo>
                  <a:pt x="6437376" y="532480"/>
                </a:lnTo>
                <a:lnTo>
                  <a:pt x="6510528" y="545012"/>
                </a:lnTo>
                <a:lnTo>
                  <a:pt x="6583680" y="553510"/>
                </a:lnTo>
                <a:lnTo>
                  <a:pt x="6656832" y="557845"/>
                </a:lnTo>
                <a:lnTo>
                  <a:pt x="6729984" y="557980"/>
                </a:lnTo>
                <a:lnTo>
                  <a:pt x="6803136" y="553971"/>
                </a:lnTo>
                <a:lnTo>
                  <a:pt x="6876288" y="545966"/>
                </a:lnTo>
                <a:lnTo>
                  <a:pt x="6949440" y="534197"/>
                </a:lnTo>
                <a:lnTo>
                  <a:pt x="7022592" y="518979"/>
                </a:lnTo>
                <a:lnTo>
                  <a:pt x="7095744" y="500695"/>
                </a:lnTo>
                <a:lnTo>
                  <a:pt x="7168896" y="479790"/>
                </a:lnTo>
                <a:lnTo>
                  <a:pt x="7242048" y="456757"/>
                </a:lnTo>
                <a:lnTo>
                  <a:pt x="7315200" y="432125"/>
                </a:lnTo>
                <a:lnTo>
                  <a:pt x="7388352" y="406442"/>
                </a:lnTo>
                <a:lnTo>
                  <a:pt x="7461504" y="380264"/>
                </a:lnTo>
                <a:lnTo>
                  <a:pt x="7534656" y="354136"/>
                </a:lnTo>
                <a:lnTo>
                  <a:pt x="7607808" y="328582"/>
                </a:lnTo>
                <a:lnTo>
                  <a:pt x="7680960" y="304088"/>
                </a:lnTo>
                <a:lnTo>
                  <a:pt x="7754112" y="281090"/>
                </a:lnTo>
                <a:lnTo>
                  <a:pt x="7827264" y="259967"/>
                </a:lnTo>
                <a:lnTo>
                  <a:pt x="7900416" y="241024"/>
                </a:lnTo>
                <a:lnTo>
                  <a:pt x="7973568" y="224493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4160520" y="5913548"/>
            <a:ext cx="7973568" cy="511881"/>
          </a:xfrm>
          <a:custGeom>
            <a:avLst/>
            <a:gdLst/>
            <a:ahLst/>
            <a:cxnLst/>
            <a:rect l="l" t="t" r="r" b="b"/>
            <a:pathLst>
              <a:path w="7973568" h="511881">
                <a:moveTo>
                  <a:pt x="0" y="279902"/>
                </a:moveTo>
                <a:lnTo>
                  <a:pt x="73152" y="301923"/>
                </a:lnTo>
                <a:lnTo>
                  <a:pt x="146304" y="325082"/>
                </a:lnTo>
                <a:lnTo>
                  <a:pt x="219456" y="348918"/>
                </a:lnTo>
                <a:lnTo>
                  <a:pt x="292608" y="372927"/>
                </a:lnTo>
                <a:lnTo>
                  <a:pt x="365760" y="396580"/>
                </a:lnTo>
                <a:lnTo>
                  <a:pt x="438912" y="419335"/>
                </a:lnTo>
                <a:lnTo>
                  <a:pt x="512064" y="440652"/>
                </a:lnTo>
                <a:lnTo>
                  <a:pt x="585216" y="460005"/>
                </a:lnTo>
                <a:lnTo>
                  <a:pt x="658368" y="476903"/>
                </a:lnTo>
                <a:lnTo>
                  <a:pt x="731520" y="490896"/>
                </a:lnTo>
                <a:lnTo>
                  <a:pt x="804672" y="501593"/>
                </a:lnTo>
                <a:lnTo>
                  <a:pt x="877824" y="508670"/>
                </a:lnTo>
                <a:lnTo>
                  <a:pt x="950976" y="511881"/>
                </a:lnTo>
                <a:lnTo>
                  <a:pt x="1024128" y="511063"/>
                </a:lnTo>
                <a:lnTo>
                  <a:pt x="1097280" y="506144"/>
                </a:lnTo>
                <a:lnTo>
                  <a:pt x="1170432" y="497144"/>
                </a:lnTo>
                <a:lnTo>
                  <a:pt x="1243584" y="484173"/>
                </a:lnTo>
                <a:lnTo>
                  <a:pt x="1316736" y="467432"/>
                </a:lnTo>
                <a:lnTo>
                  <a:pt x="1389888" y="447206"/>
                </a:lnTo>
                <a:lnTo>
                  <a:pt x="1463040" y="423860"/>
                </a:lnTo>
                <a:lnTo>
                  <a:pt x="1536192" y="397824"/>
                </a:lnTo>
                <a:lnTo>
                  <a:pt x="1609344" y="369589"/>
                </a:lnTo>
                <a:lnTo>
                  <a:pt x="1682496" y="339688"/>
                </a:lnTo>
                <a:lnTo>
                  <a:pt x="1755648" y="308687"/>
                </a:lnTo>
                <a:lnTo>
                  <a:pt x="1828800" y="277169"/>
                </a:lnTo>
                <a:lnTo>
                  <a:pt x="1901952" y="245717"/>
                </a:lnTo>
                <a:lnTo>
                  <a:pt x="1975104" y="214905"/>
                </a:lnTo>
                <a:lnTo>
                  <a:pt x="2048256" y="185275"/>
                </a:lnTo>
                <a:lnTo>
                  <a:pt x="2121408" y="157332"/>
                </a:lnTo>
                <a:lnTo>
                  <a:pt x="2194560" y="131523"/>
                </a:lnTo>
                <a:lnTo>
                  <a:pt x="2267712" y="108236"/>
                </a:lnTo>
                <a:lnTo>
                  <a:pt x="2340864" y="87780"/>
                </a:lnTo>
                <a:lnTo>
                  <a:pt x="2414016" y="70388"/>
                </a:lnTo>
                <a:lnTo>
                  <a:pt x="2487168" y="56206"/>
                </a:lnTo>
                <a:lnTo>
                  <a:pt x="2560320" y="45291"/>
                </a:lnTo>
                <a:lnTo>
                  <a:pt x="2633472" y="37615"/>
                </a:lnTo>
                <a:lnTo>
                  <a:pt x="2706624" y="33064"/>
                </a:lnTo>
                <a:lnTo>
                  <a:pt x="2779776" y="31445"/>
                </a:lnTo>
                <a:lnTo>
                  <a:pt x="2852928" y="32490"/>
                </a:lnTo>
                <a:lnTo>
                  <a:pt x="2926080" y="35869"/>
                </a:lnTo>
                <a:lnTo>
                  <a:pt x="2999232" y="41199"/>
                </a:lnTo>
                <a:lnTo>
                  <a:pt x="3072384" y="48057"/>
                </a:lnTo>
                <a:lnTo>
                  <a:pt x="3145536" y="55992"/>
                </a:lnTo>
                <a:lnTo>
                  <a:pt x="3218688" y="64539"/>
                </a:lnTo>
                <a:lnTo>
                  <a:pt x="3291840" y="73236"/>
                </a:lnTo>
                <a:lnTo>
                  <a:pt x="3364992" y="81636"/>
                </a:lnTo>
                <a:lnTo>
                  <a:pt x="3438144" y="89318"/>
                </a:lnTo>
                <a:lnTo>
                  <a:pt x="3511296" y="95907"/>
                </a:lnTo>
                <a:lnTo>
                  <a:pt x="3584448" y="101080"/>
                </a:lnTo>
                <a:lnTo>
                  <a:pt x="3657600" y="104574"/>
                </a:lnTo>
                <a:lnTo>
                  <a:pt x="3730752" y="106201"/>
                </a:lnTo>
                <a:lnTo>
                  <a:pt x="3803904" y="105846"/>
                </a:lnTo>
                <a:lnTo>
                  <a:pt x="3877056" y="103479"/>
                </a:lnTo>
                <a:lnTo>
                  <a:pt x="3950208" y="99146"/>
                </a:lnTo>
                <a:lnTo>
                  <a:pt x="4023360" y="92977"/>
                </a:lnTo>
                <a:lnTo>
                  <a:pt x="4096512" y="85177"/>
                </a:lnTo>
                <a:lnTo>
                  <a:pt x="4169664" y="76022"/>
                </a:lnTo>
                <a:lnTo>
                  <a:pt x="4242816" y="65850"/>
                </a:lnTo>
                <a:lnTo>
                  <a:pt x="4315968" y="55052"/>
                </a:lnTo>
                <a:lnTo>
                  <a:pt x="4389120" y="44060"/>
                </a:lnTo>
                <a:lnTo>
                  <a:pt x="4462272" y="33333"/>
                </a:lnTo>
                <a:lnTo>
                  <a:pt x="4535424" y="23347"/>
                </a:lnTo>
                <a:lnTo>
                  <a:pt x="4608576" y="14575"/>
                </a:lnTo>
                <a:lnTo>
                  <a:pt x="4681728" y="7479"/>
                </a:lnTo>
                <a:lnTo>
                  <a:pt x="4754880" y="2490"/>
                </a:lnTo>
                <a:lnTo>
                  <a:pt x="4828032" y="0"/>
                </a:lnTo>
                <a:lnTo>
                  <a:pt x="4901184" y="344"/>
                </a:lnTo>
                <a:lnTo>
                  <a:pt x="4974336" y="3795"/>
                </a:lnTo>
                <a:lnTo>
                  <a:pt x="5047488" y="10550"/>
                </a:lnTo>
                <a:lnTo>
                  <a:pt x="5120640" y="20728"/>
                </a:lnTo>
                <a:lnTo>
                  <a:pt x="5193792" y="34358"/>
                </a:lnTo>
                <a:lnTo>
                  <a:pt x="5266944" y="51383"/>
                </a:lnTo>
                <a:lnTo>
                  <a:pt x="5340096" y="71659"/>
                </a:lnTo>
                <a:lnTo>
                  <a:pt x="5413248" y="94953"/>
                </a:lnTo>
                <a:lnTo>
                  <a:pt x="5486400" y="120951"/>
                </a:lnTo>
                <a:lnTo>
                  <a:pt x="5559552" y="149266"/>
                </a:lnTo>
                <a:lnTo>
                  <a:pt x="5632704" y="179446"/>
                </a:lnTo>
                <a:lnTo>
                  <a:pt x="5705856" y="210984"/>
                </a:lnTo>
                <a:lnTo>
                  <a:pt x="5779008" y="243331"/>
                </a:lnTo>
                <a:lnTo>
                  <a:pt x="5852160" y="275910"/>
                </a:lnTo>
                <a:lnTo>
                  <a:pt x="5925312" y="308132"/>
                </a:lnTo>
                <a:lnTo>
                  <a:pt x="5998464" y="339407"/>
                </a:lnTo>
                <a:lnTo>
                  <a:pt x="6071616" y="369164"/>
                </a:lnTo>
                <a:lnTo>
                  <a:pt x="6144768" y="396860"/>
                </a:lnTo>
                <a:lnTo>
                  <a:pt x="6217920" y="421999"/>
                </a:lnTo>
                <a:lnTo>
                  <a:pt x="6291072" y="444140"/>
                </a:lnTo>
                <a:lnTo>
                  <a:pt x="6364224" y="462912"/>
                </a:lnTo>
                <a:lnTo>
                  <a:pt x="6437376" y="478021"/>
                </a:lnTo>
                <a:lnTo>
                  <a:pt x="6510528" y="489256"/>
                </a:lnTo>
                <a:lnTo>
                  <a:pt x="6583680" y="496496"/>
                </a:lnTo>
                <a:lnTo>
                  <a:pt x="6656832" y="499711"/>
                </a:lnTo>
                <a:lnTo>
                  <a:pt x="6729984" y="498964"/>
                </a:lnTo>
                <a:lnTo>
                  <a:pt x="6803136" y="494405"/>
                </a:lnTo>
                <a:lnTo>
                  <a:pt x="6876288" y="486269"/>
                </a:lnTo>
                <a:lnTo>
                  <a:pt x="6949440" y="474868"/>
                </a:lnTo>
                <a:lnTo>
                  <a:pt x="7022592" y="460581"/>
                </a:lnTo>
                <a:lnTo>
                  <a:pt x="7095744" y="443844"/>
                </a:lnTo>
                <a:lnTo>
                  <a:pt x="7168896" y="425138"/>
                </a:lnTo>
                <a:lnTo>
                  <a:pt x="7242048" y="404973"/>
                </a:lnTo>
                <a:lnTo>
                  <a:pt x="7315200" y="383876"/>
                </a:lnTo>
                <a:lnTo>
                  <a:pt x="7388352" y="362377"/>
                </a:lnTo>
                <a:lnTo>
                  <a:pt x="7461504" y="340992"/>
                </a:lnTo>
                <a:lnTo>
                  <a:pt x="7534656" y="320208"/>
                </a:lnTo>
                <a:lnTo>
                  <a:pt x="7607808" y="300477"/>
                </a:lnTo>
                <a:lnTo>
                  <a:pt x="7680960" y="282194"/>
                </a:lnTo>
                <a:lnTo>
                  <a:pt x="7754112" y="265694"/>
                </a:lnTo>
                <a:lnTo>
                  <a:pt x="7827264" y="251241"/>
                </a:lnTo>
                <a:lnTo>
                  <a:pt x="7900416" y="239021"/>
                </a:lnTo>
                <a:lnTo>
                  <a:pt x="7973568" y="22914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4160520" y="5841695"/>
            <a:ext cx="7973568" cy="550693"/>
          </a:xfrm>
          <a:custGeom>
            <a:avLst/>
            <a:gdLst/>
            <a:ahLst/>
            <a:cxnLst/>
            <a:rect l="l" t="t" r="r" b="b"/>
            <a:pathLst>
              <a:path w="7973568" h="550693">
                <a:moveTo>
                  <a:pt x="0" y="297458"/>
                </a:moveTo>
                <a:lnTo>
                  <a:pt x="73152" y="323810"/>
                </a:lnTo>
                <a:lnTo>
                  <a:pt x="146304" y="350938"/>
                </a:lnTo>
                <a:lnTo>
                  <a:pt x="219456" y="378313"/>
                </a:lnTo>
                <a:lnTo>
                  <a:pt x="292608" y="405382"/>
                </a:lnTo>
                <a:lnTo>
                  <a:pt x="365760" y="431582"/>
                </a:lnTo>
                <a:lnTo>
                  <a:pt x="438912" y="456357"/>
                </a:lnTo>
                <a:lnTo>
                  <a:pt x="512064" y="479170"/>
                </a:lnTo>
                <a:lnTo>
                  <a:pt x="585216" y="499518"/>
                </a:lnTo>
                <a:lnTo>
                  <a:pt x="658368" y="516948"/>
                </a:lnTo>
                <a:lnTo>
                  <a:pt x="731520" y="531063"/>
                </a:lnTo>
                <a:lnTo>
                  <a:pt x="804672" y="541542"/>
                </a:lnTo>
                <a:lnTo>
                  <a:pt x="877824" y="548138"/>
                </a:lnTo>
                <a:lnTo>
                  <a:pt x="950976" y="550693"/>
                </a:lnTo>
                <a:lnTo>
                  <a:pt x="1024128" y="549138"/>
                </a:lnTo>
                <a:lnTo>
                  <a:pt x="1097280" y="543498"/>
                </a:lnTo>
                <a:lnTo>
                  <a:pt x="1170432" y="533888"/>
                </a:lnTo>
                <a:lnTo>
                  <a:pt x="1243584" y="520511"/>
                </a:lnTo>
                <a:lnTo>
                  <a:pt x="1316736" y="503656"/>
                </a:lnTo>
                <a:lnTo>
                  <a:pt x="1389888" y="483684"/>
                </a:lnTo>
                <a:lnTo>
                  <a:pt x="1463040" y="461025"/>
                </a:lnTo>
                <a:lnTo>
                  <a:pt x="1536192" y="436163"/>
                </a:lnTo>
                <a:lnTo>
                  <a:pt x="1609344" y="409621"/>
                </a:lnTo>
                <a:lnTo>
                  <a:pt x="1682496" y="381954"/>
                </a:lnTo>
                <a:lnTo>
                  <a:pt x="1755648" y="353727"/>
                </a:lnTo>
                <a:lnTo>
                  <a:pt x="1828800" y="325506"/>
                </a:lnTo>
                <a:lnTo>
                  <a:pt x="1901952" y="297838"/>
                </a:lnTo>
                <a:lnTo>
                  <a:pt x="1975104" y="271242"/>
                </a:lnTo>
                <a:lnTo>
                  <a:pt x="2048256" y="246193"/>
                </a:lnTo>
                <a:lnTo>
                  <a:pt x="2121408" y="223109"/>
                </a:lnTo>
                <a:lnTo>
                  <a:pt x="2194560" y="202344"/>
                </a:lnTo>
                <a:lnTo>
                  <a:pt x="2267712" y="184175"/>
                </a:lnTo>
                <a:lnTo>
                  <a:pt x="2340864" y="168802"/>
                </a:lnTo>
                <a:lnTo>
                  <a:pt x="2414016" y="156338"/>
                </a:lnTo>
                <a:lnTo>
                  <a:pt x="2487168" y="146810"/>
                </a:lnTo>
                <a:lnTo>
                  <a:pt x="2560320" y="140161"/>
                </a:lnTo>
                <a:lnTo>
                  <a:pt x="2633472" y="136251"/>
                </a:lnTo>
                <a:lnTo>
                  <a:pt x="2706624" y="134865"/>
                </a:lnTo>
                <a:lnTo>
                  <a:pt x="2779776" y="135719"/>
                </a:lnTo>
                <a:lnTo>
                  <a:pt x="2852928" y="138469"/>
                </a:lnTo>
                <a:lnTo>
                  <a:pt x="2926080" y="142726"/>
                </a:lnTo>
                <a:lnTo>
                  <a:pt x="2999232" y="148063"/>
                </a:lnTo>
                <a:lnTo>
                  <a:pt x="3072384" y="154035"/>
                </a:lnTo>
                <a:lnTo>
                  <a:pt x="3145536" y="160187"/>
                </a:lnTo>
                <a:lnTo>
                  <a:pt x="3218688" y="166073"/>
                </a:lnTo>
                <a:lnTo>
                  <a:pt x="3291840" y="171267"/>
                </a:lnTo>
                <a:lnTo>
                  <a:pt x="3364992" y="175378"/>
                </a:lnTo>
                <a:lnTo>
                  <a:pt x="3438144" y="178060"/>
                </a:lnTo>
                <a:lnTo>
                  <a:pt x="3511296" y="179028"/>
                </a:lnTo>
                <a:lnTo>
                  <a:pt x="3584448" y="178060"/>
                </a:lnTo>
                <a:lnTo>
                  <a:pt x="3657600" y="175011"/>
                </a:lnTo>
                <a:lnTo>
                  <a:pt x="3730752" y="169813"/>
                </a:lnTo>
                <a:lnTo>
                  <a:pt x="3803904" y="162479"/>
                </a:lnTo>
                <a:lnTo>
                  <a:pt x="3877056" y="153107"/>
                </a:lnTo>
                <a:lnTo>
                  <a:pt x="3950208" y="141872"/>
                </a:lnTo>
                <a:lnTo>
                  <a:pt x="4023360" y="129026"/>
                </a:lnTo>
                <a:lnTo>
                  <a:pt x="4096512" y="114889"/>
                </a:lnTo>
                <a:lnTo>
                  <a:pt x="4169664" y="99839"/>
                </a:lnTo>
                <a:lnTo>
                  <a:pt x="4242816" y="84307"/>
                </a:lnTo>
                <a:lnTo>
                  <a:pt x="4315968" y="68758"/>
                </a:lnTo>
                <a:lnTo>
                  <a:pt x="4389120" y="53681"/>
                </a:lnTo>
                <a:lnTo>
                  <a:pt x="4462272" y="39577"/>
                </a:lnTo>
                <a:lnTo>
                  <a:pt x="4535424" y="26940"/>
                </a:lnTo>
                <a:lnTo>
                  <a:pt x="4608576" y="16245"/>
                </a:lnTo>
                <a:lnTo>
                  <a:pt x="4681728" y="7936"/>
                </a:lnTo>
                <a:lnTo>
                  <a:pt x="4754880" y="2408"/>
                </a:lnTo>
                <a:lnTo>
                  <a:pt x="4828032" y="0"/>
                </a:lnTo>
                <a:lnTo>
                  <a:pt x="4901184" y="980"/>
                </a:lnTo>
                <a:lnTo>
                  <a:pt x="4974336" y="5539"/>
                </a:lnTo>
                <a:lnTo>
                  <a:pt x="5047488" y="13786"/>
                </a:lnTo>
                <a:lnTo>
                  <a:pt x="5120640" y="25741"/>
                </a:lnTo>
                <a:lnTo>
                  <a:pt x="5193792" y="41331"/>
                </a:lnTo>
                <a:lnTo>
                  <a:pt x="5266944" y="60398"/>
                </a:lnTo>
                <a:lnTo>
                  <a:pt x="5340096" y="82696"/>
                </a:lnTo>
                <a:lnTo>
                  <a:pt x="5413248" y="107895"/>
                </a:lnTo>
                <a:lnTo>
                  <a:pt x="5486400" y="135597"/>
                </a:lnTo>
                <a:lnTo>
                  <a:pt x="5559552" y="165337"/>
                </a:lnTo>
                <a:lnTo>
                  <a:pt x="5632704" y="196597"/>
                </a:lnTo>
                <a:lnTo>
                  <a:pt x="5705856" y="228824"/>
                </a:lnTo>
                <a:lnTo>
                  <a:pt x="5779008" y="261435"/>
                </a:lnTo>
                <a:lnTo>
                  <a:pt x="5852160" y="293838"/>
                </a:lnTo>
                <a:lnTo>
                  <a:pt x="5925312" y="325447"/>
                </a:lnTo>
                <a:lnTo>
                  <a:pt x="5998464" y="355693"/>
                </a:lnTo>
                <a:lnTo>
                  <a:pt x="6071616" y="384042"/>
                </a:lnTo>
                <a:lnTo>
                  <a:pt x="6144768" y="410005"/>
                </a:lnTo>
                <a:lnTo>
                  <a:pt x="6217920" y="433154"/>
                </a:lnTo>
                <a:lnTo>
                  <a:pt x="6291072" y="453130"/>
                </a:lnTo>
                <a:lnTo>
                  <a:pt x="6364224" y="469651"/>
                </a:lnTo>
                <a:lnTo>
                  <a:pt x="6437376" y="482521"/>
                </a:lnTo>
                <a:lnTo>
                  <a:pt x="6510528" y="491632"/>
                </a:lnTo>
                <a:lnTo>
                  <a:pt x="6583680" y="496967"/>
                </a:lnTo>
                <a:lnTo>
                  <a:pt x="6656832" y="498599"/>
                </a:lnTo>
                <a:lnTo>
                  <a:pt x="6729984" y="496686"/>
                </a:lnTo>
                <a:lnTo>
                  <a:pt x="6803136" y="491468"/>
                </a:lnTo>
                <a:lnTo>
                  <a:pt x="6876288" y="483259"/>
                </a:lnTo>
                <a:lnTo>
                  <a:pt x="6949440" y="472435"/>
                </a:lnTo>
                <a:lnTo>
                  <a:pt x="7022592" y="459426"/>
                </a:lnTo>
                <a:lnTo>
                  <a:pt x="7095744" y="444699"/>
                </a:lnTo>
                <a:lnTo>
                  <a:pt x="7168896" y="428748"/>
                </a:lnTo>
                <a:lnTo>
                  <a:pt x="7242048" y="412081"/>
                </a:lnTo>
                <a:lnTo>
                  <a:pt x="7315200" y="395198"/>
                </a:lnTo>
                <a:lnTo>
                  <a:pt x="7388352" y="378586"/>
                </a:lnTo>
                <a:lnTo>
                  <a:pt x="7461504" y="362698"/>
                </a:lnTo>
                <a:lnTo>
                  <a:pt x="7534656" y="347945"/>
                </a:lnTo>
                <a:lnTo>
                  <a:pt x="7607808" y="334681"/>
                </a:lnTo>
                <a:lnTo>
                  <a:pt x="7680960" y="323197"/>
                </a:lnTo>
                <a:lnTo>
                  <a:pt x="7754112" y="313710"/>
                </a:lnTo>
                <a:lnTo>
                  <a:pt x="7827264" y="306359"/>
                </a:lnTo>
                <a:lnTo>
                  <a:pt x="7900416" y="301203"/>
                </a:lnTo>
                <a:lnTo>
                  <a:pt x="7973568" y="298217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4160520" y="5784670"/>
            <a:ext cx="7973568" cy="559754"/>
          </a:xfrm>
          <a:custGeom>
            <a:avLst/>
            <a:gdLst/>
            <a:ahLst/>
            <a:cxnLst/>
            <a:rect l="l" t="t" r="r" b="b"/>
            <a:pathLst>
              <a:path w="7973568" h="559754">
                <a:moveTo>
                  <a:pt x="0" y="301374"/>
                </a:moveTo>
                <a:lnTo>
                  <a:pt x="73152" y="330567"/>
                </a:lnTo>
                <a:lnTo>
                  <a:pt x="146304" y="360117"/>
                </a:lnTo>
                <a:lnTo>
                  <a:pt x="219456" y="389455"/>
                </a:lnTo>
                <a:lnTo>
                  <a:pt x="292608" y="418005"/>
                </a:lnTo>
                <a:lnTo>
                  <a:pt x="365760" y="445202"/>
                </a:lnTo>
                <a:lnTo>
                  <a:pt x="438912" y="470502"/>
                </a:lnTo>
                <a:lnTo>
                  <a:pt x="512064" y="493400"/>
                </a:lnTo>
                <a:lnTo>
                  <a:pt x="585216" y="513441"/>
                </a:lnTo>
                <a:lnTo>
                  <a:pt x="658368" y="530233"/>
                </a:lnTo>
                <a:lnTo>
                  <a:pt x="731520" y="543455"/>
                </a:lnTo>
                <a:lnTo>
                  <a:pt x="804672" y="552869"/>
                </a:lnTo>
                <a:lnTo>
                  <a:pt x="877824" y="558323"/>
                </a:lnTo>
                <a:lnTo>
                  <a:pt x="950976" y="559754"/>
                </a:lnTo>
                <a:lnTo>
                  <a:pt x="1024128" y="557193"/>
                </a:lnTo>
                <a:lnTo>
                  <a:pt x="1097280" y="550762"/>
                </a:lnTo>
                <a:lnTo>
                  <a:pt x="1170432" y="540668"/>
                </a:lnTo>
                <a:lnTo>
                  <a:pt x="1243584" y="527199"/>
                </a:lnTo>
                <a:lnTo>
                  <a:pt x="1316736" y="510718"/>
                </a:lnTo>
                <a:lnTo>
                  <a:pt x="1389888" y="491648"/>
                </a:lnTo>
                <a:lnTo>
                  <a:pt x="1463040" y="470466"/>
                </a:lnTo>
                <a:lnTo>
                  <a:pt x="1536192" y="447683"/>
                </a:lnTo>
                <a:lnTo>
                  <a:pt x="1609344" y="423838"/>
                </a:lnTo>
                <a:lnTo>
                  <a:pt x="1682496" y="399477"/>
                </a:lnTo>
                <a:lnTo>
                  <a:pt x="1755648" y="375140"/>
                </a:lnTo>
                <a:lnTo>
                  <a:pt x="1828800" y="351349"/>
                </a:lnTo>
                <a:lnTo>
                  <a:pt x="1901952" y="328591"/>
                </a:lnTo>
                <a:lnTo>
                  <a:pt x="1975104" y="307307"/>
                </a:lnTo>
                <a:lnTo>
                  <a:pt x="2048256" y="287880"/>
                </a:lnTo>
                <a:lnTo>
                  <a:pt x="2121408" y="270625"/>
                </a:lnTo>
                <a:lnTo>
                  <a:pt x="2194560" y="255783"/>
                </a:lnTo>
                <a:lnTo>
                  <a:pt x="2267712" y="243512"/>
                </a:lnTo>
                <a:lnTo>
                  <a:pt x="2340864" y="233889"/>
                </a:lnTo>
                <a:lnTo>
                  <a:pt x="2414016" y="226905"/>
                </a:lnTo>
                <a:lnTo>
                  <a:pt x="2487168" y="222467"/>
                </a:lnTo>
                <a:lnTo>
                  <a:pt x="2560320" y="220405"/>
                </a:lnTo>
                <a:lnTo>
                  <a:pt x="2633472" y="220476"/>
                </a:lnTo>
                <a:lnTo>
                  <a:pt x="2706624" y="222372"/>
                </a:lnTo>
                <a:lnTo>
                  <a:pt x="2779776" y="225732"/>
                </a:lnTo>
                <a:lnTo>
                  <a:pt x="2852928" y="230154"/>
                </a:lnTo>
                <a:lnTo>
                  <a:pt x="2926080" y="235205"/>
                </a:lnTo>
                <a:lnTo>
                  <a:pt x="2999232" y="240437"/>
                </a:lnTo>
                <a:lnTo>
                  <a:pt x="3072384" y="245402"/>
                </a:lnTo>
                <a:lnTo>
                  <a:pt x="3145536" y="249664"/>
                </a:lnTo>
                <a:lnTo>
                  <a:pt x="3218688" y="252813"/>
                </a:lnTo>
                <a:lnTo>
                  <a:pt x="3291840" y="254482"/>
                </a:lnTo>
                <a:lnTo>
                  <a:pt x="3364992" y="254352"/>
                </a:lnTo>
                <a:lnTo>
                  <a:pt x="3438144" y="252168"/>
                </a:lnTo>
                <a:lnTo>
                  <a:pt x="3511296" y="247745"/>
                </a:lnTo>
                <a:lnTo>
                  <a:pt x="3584448" y="240977"/>
                </a:lnTo>
                <a:lnTo>
                  <a:pt x="3657600" y="231835"/>
                </a:lnTo>
                <a:lnTo>
                  <a:pt x="3730752" y="220377"/>
                </a:lnTo>
                <a:lnTo>
                  <a:pt x="3803904" y="206742"/>
                </a:lnTo>
                <a:lnTo>
                  <a:pt x="3877056" y="191150"/>
                </a:lnTo>
                <a:lnTo>
                  <a:pt x="3950208" y="173892"/>
                </a:lnTo>
                <a:lnTo>
                  <a:pt x="4023360" y="155330"/>
                </a:lnTo>
                <a:lnTo>
                  <a:pt x="4096512" y="135881"/>
                </a:lnTo>
                <a:lnTo>
                  <a:pt x="4169664" y="116007"/>
                </a:lnTo>
                <a:lnTo>
                  <a:pt x="4242816" y="96207"/>
                </a:lnTo>
                <a:lnTo>
                  <a:pt x="4315968" y="76996"/>
                </a:lnTo>
                <a:lnTo>
                  <a:pt x="4389120" y="58898"/>
                </a:lnTo>
                <a:lnTo>
                  <a:pt x="4462272" y="42425"/>
                </a:lnTo>
                <a:lnTo>
                  <a:pt x="4535424" y="28067"/>
                </a:lnTo>
                <a:lnTo>
                  <a:pt x="4608576" y="16276"/>
                </a:lnTo>
                <a:lnTo>
                  <a:pt x="4681728" y="7453"/>
                </a:lnTo>
                <a:lnTo>
                  <a:pt x="4754880" y="1939"/>
                </a:lnTo>
                <a:lnTo>
                  <a:pt x="4828032" y="0"/>
                </a:lnTo>
                <a:lnTo>
                  <a:pt x="4901184" y="1824"/>
                </a:lnTo>
                <a:lnTo>
                  <a:pt x="4974336" y="7511"/>
                </a:lnTo>
                <a:lnTo>
                  <a:pt x="5047488" y="17072"/>
                </a:lnTo>
                <a:lnTo>
                  <a:pt x="5120640" y="30427"/>
                </a:lnTo>
                <a:lnTo>
                  <a:pt x="5193792" y="47406"/>
                </a:lnTo>
                <a:lnTo>
                  <a:pt x="5266944" y="67753"/>
                </a:lnTo>
                <a:lnTo>
                  <a:pt x="5340096" y="91132"/>
                </a:lnTo>
                <a:lnTo>
                  <a:pt x="5413248" y="117136"/>
                </a:lnTo>
                <a:lnTo>
                  <a:pt x="5486400" y="145294"/>
                </a:lnTo>
                <a:lnTo>
                  <a:pt x="5559552" y="175088"/>
                </a:lnTo>
                <a:lnTo>
                  <a:pt x="5632704" y="205962"/>
                </a:lnTo>
                <a:lnTo>
                  <a:pt x="5705856" y="237339"/>
                </a:lnTo>
                <a:lnTo>
                  <a:pt x="5779008" y="268632"/>
                </a:lnTo>
                <a:lnTo>
                  <a:pt x="5852160" y="299263"/>
                </a:lnTo>
                <a:lnTo>
                  <a:pt x="5925312" y="328676"/>
                </a:lnTo>
                <a:lnTo>
                  <a:pt x="5998464" y="356352"/>
                </a:lnTo>
                <a:lnTo>
                  <a:pt x="6071616" y="381818"/>
                </a:lnTo>
                <a:lnTo>
                  <a:pt x="6144768" y="404666"/>
                </a:lnTo>
                <a:lnTo>
                  <a:pt x="6217920" y="424556"/>
                </a:lnTo>
                <a:lnTo>
                  <a:pt x="6291072" y="441228"/>
                </a:lnTo>
                <a:lnTo>
                  <a:pt x="6364224" y="454505"/>
                </a:lnTo>
                <a:lnTo>
                  <a:pt x="6437376" y="464300"/>
                </a:lnTo>
                <a:lnTo>
                  <a:pt x="6510528" y="470613"/>
                </a:lnTo>
                <a:lnTo>
                  <a:pt x="6583680" y="473535"/>
                </a:lnTo>
                <a:lnTo>
                  <a:pt x="6656832" y="473236"/>
                </a:lnTo>
                <a:lnTo>
                  <a:pt x="6729984" y="469966"/>
                </a:lnTo>
                <a:lnTo>
                  <a:pt x="6803136" y="464045"/>
                </a:lnTo>
                <a:lnTo>
                  <a:pt x="6876288" y="455849"/>
                </a:lnTo>
                <a:lnTo>
                  <a:pt x="6949440" y="445806"/>
                </a:lnTo>
                <a:lnTo>
                  <a:pt x="7022592" y="434373"/>
                </a:lnTo>
                <a:lnTo>
                  <a:pt x="7095744" y="422031"/>
                </a:lnTo>
                <a:lnTo>
                  <a:pt x="7168896" y="409267"/>
                </a:lnTo>
                <a:lnTo>
                  <a:pt x="7242048" y="396557"/>
                </a:lnTo>
                <a:lnTo>
                  <a:pt x="7315200" y="384358"/>
                </a:lnTo>
                <a:lnTo>
                  <a:pt x="7388352" y="373089"/>
                </a:lnTo>
                <a:lnTo>
                  <a:pt x="7461504" y="363122"/>
                </a:lnTo>
                <a:lnTo>
                  <a:pt x="7534656" y="354771"/>
                </a:lnTo>
                <a:lnTo>
                  <a:pt x="7607808" y="348281"/>
                </a:lnTo>
                <a:lnTo>
                  <a:pt x="7680960" y="343823"/>
                </a:lnTo>
                <a:lnTo>
                  <a:pt x="7754112" y="341489"/>
                </a:lnTo>
                <a:lnTo>
                  <a:pt x="7827264" y="341288"/>
                </a:lnTo>
                <a:lnTo>
                  <a:pt x="7900416" y="343149"/>
                </a:lnTo>
                <a:lnTo>
                  <a:pt x="7973568" y="346921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160520" y="5742806"/>
            <a:ext cx="7973568" cy="540646"/>
          </a:xfrm>
          <a:custGeom>
            <a:avLst/>
            <a:gdLst/>
            <a:ahLst/>
            <a:cxnLst/>
            <a:rect l="l" t="t" r="r" b="b"/>
            <a:pathLst>
              <a:path w="7973568" h="540646">
                <a:moveTo>
                  <a:pt x="0" y="292886"/>
                </a:moveTo>
                <a:lnTo>
                  <a:pt x="73152" y="323354"/>
                </a:lnTo>
                <a:lnTo>
                  <a:pt x="146304" y="353722"/>
                </a:lnTo>
                <a:lnTo>
                  <a:pt x="219456" y="383408"/>
                </a:lnTo>
                <a:lnTo>
                  <a:pt x="292608" y="411844"/>
                </a:lnTo>
                <a:lnTo>
                  <a:pt x="365760" y="438488"/>
                </a:lnTo>
                <a:lnTo>
                  <a:pt x="438912" y="462838"/>
                </a:lnTo>
                <a:lnTo>
                  <a:pt x="512064" y="484446"/>
                </a:lnTo>
                <a:lnTo>
                  <a:pt x="585216" y="502927"/>
                </a:lnTo>
                <a:lnTo>
                  <a:pt x="658368" y="517972"/>
                </a:lnTo>
                <a:lnTo>
                  <a:pt x="731520" y="529352"/>
                </a:lnTo>
                <a:lnTo>
                  <a:pt x="804672" y="536927"/>
                </a:lnTo>
                <a:lnTo>
                  <a:pt x="877824" y="540646"/>
                </a:lnTo>
                <a:lnTo>
                  <a:pt x="950976" y="540549"/>
                </a:lnTo>
                <a:lnTo>
                  <a:pt x="1024128" y="536766"/>
                </a:lnTo>
                <a:lnTo>
                  <a:pt x="1097280" y="529510"/>
                </a:lnTo>
                <a:lnTo>
                  <a:pt x="1170432" y="519073"/>
                </a:lnTo>
                <a:lnTo>
                  <a:pt x="1243584" y="505818"/>
                </a:lnTo>
                <a:lnTo>
                  <a:pt x="1316736" y="490163"/>
                </a:lnTo>
                <a:lnTo>
                  <a:pt x="1389888" y="472577"/>
                </a:lnTo>
                <a:lnTo>
                  <a:pt x="1463040" y="453560"/>
                </a:lnTo>
                <a:lnTo>
                  <a:pt x="1536192" y="433631"/>
                </a:lnTo>
                <a:lnTo>
                  <a:pt x="1609344" y="413317"/>
                </a:lnTo>
                <a:lnTo>
                  <a:pt x="1682496" y="393131"/>
                </a:lnTo>
                <a:lnTo>
                  <a:pt x="1755648" y="373566"/>
                </a:lnTo>
                <a:lnTo>
                  <a:pt x="1828800" y="355074"/>
                </a:lnTo>
                <a:lnTo>
                  <a:pt x="1901952" y="338060"/>
                </a:lnTo>
                <a:lnTo>
                  <a:pt x="1975104" y="322868"/>
                </a:lnTo>
                <a:lnTo>
                  <a:pt x="2048256" y="309772"/>
                </a:lnTo>
                <a:lnTo>
                  <a:pt x="2121408" y="298970"/>
                </a:lnTo>
                <a:lnTo>
                  <a:pt x="2194560" y="290578"/>
                </a:lnTo>
                <a:lnTo>
                  <a:pt x="2267712" y="284630"/>
                </a:lnTo>
                <a:lnTo>
                  <a:pt x="2340864" y="281076"/>
                </a:lnTo>
                <a:lnTo>
                  <a:pt x="2414016" y="279786"/>
                </a:lnTo>
                <a:lnTo>
                  <a:pt x="2487168" y="280554"/>
                </a:lnTo>
                <a:lnTo>
                  <a:pt x="2560320" y="283104"/>
                </a:lnTo>
                <a:lnTo>
                  <a:pt x="2633472" y="287101"/>
                </a:lnTo>
                <a:lnTo>
                  <a:pt x="2706624" y="292163"/>
                </a:lnTo>
                <a:lnTo>
                  <a:pt x="2779776" y="297868"/>
                </a:lnTo>
                <a:lnTo>
                  <a:pt x="2852928" y="303772"/>
                </a:lnTo>
                <a:lnTo>
                  <a:pt x="2926080" y="309423"/>
                </a:lnTo>
                <a:lnTo>
                  <a:pt x="2999232" y="314371"/>
                </a:lnTo>
                <a:lnTo>
                  <a:pt x="3072384" y="318187"/>
                </a:lnTo>
                <a:lnTo>
                  <a:pt x="3145536" y="320473"/>
                </a:lnTo>
                <a:lnTo>
                  <a:pt x="3218688" y="320879"/>
                </a:lnTo>
                <a:lnTo>
                  <a:pt x="3291840" y="319107"/>
                </a:lnTo>
                <a:lnTo>
                  <a:pt x="3364992" y="314930"/>
                </a:lnTo>
                <a:lnTo>
                  <a:pt x="3438144" y="308192"/>
                </a:lnTo>
                <a:lnTo>
                  <a:pt x="3511296" y="298820"/>
                </a:lnTo>
                <a:lnTo>
                  <a:pt x="3584448" y="286821"/>
                </a:lnTo>
                <a:lnTo>
                  <a:pt x="3657600" y="272290"/>
                </a:lnTo>
                <a:lnTo>
                  <a:pt x="3730752" y="255402"/>
                </a:lnTo>
                <a:lnTo>
                  <a:pt x="3803904" y="236415"/>
                </a:lnTo>
                <a:lnTo>
                  <a:pt x="3877056" y="215657"/>
                </a:lnTo>
                <a:lnTo>
                  <a:pt x="3950208" y="193524"/>
                </a:lnTo>
                <a:lnTo>
                  <a:pt x="4023360" y="170464"/>
                </a:lnTo>
                <a:lnTo>
                  <a:pt x="4096512" y="146972"/>
                </a:lnTo>
                <a:lnTo>
                  <a:pt x="4169664" y="123570"/>
                </a:lnTo>
                <a:lnTo>
                  <a:pt x="4242816" y="100798"/>
                </a:lnTo>
                <a:lnTo>
                  <a:pt x="4315968" y="79196"/>
                </a:lnTo>
                <a:lnTo>
                  <a:pt x="4389120" y="59293"/>
                </a:lnTo>
                <a:lnTo>
                  <a:pt x="4462272" y="41589"/>
                </a:lnTo>
                <a:lnTo>
                  <a:pt x="4535424" y="26542"/>
                </a:lnTo>
                <a:lnTo>
                  <a:pt x="4608576" y="14559"/>
                </a:lnTo>
                <a:lnTo>
                  <a:pt x="4681728" y="5978"/>
                </a:lnTo>
                <a:lnTo>
                  <a:pt x="4754880" y="1064"/>
                </a:lnTo>
                <a:lnTo>
                  <a:pt x="4828032" y="0"/>
                </a:lnTo>
                <a:lnTo>
                  <a:pt x="4901184" y="2880"/>
                </a:lnTo>
                <a:lnTo>
                  <a:pt x="4974336" y="9707"/>
                </a:lnTo>
                <a:lnTo>
                  <a:pt x="5047488" y="20393"/>
                </a:lnTo>
                <a:lnTo>
                  <a:pt x="5120640" y="34762"/>
                </a:lnTo>
                <a:lnTo>
                  <a:pt x="5193792" y="52550"/>
                </a:lnTo>
                <a:lnTo>
                  <a:pt x="5266944" y="73417"/>
                </a:lnTo>
                <a:lnTo>
                  <a:pt x="5340096" y="96953"/>
                </a:lnTo>
                <a:lnTo>
                  <a:pt x="5413248" y="122687"/>
                </a:lnTo>
                <a:lnTo>
                  <a:pt x="5486400" y="150103"/>
                </a:lnTo>
                <a:lnTo>
                  <a:pt x="5559552" y="178652"/>
                </a:lnTo>
                <a:lnTo>
                  <a:pt x="5632704" y="207765"/>
                </a:lnTo>
                <a:lnTo>
                  <a:pt x="5705856" y="236868"/>
                </a:lnTo>
                <a:lnTo>
                  <a:pt x="5779008" y="265400"/>
                </a:lnTo>
                <a:lnTo>
                  <a:pt x="5852160" y="292824"/>
                </a:lnTo>
                <a:lnTo>
                  <a:pt x="5925312" y="318640"/>
                </a:lnTo>
                <a:lnTo>
                  <a:pt x="5998464" y="342402"/>
                </a:lnTo>
                <a:lnTo>
                  <a:pt x="6071616" y="363726"/>
                </a:lnTo>
                <a:lnTo>
                  <a:pt x="6144768" y="382299"/>
                </a:lnTo>
                <a:lnTo>
                  <a:pt x="6217920" y="397889"/>
                </a:lnTo>
                <a:lnTo>
                  <a:pt x="6291072" y="410346"/>
                </a:lnTo>
                <a:lnTo>
                  <a:pt x="6364224" y="419610"/>
                </a:lnTo>
                <a:lnTo>
                  <a:pt x="6437376" y="425706"/>
                </a:lnTo>
                <a:lnTo>
                  <a:pt x="6510528" y="428744"/>
                </a:lnTo>
                <a:lnTo>
                  <a:pt x="6583680" y="428916"/>
                </a:lnTo>
                <a:lnTo>
                  <a:pt x="6656832" y="426485"/>
                </a:lnTo>
                <a:lnTo>
                  <a:pt x="6729984" y="421783"/>
                </a:lnTo>
                <a:lnTo>
                  <a:pt x="6803136" y="415192"/>
                </a:lnTo>
                <a:lnTo>
                  <a:pt x="6876288" y="407138"/>
                </a:lnTo>
                <a:lnTo>
                  <a:pt x="6949440" y="398076"/>
                </a:lnTo>
                <a:lnTo>
                  <a:pt x="7022592" y="388475"/>
                </a:lnTo>
                <a:lnTo>
                  <a:pt x="7095744" y="378806"/>
                </a:lnTo>
                <a:lnTo>
                  <a:pt x="7168896" y="369524"/>
                </a:lnTo>
                <a:lnTo>
                  <a:pt x="7242048" y="361057"/>
                </a:lnTo>
                <a:lnTo>
                  <a:pt x="7315200" y="353795"/>
                </a:lnTo>
                <a:lnTo>
                  <a:pt x="7388352" y="348074"/>
                </a:lnTo>
                <a:lnTo>
                  <a:pt x="7461504" y="344166"/>
                </a:lnTo>
                <a:lnTo>
                  <a:pt x="7534656" y="342275"/>
                </a:lnTo>
                <a:lnTo>
                  <a:pt x="7607808" y="342527"/>
                </a:lnTo>
                <a:lnTo>
                  <a:pt x="7680960" y="344967"/>
                </a:lnTo>
                <a:lnTo>
                  <a:pt x="7754112" y="349559"/>
                </a:lnTo>
                <a:lnTo>
                  <a:pt x="7827264" y="356185"/>
                </a:lnTo>
                <a:lnTo>
                  <a:pt x="7900416" y="364648"/>
                </a:lnTo>
                <a:lnTo>
                  <a:pt x="7973568" y="37467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Freeform 1"/>
          <p:cNvSpPr/>
          <p:nvPr/>
        </p:nvSpPr>
        <p:spPr>
          <a:xfrm>
            <a:off x="4160520" y="5715400"/>
            <a:ext cx="7973568" cy="498115"/>
          </a:xfrm>
          <a:custGeom>
            <a:avLst/>
            <a:gdLst/>
            <a:ahLst/>
            <a:cxnLst/>
            <a:rect l="l" t="t" r="r" b="b"/>
            <a:pathLst>
              <a:path w="7973568" h="498115">
                <a:moveTo>
                  <a:pt x="0" y="273920"/>
                </a:moveTo>
                <a:lnTo>
                  <a:pt x="73152" y="304108"/>
                </a:lnTo>
                <a:lnTo>
                  <a:pt x="146304" y="333718"/>
                </a:lnTo>
                <a:lnTo>
                  <a:pt x="219456" y="362187"/>
                </a:lnTo>
                <a:lnTo>
                  <a:pt x="292608" y="388981"/>
                </a:lnTo>
                <a:lnTo>
                  <a:pt x="365760" y="413610"/>
                </a:lnTo>
                <a:lnTo>
                  <a:pt x="438912" y="435637"/>
                </a:lnTo>
                <a:lnTo>
                  <a:pt x="512064" y="454694"/>
                </a:lnTo>
                <a:lnTo>
                  <a:pt x="585216" y="470487"/>
                </a:lnTo>
                <a:lnTo>
                  <a:pt x="658368" y="482805"/>
                </a:lnTo>
                <a:lnTo>
                  <a:pt x="731520" y="491524"/>
                </a:lnTo>
                <a:lnTo>
                  <a:pt x="804672" y="496609"/>
                </a:lnTo>
                <a:lnTo>
                  <a:pt x="877824" y="498115"/>
                </a:lnTo>
                <a:lnTo>
                  <a:pt x="950976" y="496185"/>
                </a:lnTo>
                <a:lnTo>
                  <a:pt x="1024128" y="491041"/>
                </a:lnTo>
                <a:lnTo>
                  <a:pt x="1097280" y="482981"/>
                </a:lnTo>
                <a:lnTo>
                  <a:pt x="1170432" y="472370"/>
                </a:lnTo>
                <a:lnTo>
                  <a:pt x="1243584" y="459626"/>
                </a:lnTo>
                <a:lnTo>
                  <a:pt x="1316736" y="445210"/>
                </a:lnTo>
                <a:lnTo>
                  <a:pt x="1389888" y="429610"/>
                </a:lnTo>
                <a:lnTo>
                  <a:pt x="1463040" y="413331"/>
                </a:lnTo>
                <a:lnTo>
                  <a:pt x="1536192" y="396875"/>
                </a:lnTo>
                <a:lnTo>
                  <a:pt x="1609344" y="380732"/>
                </a:lnTo>
                <a:lnTo>
                  <a:pt x="1682496" y="365364"/>
                </a:lnTo>
                <a:lnTo>
                  <a:pt x="1755648" y="351188"/>
                </a:lnTo>
                <a:lnTo>
                  <a:pt x="1828800" y="338571"/>
                </a:lnTo>
                <a:lnTo>
                  <a:pt x="1901952" y="327817"/>
                </a:lnTo>
                <a:lnTo>
                  <a:pt x="1975104" y="319157"/>
                </a:lnTo>
                <a:lnTo>
                  <a:pt x="2048256" y="312744"/>
                </a:lnTo>
                <a:lnTo>
                  <a:pt x="2121408" y="308651"/>
                </a:lnTo>
                <a:lnTo>
                  <a:pt x="2194560" y="306867"/>
                </a:lnTo>
                <a:lnTo>
                  <a:pt x="2267712" y="307299"/>
                </a:lnTo>
                <a:lnTo>
                  <a:pt x="2340864" y="309777"/>
                </a:lnTo>
                <a:lnTo>
                  <a:pt x="2414016" y="314054"/>
                </a:lnTo>
                <a:lnTo>
                  <a:pt x="2487168" y="319822"/>
                </a:lnTo>
                <a:lnTo>
                  <a:pt x="2560320" y="326715"/>
                </a:lnTo>
                <a:lnTo>
                  <a:pt x="2633472" y="334324"/>
                </a:lnTo>
                <a:lnTo>
                  <a:pt x="2706624" y="342207"/>
                </a:lnTo>
                <a:lnTo>
                  <a:pt x="2779776" y="349905"/>
                </a:lnTo>
                <a:lnTo>
                  <a:pt x="2852928" y="356956"/>
                </a:lnTo>
                <a:lnTo>
                  <a:pt x="2926080" y="362908"/>
                </a:lnTo>
                <a:lnTo>
                  <a:pt x="2999232" y="367331"/>
                </a:lnTo>
                <a:lnTo>
                  <a:pt x="3072384" y="369837"/>
                </a:lnTo>
                <a:lnTo>
                  <a:pt x="3145536" y="370086"/>
                </a:lnTo>
                <a:lnTo>
                  <a:pt x="3218688" y="367799"/>
                </a:lnTo>
                <a:lnTo>
                  <a:pt x="3291840" y="362769"/>
                </a:lnTo>
                <a:lnTo>
                  <a:pt x="3364992" y="354866"/>
                </a:lnTo>
                <a:lnTo>
                  <a:pt x="3438144" y="344042"/>
                </a:lnTo>
                <a:lnTo>
                  <a:pt x="3511296" y="330336"/>
                </a:lnTo>
                <a:lnTo>
                  <a:pt x="3584448" y="313872"/>
                </a:lnTo>
                <a:lnTo>
                  <a:pt x="3657600" y="294858"/>
                </a:lnTo>
                <a:lnTo>
                  <a:pt x="3730752" y="273581"/>
                </a:lnTo>
                <a:lnTo>
                  <a:pt x="3803904" y="250400"/>
                </a:lnTo>
                <a:lnTo>
                  <a:pt x="3877056" y="225739"/>
                </a:lnTo>
                <a:lnTo>
                  <a:pt x="3950208" y="200073"/>
                </a:lnTo>
                <a:lnTo>
                  <a:pt x="4023360" y="173918"/>
                </a:lnTo>
                <a:lnTo>
                  <a:pt x="4096512" y="147819"/>
                </a:lnTo>
                <a:lnTo>
                  <a:pt x="4169664" y="122331"/>
                </a:lnTo>
                <a:lnTo>
                  <a:pt x="4242816" y="98008"/>
                </a:lnTo>
                <a:lnTo>
                  <a:pt x="4315968" y="75387"/>
                </a:lnTo>
                <a:lnTo>
                  <a:pt x="4389120" y="54976"/>
                </a:lnTo>
                <a:lnTo>
                  <a:pt x="4462272" y="37236"/>
                </a:lnTo>
                <a:lnTo>
                  <a:pt x="4535424" y="22570"/>
                </a:lnTo>
                <a:lnTo>
                  <a:pt x="4608576" y="11317"/>
                </a:lnTo>
                <a:lnTo>
                  <a:pt x="4681728" y="3735"/>
                </a:lnTo>
                <a:lnTo>
                  <a:pt x="4754880" y="0"/>
                </a:lnTo>
                <a:lnTo>
                  <a:pt x="4828032" y="197"/>
                </a:lnTo>
                <a:lnTo>
                  <a:pt x="4901184" y="4324"/>
                </a:lnTo>
                <a:lnTo>
                  <a:pt x="4974336" y="12284"/>
                </a:lnTo>
                <a:lnTo>
                  <a:pt x="5047488" y="23892"/>
                </a:lnTo>
                <a:lnTo>
                  <a:pt x="5120640" y="38883"/>
                </a:lnTo>
                <a:lnTo>
                  <a:pt x="5193792" y="56910"/>
                </a:lnTo>
                <a:lnTo>
                  <a:pt x="5266944" y="77565"/>
                </a:lnTo>
                <a:lnTo>
                  <a:pt x="5340096" y="100379"/>
                </a:lnTo>
                <a:lnTo>
                  <a:pt x="5413248" y="124844"/>
                </a:lnTo>
                <a:lnTo>
                  <a:pt x="5486400" y="150419"/>
                </a:lnTo>
                <a:lnTo>
                  <a:pt x="5559552" y="176548"/>
                </a:lnTo>
                <a:lnTo>
                  <a:pt x="5632704" y="202678"/>
                </a:lnTo>
                <a:lnTo>
                  <a:pt x="5705856" y="228266"/>
                </a:lnTo>
                <a:lnTo>
                  <a:pt x="5779008" y="252800"/>
                </a:lnTo>
                <a:lnTo>
                  <a:pt x="5852160" y="275807"/>
                </a:lnTo>
                <a:lnTo>
                  <a:pt x="5925312" y="296873"/>
                </a:lnTo>
                <a:lnTo>
                  <a:pt x="5998464" y="315643"/>
                </a:lnTo>
                <a:lnTo>
                  <a:pt x="6071616" y="331838"/>
                </a:lnTo>
                <a:lnTo>
                  <a:pt x="6144768" y="345259"/>
                </a:lnTo>
                <a:lnTo>
                  <a:pt x="6217920" y="355791"/>
                </a:lnTo>
                <a:lnTo>
                  <a:pt x="6291072" y="363402"/>
                </a:lnTo>
                <a:lnTo>
                  <a:pt x="6364224" y="368150"/>
                </a:lnTo>
                <a:lnTo>
                  <a:pt x="6437376" y="370171"/>
                </a:lnTo>
                <a:lnTo>
                  <a:pt x="6510528" y="369682"/>
                </a:lnTo>
                <a:lnTo>
                  <a:pt x="6583680" y="366968"/>
                </a:lnTo>
                <a:lnTo>
                  <a:pt x="6656832" y="362373"/>
                </a:lnTo>
                <a:lnTo>
                  <a:pt x="6729984" y="356292"/>
                </a:lnTo>
                <a:lnTo>
                  <a:pt x="6803136" y="349155"/>
                </a:lnTo>
                <a:lnTo>
                  <a:pt x="6876288" y="341417"/>
                </a:lnTo>
                <a:lnTo>
                  <a:pt x="6949440" y="333541"/>
                </a:lnTo>
                <a:lnTo>
                  <a:pt x="7022592" y="325984"/>
                </a:lnTo>
                <a:lnTo>
                  <a:pt x="7095744" y="319186"/>
                </a:lnTo>
                <a:lnTo>
                  <a:pt x="7168896" y="313552"/>
                </a:lnTo>
                <a:lnTo>
                  <a:pt x="7242048" y="309442"/>
                </a:lnTo>
                <a:lnTo>
                  <a:pt x="7315200" y="307160"/>
                </a:lnTo>
                <a:lnTo>
                  <a:pt x="7388352" y="306944"/>
                </a:lnTo>
                <a:lnTo>
                  <a:pt x="7461504" y="308956"/>
                </a:lnTo>
                <a:lnTo>
                  <a:pt x="7534656" y="313283"/>
                </a:lnTo>
                <a:lnTo>
                  <a:pt x="7607808" y="319926"/>
                </a:lnTo>
                <a:lnTo>
                  <a:pt x="7680960" y="328805"/>
                </a:lnTo>
                <a:lnTo>
                  <a:pt x="7754112" y="339757"/>
                </a:lnTo>
                <a:lnTo>
                  <a:pt x="7827264" y="352545"/>
                </a:lnTo>
                <a:lnTo>
                  <a:pt x="7900416" y="366858"/>
                </a:lnTo>
                <a:lnTo>
                  <a:pt x="7973568" y="38232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3EE0E8-0177-4FBE-9A1F-2E2A0F82AE93}"/>
              </a:ext>
            </a:extLst>
          </p:cNvPr>
          <p:cNvSpPr>
            <a:spLocks noGrp="1"/>
          </p:cNvSpPr>
          <p:nvPr/>
        </p:nvSpPr>
        <p:spPr>
          <a:xfrm>
            <a:off x="5989320" y="4370832"/>
            <a:ext cx="530352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Agricultural and Processed Food Products Export Development Authority (APEDA)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A6893-B026-4288-8FCE-62ACCD4E1400}"/>
              </a:ext>
            </a:extLst>
          </p:cNvPr>
          <p:cNvSpPr>
            <a:spLocks noGrp="1"/>
          </p:cNvSpPr>
          <p:nvPr/>
        </p:nvSpPr>
        <p:spPr>
          <a:xfrm>
            <a:off x="5715000" y="2011680"/>
            <a:ext cx="5852160" cy="1234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Bharat Krishi</a:t>
            </a:r>
          </a:p>
          <a:p>
            <a:pPr algn="ctr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Niryat Yojana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486676-31DE-4A71-806F-1F50D224E090}"/>
              </a:ext>
            </a:extLst>
          </p:cNvPr>
          <p:cNvSpPr>
            <a:spLocks noGrp="1"/>
          </p:cNvSpPr>
          <p:nvPr/>
        </p:nvSpPr>
        <p:spPr>
          <a:xfrm>
            <a:off x="5715000" y="3931920"/>
            <a:ext cx="5852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700" b="1" i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Financial Assistance Guidelines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6E2C60-4811-4315-B523-0E73176E5C1F}"/>
              </a:ext>
            </a:extLst>
          </p:cNvPr>
          <p:cNvSpPr>
            <a:spLocks noGrp="1"/>
          </p:cNvSpPr>
          <p:nvPr/>
        </p:nvSpPr>
        <p:spPr>
          <a:xfrm>
            <a:off x="5715000" y="3291840"/>
            <a:ext cx="585216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2026–27 to 2030–31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2BADDD-4C73-466A-A754-9346A8B496C8}"/>
              </a:ext>
            </a:extLst>
          </p:cNvPr>
          <p:cNvSpPr>
            <a:spLocks noGrp="1"/>
          </p:cNvSpPr>
          <p:nvPr/>
        </p:nvSpPr>
        <p:spPr>
          <a:xfrm>
            <a:off x="5715000" y="5029200"/>
            <a:ext cx="5852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Export infrastructure and support for registered exporters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9A278C6-2F95-45D2-8BFC-32C700F9B0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000" r="3000"/>
          <a:stretch>
            <a:fillRect/>
          </a:stretch>
        </p:blipFill>
        <p:spPr>
          <a:xfrm>
            <a:off x="685800" y="1234440"/>
            <a:ext cx="4572000" cy="4023360"/>
          </a:xfrm>
          <a:prstGeom prst="rect">
            <a:avLst/>
          </a:prstGeom>
          <a:effectLst>
            <a:outerShdw blurRad="190500" dist="63500" dir="2700000" algn="tl" rotWithShape="0">
              <a:srgbClr val="0B2418">
                <a:alpha val="35000"/>
              </a:srgbClr>
            </a:outerShdw>
          </a:effectLst>
        </p:spPr>
      </p:pic>
      <p:cxnSp>
        <p:nvCxnSpPr>
          <p:cNvPr id="27" name="Connector 26"/>
          <p:cNvCxnSpPr/>
          <p:nvPr/>
        </p:nvCxnSpPr>
        <p:spPr>
          <a:xfrm>
            <a:off x="8412480" y="411480"/>
            <a:ext cx="3383280" cy="0"/>
          </a:xfrm>
          <a:prstGeom prst="line">
            <a:avLst/>
          </a:prstGeom>
          <a:ln w="25400">
            <a:solidFill>
              <a:srgbClr val="E39B26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11795760" y="411480"/>
            <a:ext cx="0" cy="1828800"/>
          </a:xfrm>
          <a:prstGeom prst="line">
            <a:avLst/>
          </a:prstGeom>
          <a:ln w="25400">
            <a:solidFill>
              <a:srgbClr val="E39B26"/>
            </a:solidFill>
          </a:ln>
        </p:spPr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E858B46-39E0-4E90-AF27-69ABA0630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342632" y="914400"/>
            <a:ext cx="2600325" cy="873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007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574292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362956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151620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3128772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1" name="Connector 30"/>
          <p:cNvCxnSpPr/>
          <p:nvPr/>
        </p:nvCxnSpPr>
        <p:spPr>
          <a:xfrm>
            <a:off x="6917436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2" name="Connector 31"/>
          <p:cNvCxnSpPr/>
          <p:nvPr/>
        </p:nvCxnSpPr>
        <p:spPr>
          <a:xfrm>
            <a:off x="548640" y="4556269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3017520" y="5412346"/>
            <a:ext cx="41148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429000" y="5079427"/>
            <a:ext cx="0" cy="760957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3429000" y="5079427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3429000" y="5840385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EC2E5-3187-4519-97CE-C0CE3312AA7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Eligibility and support areas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36760-3C26-48D6-888E-7189427B638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390" r="83853" b="75390"/>
          <a:stretch/>
        </p:blipFill>
        <p:spPr>
          <a:xfrm>
            <a:off x="1802892" y="1722917"/>
            <a:ext cx="1005840" cy="10058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635A8A-C517-43A6-A774-42CD1A746309}"/>
              </a:ext>
            </a:extLst>
          </p:cNvPr>
          <p:cNvSpPr>
            <a:spLocks noGrp="1"/>
          </p:cNvSpPr>
          <p:nvPr/>
        </p:nvSpPr>
        <p:spPr>
          <a:xfrm>
            <a:off x="731520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Export infrastructure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31A380-F927-4BF8-8403-244A0D17D7FA}"/>
              </a:ext>
            </a:extLst>
          </p:cNvPr>
          <p:cNvSpPr>
            <a:spLocks noGrp="1"/>
          </p:cNvSpPr>
          <p:nvPr/>
        </p:nvSpPr>
        <p:spPr>
          <a:xfrm>
            <a:off x="822960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Packhouses, cold chain and facilities that close processing gaps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98674A-A337-4FEF-948A-5F533A1C29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390" r="33853" b="75390"/>
          <a:stretch/>
        </p:blipFill>
        <p:spPr>
          <a:xfrm>
            <a:off x="5591556" y="1722917"/>
            <a:ext cx="1005840" cy="100584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92B0F91-7AAF-404A-B876-78EA1554FF52}"/>
              </a:ext>
            </a:extLst>
          </p:cNvPr>
          <p:cNvSpPr>
            <a:spLocks noGrp="1"/>
          </p:cNvSpPr>
          <p:nvPr/>
        </p:nvSpPr>
        <p:spPr>
          <a:xfrm>
            <a:off x="4520184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development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57D108-FB28-4FEA-80AC-3D293D0C3364}"/>
              </a:ext>
            </a:extLst>
          </p:cNvPr>
          <p:cNvSpPr>
            <a:spLocks noGrp="1"/>
          </p:cNvSpPr>
          <p:nvPr/>
        </p:nvSpPr>
        <p:spPr>
          <a:xfrm>
            <a:off x="4611624" y="3762046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Certification, packaging, testing, laboratories and technology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36158F-EDB9-436C-8A92-A1F03FA578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25390" r="33853" b="50390"/>
          <a:stretch/>
        </p:blipFill>
        <p:spPr>
          <a:xfrm>
            <a:off x="9380220" y="1722917"/>
            <a:ext cx="1005840" cy="100584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6BDDD11-5581-4211-ACBE-C60D9FC7C81D}"/>
              </a:ext>
            </a:extLst>
          </p:cNvPr>
          <p:cNvSpPr>
            <a:spLocks noGrp="1"/>
          </p:cNvSpPr>
          <p:nvPr/>
        </p:nvSpPr>
        <p:spPr>
          <a:xfrm>
            <a:off x="8308848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Market development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A512CC-6DB7-4EC8-AB65-AE9A2FB754E8}"/>
              </a:ext>
            </a:extLst>
          </p:cNvPr>
          <p:cNvSpPr>
            <a:spLocks noGrp="1"/>
          </p:cNvSpPr>
          <p:nvPr/>
        </p:nvSpPr>
        <p:spPr>
          <a:xfrm>
            <a:off x="8400288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markets, overseas brands, retail access and GI promotion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E00165-AA6E-43FE-B4D7-EE8FEFB18666}"/>
              </a:ext>
            </a:extLst>
          </p:cNvPr>
          <p:cNvSpPr>
            <a:spLocks noGrp="1"/>
          </p:cNvSpPr>
          <p:nvPr/>
        </p:nvSpPr>
        <p:spPr>
          <a:xfrm>
            <a:off x="548640" y="5138026"/>
            <a:ext cx="2560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Who can apply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2743F7-2B07-452E-A711-FA6A5D30FEA7}"/>
              </a:ext>
            </a:extLst>
          </p:cNvPr>
          <p:cNvSpPr>
            <a:spLocks noGrp="1"/>
          </p:cNvSpPr>
          <p:nvPr/>
        </p:nvSpPr>
        <p:spPr>
          <a:xfrm>
            <a:off x="4114800" y="4896547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APEDA RCMC exporters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E3CD76-07C6-4E21-98F0-24B98C5544D7}"/>
              </a:ext>
            </a:extLst>
          </p:cNvPr>
          <p:cNvSpPr>
            <a:spLocks noGrp="1"/>
          </p:cNvSpPr>
          <p:nvPr/>
        </p:nvSpPr>
        <p:spPr>
          <a:xfrm>
            <a:off x="6949440" y="4786819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Manufacturers, producers and eligible merchant exporters, including FPOs / PACS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3D8C9E-E1B0-4C9E-AB11-BB30AE30877E}"/>
              </a:ext>
            </a:extLst>
          </p:cNvPr>
          <p:cNvSpPr>
            <a:spLocks noGrp="1"/>
          </p:cNvSpPr>
          <p:nvPr/>
        </p:nvSpPr>
        <p:spPr>
          <a:xfrm>
            <a:off x="4114800" y="5657505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Other eligible applicants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83C228-8EAF-43BC-9E1C-3799624D1D8F}"/>
              </a:ext>
            </a:extLst>
          </p:cNvPr>
          <p:cNvSpPr>
            <a:spLocks noGrp="1"/>
          </p:cNvSpPr>
          <p:nvPr/>
        </p:nvSpPr>
        <p:spPr>
          <a:xfrm>
            <a:off x="6949440" y="5547777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NPOP-certified organic operators, APEDA-listed labs and Central / State government institutions</a:t>
            </a:r>
          </a:p>
        </p:txBody>
      </p:sp>
      <p:sp>
        <p:nvSpPr>
          <p:cNvPr id="36" name="Oval 35"/>
          <p:cNvSpPr/>
          <p:nvPr/>
        </p:nvSpPr>
        <p:spPr>
          <a:xfrm>
            <a:off x="3758184" y="4997131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758184" y="5758089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6" name="Oval 4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02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8FC9BF-A0FA-3ECC-1E30-DCCFCDA56494}"/>
              </a:ext>
            </a:extLst>
          </p:cNvPr>
          <p:cNvCxnSpPr/>
          <p:nvPr/>
        </p:nvCxnSpPr>
        <p:spPr>
          <a:xfrm>
            <a:off x="1640967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332CB9-2365-FFB4-596C-A95DE91FC7CF}"/>
              </a:ext>
            </a:extLst>
          </p:cNvPr>
          <p:cNvCxnSpPr/>
          <p:nvPr/>
        </p:nvCxnSpPr>
        <p:spPr>
          <a:xfrm>
            <a:off x="5477256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84D8612-2ED6-88E4-6FD7-9D161E5A72A6}"/>
              </a:ext>
            </a:extLst>
          </p:cNvPr>
          <p:cNvCxnSpPr/>
          <p:nvPr/>
        </p:nvCxnSpPr>
        <p:spPr>
          <a:xfrm>
            <a:off x="9276207" y="3531497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8204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520440" y="2697480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212080" y="240030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5212080" y="326898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5212080" y="413766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6" name="Right Brace 35"/>
          <p:cNvSpPr/>
          <p:nvPr/>
        </p:nvSpPr>
        <p:spPr>
          <a:xfrm>
            <a:off x="9738360" y="1737360"/>
            <a:ext cx="292608" cy="3017520"/>
          </a:xfrm>
          <a:prstGeom prst="rightBrace">
            <a:avLst/>
          </a:prstGeom>
          <a:noFill/>
          <a:ln w="2222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DDE0E75-7FD9-4E28-AF26-633D273D1CAA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40% assistance for export infrastructure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77AD06A9-C26E-44DA-8BE5-04C6ECEEBD78}"/>
              </a:ext>
            </a:extLst>
          </p:cNvPr>
          <p:cNvGraphicFramePr/>
          <p:nvPr/>
        </p:nvGraphicFramePr>
        <p:xfrm>
          <a:off x="548640" y="1600200"/>
          <a:ext cx="265176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563AADA8-5F41-40CD-9E58-1D46D5002E0F}"/>
              </a:ext>
            </a:extLst>
          </p:cNvPr>
          <p:cNvSpPr>
            <a:spLocks noGrp="1"/>
          </p:cNvSpPr>
          <p:nvPr/>
        </p:nvSpPr>
        <p:spPr>
          <a:xfrm>
            <a:off x="960120" y="2633472"/>
            <a:ext cx="1828800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023D79-1285-4EF9-BB04-408D824AA9AA}"/>
              </a:ext>
            </a:extLst>
          </p:cNvPr>
          <p:cNvSpPr>
            <a:spLocks noGrp="1"/>
          </p:cNvSpPr>
          <p:nvPr/>
        </p:nvSpPr>
        <p:spPr>
          <a:xfrm>
            <a:off x="548640" y="4434840"/>
            <a:ext cx="26517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of eligible cost (maximum)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3DDAEE-3ADA-407D-95EB-DC34EAAAA9C5}"/>
              </a:ext>
            </a:extLst>
          </p:cNvPr>
          <p:cNvSpPr>
            <a:spLocks noGrp="1"/>
          </p:cNvSpPr>
          <p:nvPr/>
        </p:nvSpPr>
        <p:spPr>
          <a:xfrm>
            <a:off x="548640" y="4828032"/>
            <a:ext cx="265176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Balance financing</a:t>
            </a:r>
          </a:p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from own / bank funds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48781C-D9C3-4064-BD70-68131BBCBED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25390" r="520" b="50390"/>
          <a:stretch/>
        </p:blipFill>
        <p:spPr>
          <a:xfrm>
            <a:off x="3703320" y="2880360"/>
            <a:ext cx="731520" cy="731520"/>
          </a:xfrm>
          <a:prstGeom prst="rect">
            <a:avLst/>
          </a:prstGeom>
        </p:spPr>
      </p:pic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39BB97E-71DD-49F0-9200-EDEC939B1677}"/>
              </a:ext>
            </a:extLst>
          </p:cNvPr>
          <p:cNvSpPr>
            <a:spLocks noGrp="1"/>
          </p:cNvSpPr>
          <p:nvPr/>
        </p:nvSpPr>
        <p:spPr>
          <a:xfrm flipV="1">
            <a:off x="4626864" y="1965960"/>
            <a:ext cx="283464" cy="128016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0F6A701-90D8-4585-BF28-1E8B37E141B9}"/>
              </a:ext>
            </a:extLst>
          </p:cNvPr>
          <p:cNvSpPr>
            <a:spLocks noGrp="1"/>
          </p:cNvSpPr>
          <p:nvPr/>
        </p:nvSpPr>
        <p:spPr>
          <a:xfrm>
            <a:off x="4910328" y="189280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E1FB9A-457A-442A-8BBC-4981B58242BA}"/>
              </a:ext>
            </a:extLst>
          </p:cNvPr>
          <p:cNvSpPr>
            <a:spLocks noGrp="1"/>
          </p:cNvSpPr>
          <p:nvPr/>
        </p:nvSpPr>
        <p:spPr>
          <a:xfrm>
            <a:off x="5212080" y="169164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₹250 lakh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41BA38-5E68-42C1-8336-EBC4B2C3A267}"/>
              </a:ext>
            </a:extLst>
          </p:cNvPr>
          <p:cNvSpPr>
            <a:spLocks noGrp="1"/>
          </p:cNvSpPr>
          <p:nvPr/>
        </p:nvSpPr>
        <p:spPr>
          <a:xfrm>
            <a:off x="6675120" y="169164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integrated packhouse / facility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D4B731EF-EEDD-4497-9A81-2F6762126E2E}"/>
              </a:ext>
            </a:extLst>
          </p:cNvPr>
          <p:cNvSpPr>
            <a:spLocks noGrp="1"/>
          </p:cNvSpPr>
          <p:nvPr/>
        </p:nvSpPr>
        <p:spPr>
          <a:xfrm flipV="1">
            <a:off x="4626864" y="2834640"/>
            <a:ext cx="283464" cy="4114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BF157B8-C84E-4F7B-A496-74A670068288}"/>
              </a:ext>
            </a:extLst>
          </p:cNvPr>
          <p:cNvSpPr>
            <a:spLocks noGrp="1"/>
          </p:cNvSpPr>
          <p:nvPr/>
        </p:nvSpPr>
        <p:spPr>
          <a:xfrm>
            <a:off x="4910328" y="276148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076044-17EE-4841-8895-6DE803D55E31}"/>
              </a:ext>
            </a:extLst>
          </p:cNvPr>
          <p:cNvSpPr>
            <a:spLocks noGrp="1"/>
          </p:cNvSpPr>
          <p:nvPr/>
        </p:nvSpPr>
        <p:spPr>
          <a:xfrm>
            <a:off x="5212080" y="256032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98B015-293E-4BEB-A4A7-041D9E3B5110}"/>
              </a:ext>
            </a:extLst>
          </p:cNvPr>
          <p:cNvSpPr>
            <a:spLocks noGrp="1"/>
          </p:cNvSpPr>
          <p:nvPr/>
        </p:nvSpPr>
        <p:spPr>
          <a:xfrm>
            <a:off x="6675120" y="256032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Upgrade or expansion of 1(a)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EEA2718B-54A1-46E5-B02D-25A3FC29E068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45720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8A604D-21DE-4BC0-AD99-73E589FA8FF7}"/>
              </a:ext>
            </a:extLst>
          </p:cNvPr>
          <p:cNvSpPr>
            <a:spLocks noGrp="1"/>
          </p:cNvSpPr>
          <p:nvPr/>
        </p:nvSpPr>
        <p:spPr>
          <a:xfrm>
            <a:off x="4910328" y="363016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58214-D312-4E0D-A9DB-0831B2303CC6}"/>
              </a:ext>
            </a:extLst>
          </p:cNvPr>
          <p:cNvSpPr>
            <a:spLocks noGrp="1"/>
          </p:cNvSpPr>
          <p:nvPr/>
        </p:nvSpPr>
        <p:spPr>
          <a:xfrm>
            <a:off x="5212080" y="342900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B662D24-091B-40FF-9578-CC1043390451}"/>
              </a:ext>
            </a:extLst>
          </p:cNvPr>
          <p:cNvSpPr>
            <a:spLocks noGrp="1"/>
          </p:cNvSpPr>
          <p:nvPr/>
        </p:nvSpPr>
        <p:spPr>
          <a:xfrm>
            <a:off x="6675120" y="342900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Processing gaps in an existing line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DA3C9D45-54C0-40EA-A5A1-7C9E31D780E3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13258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92AD6C9-E5E4-4823-8631-B2DF325C562D}"/>
              </a:ext>
            </a:extLst>
          </p:cNvPr>
          <p:cNvSpPr>
            <a:spLocks noGrp="1"/>
          </p:cNvSpPr>
          <p:nvPr/>
        </p:nvSpPr>
        <p:spPr>
          <a:xfrm>
            <a:off x="4910328" y="449884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12CC4E9-98EA-4ED6-AF61-BC4D04A6FF35}"/>
              </a:ext>
            </a:extLst>
          </p:cNvPr>
          <p:cNvSpPr>
            <a:spLocks noGrp="1"/>
          </p:cNvSpPr>
          <p:nvPr/>
        </p:nvSpPr>
        <p:spPr>
          <a:xfrm>
            <a:off x="5212080" y="429768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111E23-0047-4EA9-9547-073AC198D12C}"/>
              </a:ext>
            </a:extLst>
          </p:cNvPr>
          <p:cNvSpPr>
            <a:spLocks noGrp="1"/>
          </p:cNvSpPr>
          <p:nvPr/>
        </p:nvSpPr>
        <p:spPr>
          <a:xfrm>
            <a:off x="6675120" y="429768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Reefer / insulated / mobile pre-cooling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4C0496-F58E-4EF1-BD57-FD69EE55A293}"/>
              </a:ext>
            </a:extLst>
          </p:cNvPr>
          <p:cNvSpPr>
            <a:spLocks noGrp="1"/>
          </p:cNvSpPr>
          <p:nvPr/>
        </p:nvSpPr>
        <p:spPr>
          <a:xfrm>
            <a:off x="10149840" y="2240280"/>
            <a:ext cx="1490472" cy="2011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₹300 lakh combined assistance limit for 1(a)–1(d) per beneficiary over the plan period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1725197-B0F1-49C9-9EEF-6F14BA1467D7}"/>
              </a:ext>
            </a:extLst>
          </p:cNvPr>
          <p:cNvSpPr>
            <a:spLocks noGrp="1"/>
          </p:cNvSpPr>
          <p:nvPr/>
        </p:nvSpPr>
        <p:spPr>
          <a:xfrm>
            <a:off x="548640" y="5897880"/>
            <a:ext cx="11091672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75% for eligible special categories / North-East, Ladakh, J&amp;K and islands. Public common facilities use a separate route.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0" name="Picture 3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03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2AC9EDF-0A01-7EA0-0FA5-96F36BDD2513}"/>
              </a:ext>
            </a:extLst>
          </p:cNvPr>
          <p:cNvCxnSpPr>
            <a:cxnSpLocks/>
          </p:cNvCxnSpPr>
          <p:nvPr/>
        </p:nvCxnSpPr>
        <p:spPr>
          <a:xfrm>
            <a:off x="1533525" y="4737735"/>
            <a:ext cx="770382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5937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Connector 35"/>
          <p:cNvCxnSpPr/>
          <p:nvPr/>
        </p:nvCxnSpPr>
        <p:spPr>
          <a:xfrm>
            <a:off x="4526280" y="150876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4526280" y="3017520"/>
            <a:ext cx="711403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4526280" y="438912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8412480" y="173736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8412480" y="324612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Rounded Rectangle 42"/>
          <p:cNvSpPr/>
          <p:nvPr/>
        </p:nvSpPr>
        <p:spPr>
          <a:xfrm>
            <a:off x="4526280" y="4617720"/>
            <a:ext cx="7114032" cy="1234440"/>
          </a:xfrm>
          <a:prstGeom prst="roundRect">
            <a:avLst>
              <a:gd name="adj" fmla="val 740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New packhouses and facility upgrades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9AA19E-39B1-42DE-B77A-9AD44CDD0F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018" b="5018"/>
          <a:stretch>
            <a:fillRect/>
          </a:stretch>
        </p:blipFill>
        <p:spPr>
          <a:xfrm>
            <a:off x="548640" y="1508760"/>
            <a:ext cx="3621024" cy="434340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73349CF-ED98-4864-8359-35DB0C72B75B}"/>
              </a:ext>
            </a:extLst>
          </p:cNvPr>
          <p:cNvSpPr>
            <a:spLocks noGrp="1"/>
          </p:cNvSpPr>
          <p:nvPr/>
        </p:nvSpPr>
        <p:spPr>
          <a:xfrm>
            <a:off x="5760720" y="178308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facility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38E031-4C9E-4658-B000-218E081DE2AA}"/>
              </a:ext>
            </a:extLst>
          </p:cNvPr>
          <p:cNvSpPr>
            <a:spLocks noGrp="1"/>
          </p:cNvSpPr>
          <p:nvPr/>
        </p:nvSpPr>
        <p:spPr>
          <a:xfrm>
            <a:off x="5760720" y="329184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Upgrade / expansion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552AA1-21A9-4C09-BEAF-CCE97CA175FD}"/>
              </a:ext>
            </a:extLst>
          </p:cNvPr>
          <p:cNvSpPr>
            <a:spLocks noGrp="1"/>
          </p:cNvSpPr>
          <p:nvPr/>
        </p:nvSpPr>
        <p:spPr>
          <a:xfrm>
            <a:off x="5760720" y="221284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₹250 lakh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9A4B0D-C2DA-45A2-9DDD-E3F1E285444F}"/>
              </a:ext>
            </a:extLst>
          </p:cNvPr>
          <p:cNvSpPr>
            <a:spLocks noGrp="1"/>
          </p:cNvSpPr>
          <p:nvPr/>
        </p:nvSpPr>
        <p:spPr>
          <a:xfrm>
            <a:off x="5760720" y="372160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EA988-DA98-4428-80B3-76D64ED62312}"/>
              </a:ext>
            </a:extLst>
          </p:cNvPr>
          <p:cNvSpPr>
            <a:spLocks noGrp="1"/>
          </p:cNvSpPr>
          <p:nvPr/>
        </p:nvSpPr>
        <p:spPr>
          <a:xfrm>
            <a:off x="8641080" y="1645920"/>
            <a:ext cx="2999232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Collection, washing, grading, pre-cooling, packing and cold storage. New projects only.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1DD3FE-044F-44BE-ADA0-52A9B4698330}"/>
              </a:ext>
            </a:extLst>
          </p:cNvPr>
          <p:cNvSpPr>
            <a:spLocks noGrp="1"/>
          </p:cNvSpPr>
          <p:nvPr/>
        </p:nvSpPr>
        <p:spPr>
          <a:xfrm>
            <a:off x="8641080" y="3154680"/>
            <a:ext cx="2999232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Machinery upgrades / automation of an existing facility under 1(a).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A43DB8-3214-4D36-A8A4-89F6E0AAF11F}"/>
              </a:ext>
            </a:extLst>
          </p:cNvPr>
          <p:cNvSpPr>
            <a:spLocks noGrp="1"/>
          </p:cNvSpPr>
          <p:nvPr/>
        </p:nvSpPr>
        <p:spPr>
          <a:xfrm>
            <a:off x="5806440" y="4818888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8A5300"/>
                </a:solidFill>
                <a:latin typeface="Arial"/>
                <a:ea typeface="Arial"/>
                <a:cs typeface="Arial"/>
              </a:rPr>
              <a:t>Technical civil work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F8EC93-FD70-4C94-B60D-0155DDF0D213}"/>
              </a:ext>
            </a:extLst>
          </p:cNvPr>
          <p:cNvSpPr>
            <a:spLocks noGrp="1"/>
          </p:cNvSpPr>
          <p:nvPr/>
        </p:nvSpPr>
        <p:spPr>
          <a:xfrm>
            <a:off x="5806440" y="5184648"/>
            <a:ext cx="5605272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Maximum 25% of eligible assistance. Land / lease and packhouse norms apply.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35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4572000" y="169164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486280-155C-4211-95A2-B332427654E0}"/>
              </a:ext>
            </a:extLst>
          </p:cNvPr>
          <p:cNvSpPr>
            <a:spLocks noGrp="1"/>
          </p:cNvSpPr>
          <p:nvPr/>
        </p:nvSpPr>
        <p:spPr>
          <a:xfrm>
            <a:off x="4572000" y="169164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1" name="Oval 40"/>
          <p:cNvSpPr/>
          <p:nvPr/>
        </p:nvSpPr>
        <p:spPr>
          <a:xfrm>
            <a:off x="4572000" y="320040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826FCC-D804-442A-AB47-D97CA788C5DE}"/>
              </a:ext>
            </a:extLst>
          </p:cNvPr>
          <p:cNvSpPr>
            <a:spLocks noGrp="1"/>
          </p:cNvSpPr>
          <p:nvPr/>
        </p:nvSpPr>
        <p:spPr>
          <a:xfrm>
            <a:off x="4572000" y="320040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4" name="Oval 43"/>
          <p:cNvSpPr/>
          <p:nvPr/>
        </p:nvSpPr>
        <p:spPr>
          <a:xfrm>
            <a:off x="4800600" y="4850892"/>
            <a:ext cx="768096" cy="7680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Pie 44"/>
          <p:cNvSpPr/>
          <p:nvPr/>
        </p:nvSpPr>
        <p:spPr>
          <a:xfrm>
            <a:off x="4800600" y="4850892"/>
            <a:ext cx="768096" cy="768096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Connector 42"/>
          <p:cNvCxnSpPr/>
          <p:nvPr/>
        </p:nvCxnSpPr>
        <p:spPr>
          <a:xfrm>
            <a:off x="3264408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6094476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8924544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470916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7EEB5CF8-D0E2-464D-A069-E1F43F8E32A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Support along the export supply chain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DC29CC-9019-467D-9E33-30C966C65C2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390" r="67187" b="75390"/>
          <a:stretch/>
        </p:blipFill>
        <p:spPr>
          <a:xfrm>
            <a:off x="843534" y="1463040"/>
            <a:ext cx="960120" cy="960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E6BFAC-80A9-4D6D-B306-B883EF910A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25390" r="83853" b="50390"/>
          <a:stretch/>
        </p:blipFill>
        <p:spPr>
          <a:xfrm>
            <a:off x="1922526" y="1508760"/>
            <a:ext cx="868680" cy="868680"/>
          </a:xfrm>
          <a:prstGeom prst="rect">
            <a:avLst/>
          </a:prstGeom>
        </p:spPr>
      </p:pic>
      <p:sp>
        <p:nvSpPr>
          <p:cNvPr id="7" name="Arrow: Chevron 6">
            <a:extLst>
              <a:ext uri="{FF2B5EF4-FFF2-40B4-BE49-F238E27FC236}">
                <a16:creationId xmlns:a16="http://schemas.microsoft.com/office/drawing/2014/main" id="{C8BA048D-39D8-4085-9AC9-FDF751BDC975}"/>
              </a:ext>
            </a:extLst>
          </p:cNvPr>
          <p:cNvSpPr>
            <a:spLocks noGrp="1"/>
          </p:cNvSpPr>
          <p:nvPr/>
        </p:nvSpPr>
        <p:spPr>
          <a:xfrm>
            <a:off x="548640" y="2651760"/>
            <a:ext cx="2784348" cy="566928"/>
          </a:xfrm>
          <a:prstGeom prst="chevron">
            <a:avLst/>
          </a:prstGeom>
          <a:solidFill>
            <a:srgbClr val="174F35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FF31E9-69AD-472D-BAFF-018F97222A4A}"/>
              </a:ext>
            </a:extLst>
          </p:cNvPr>
          <p:cNvSpPr>
            <a:spLocks noGrp="1"/>
          </p:cNvSpPr>
          <p:nvPr/>
        </p:nvSpPr>
        <p:spPr>
          <a:xfrm>
            <a:off x="868680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Packing and cold storage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1C4EED-2EE9-4A1D-ACA9-3669F526445D}"/>
              </a:ext>
            </a:extLst>
          </p:cNvPr>
          <p:cNvSpPr>
            <a:spLocks noGrp="1"/>
          </p:cNvSpPr>
          <p:nvPr/>
        </p:nvSpPr>
        <p:spPr>
          <a:xfrm>
            <a:off x="640080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Integrated handling and storage facilities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F8B536-A495-4332-BAAA-AD10004CAB3B}"/>
              </a:ext>
            </a:extLst>
          </p:cNvPr>
          <p:cNvSpPr>
            <a:spLocks noGrp="1"/>
          </p:cNvSpPr>
          <p:nvPr/>
        </p:nvSpPr>
        <p:spPr>
          <a:xfrm>
            <a:off x="640080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1FAD55-09D8-47BF-8114-66A55ADA4034}"/>
              </a:ext>
            </a:extLst>
          </p:cNvPr>
          <p:cNvSpPr>
            <a:spLocks noGrp="1"/>
          </p:cNvSpPr>
          <p:nvPr/>
        </p:nvSpPr>
        <p:spPr>
          <a:xfrm>
            <a:off x="640080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₹250 lakh new</a:t>
            </a:r>
          </a:p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₹200 lakh upgrade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2F9B5D-3B2A-4057-80F7-BE8763D37C5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149090" y="1371600"/>
            <a:ext cx="1051560" cy="1051560"/>
          </a:xfrm>
          <a:prstGeom prst="rect">
            <a:avLst/>
          </a:prstGeom>
        </p:spPr>
      </p:pic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664DA1BF-D654-4BCA-982B-71B1669B80CC}"/>
              </a:ext>
            </a:extLst>
          </p:cNvPr>
          <p:cNvSpPr>
            <a:spLocks noGrp="1"/>
          </p:cNvSpPr>
          <p:nvPr/>
        </p:nvSpPr>
        <p:spPr>
          <a:xfrm>
            <a:off x="3378708" y="2651760"/>
            <a:ext cx="2784348" cy="566928"/>
          </a:xfrm>
          <a:prstGeom prst="chevron">
            <a:avLst/>
          </a:prstGeom>
          <a:solidFill>
            <a:srgbClr val="2D8651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BB144A-8951-4BA6-99B7-E05661BE04B7}"/>
              </a:ext>
            </a:extLst>
          </p:cNvPr>
          <p:cNvSpPr>
            <a:spLocks noGrp="1"/>
          </p:cNvSpPr>
          <p:nvPr/>
        </p:nvSpPr>
        <p:spPr>
          <a:xfrm>
            <a:off x="3698748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Processing gaps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250B18-F9BD-4B42-ABE4-E7F3173A4469}"/>
              </a:ext>
            </a:extLst>
          </p:cNvPr>
          <p:cNvSpPr>
            <a:spLocks noGrp="1"/>
          </p:cNvSpPr>
          <p:nvPr/>
        </p:nvSpPr>
        <p:spPr>
          <a:xfrm>
            <a:off x="3470148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Sortex, IQF, X-ray and metal detection for quality / efficiency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89F9D5-9332-4538-A6A4-015C4E58ED50}"/>
              </a:ext>
            </a:extLst>
          </p:cNvPr>
          <p:cNvSpPr>
            <a:spLocks noGrp="1"/>
          </p:cNvSpPr>
          <p:nvPr/>
        </p:nvSpPr>
        <p:spPr>
          <a:xfrm>
            <a:off x="3470148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408B16-0972-4F5F-925B-8B5789D68F84}"/>
              </a:ext>
            </a:extLst>
          </p:cNvPr>
          <p:cNvSpPr>
            <a:spLocks noGrp="1"/>
          </p:cNvSpPr>
          <p:nvPr/>
        </p:nvSpPr>
        <p:spPr>
          <a:xfrm>
            <a:off x="3470148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63E3AEE-A2EB-4E33-8998-A2F4030D11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6979158" y="1371600"/>
            <a:ext cx="1051560" cy="1051560"/>
          </a:xfrm>
          <a:prstGeom prst="rect">
            <a:avLst/>
          </a:prstGeom>
        </p:spPr>
      </p:pic>
      <p:sp>
        <p:nvSpPr>
          <p:cNvPr id="21" name="Arrow: Chevron 20">
            <a:extLst>
              <a:ext uri="{FF2B5EF4-FFF2-40B4-BE49-F238E27FC236}">
                <a16:creationId xmlns:a16="http://schemas.microsoft.com/office/drawing/2014/main" id="{F82AE34C-C17D-4278-8795-202E3FDD6957}"/>
              </a:ext>
            </a:extLst>
          </p:cNvPr>
          <p:cNvSpPr>
            <a:spLocks noGrp="1"/>
          </p:cNvSpPr>
          <p:nvPr/>
        </p:nvSpPr>
        <p:spPr>
          <a:xfrm>
            <a:off x="6208776" y="2651760"/>
            <a:ext cx="2784348" cy="566928"/>
          </a:xfrm>
          <a:prstGeom prst="chevron">
            <a:avLst/>
          </a:prstGeom>
          <a:solidFill>
            <a:srgbClr val="6EB189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F0774A2-188A-4303-A6E7-17F50D90DEEF}"/>
              </a:ext>
            </a:extLst>
          </p:cNvPr>
          <p:cNvSpPr>
            <a:spLocks noGrp="1"/>
          </p:cNvSpPr>
          <p:nvPr/>
        </p:nvSpPr>
        <p:spPr>
          <a:xfrm>
            <a:off x="6528816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Reefer logistics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E22F845-3EEF-48D2-9189-767D4074CD0B}"/>
              </a:ext>
            </a:extLst>
          </p:cNvPr>
          <p:cNvSpPr>
            <a:spLocks noGrp="1"/>
          </p:cNvSpPr>
          <p:nvPr/>
        </p:nvSpPr>
        <p:spPr>
          <a:xfrm>
            <a:off x="6300216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Refrigerated / insulated transport and mobile pre-cooling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CE6DB1-FDE6-4BA0-87E9-B0EF525CB392}"/>
              </a:ext>
            </a:extLst>
          </p:cNvPr>
          <p:cNvSpPr>
            <a:spLocks noGrp="1"/>
          </p:cNvSpPr>
          <p:nvPr/>
        </p:nvSpPr>
        <p:spPr>
          <a:xfrm>
            <a:off x="6300216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69BB519-63FE-4068-AE6A-00C6029A6F66}"/>
              </a:ext>
            </a:extLst>
          </p:cNvPr>
          <p:cNvSpPr>
            <a:spLocks noGrp="1"/>
          </p:cNvSpPr>
          <p:nvPr/>
        </p:nvSpPr>
        <p:spPr>
          <a:xfrm>
            <a:off x="6300216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407D091-FAC0-4696-B793-D4A2D5C77E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390" r="17187" b="75390"/>
          <a:stretch/>
        </p:blipFill>
        <p:spPr>
          <a:xfrm>
            <a:off x="9809226" y="1371600"/>
            <a:ext cx="1051560" cy="1051560"/>
          </a:xfrm>
          <a:prstGeom prst="rect">
            <a:avLst/>
          </a:prstGeom>
        </p:spPr>
      </p:pic>
      <p:sp>
        <p:nvSpPr>
          <p:cNvPr id="28" name="Arrow: Chevron 27">
            <a:extLst>
              <a:ext uri="{FF2B5EF4-FFF2-40B4-BE49-F238E27FC236}">
                <a16:creationId xmlns:a16="http://schemas.microsoft.com/office/drawing/2014/main" id="{DC61F463-1FB2-40CD-9199-757D5FD8700D}"/>
              </a:ext>
            </a:extLst>
          </p:cNvPr>
          <p:cNvSpPr>
            <a:spLocks noGrp="1"/>
          </p:cNvSpPr>
          <p:nvPr/>
        </p:nvSpPr>
        <p:spPr>
          <a:xfrm>
            <a:off x="9038844" y="2651760"/>
            <a:ext cx="2784348" cy="566928"/>
          </a:xfrm>
          <a:prstGeom prst="chevron">
            <a:avLst/>
          </a:prstGeom>
          <a:solidFill>
            <a:srgbClr val="8CB79B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2C2FEB-AF17-401F-88AF-732525BF6CE5}"/>
              </a:ext>
            </a:extLst>
          </p:cNvPr>
          <p:cNvSpPr>
            <a:spLocks noGrp="1"/>
          </p:cNvSpPr>
          <p:nvPr/>
        </p:nvSpPr>
        <p:spPr>
          <a:xfrm>
            <a:off x="9358884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export shipment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2F0BB7-12C5-40DA-BF19-71938863E807}"/>
              </a:ext>
            </a:extLst>
          </p:cNvPr>
          <p:cNvSpPr>
            <a:spLocks noGrp="1"/>
          </p:cNvSpPr>
          <p:nvPr/>
        </p:nvSpPr>
        <p:spPr>
          <a:xfrm>
            <a:off x="9130284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market / product trials. Advisor and SOP required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0C8C76-0716-4FCB-8CB8-13BBF68BD0BC}"/>
              </a:ext>
            </a:extLst>
          </p:cNvPr>
          <p:cNvSpPr>
            <a:spLocks noGrp="1"/>
          </p:cNvSpPr>
          <p:nvPr/>
        </p:nvSpPr>
        <p:spPr>
          <a:xfrm>
            <a:off x="9130284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50% assistance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CB5169-C180-4C85-B34D-89F6ACED79AA}"/>
              </a:ext>
            </a:extLst>
          </p:cNvPr>
          <p:cNvSpPr>
            <a:spLocks noGrp="1"/>
          </p:cNvSpPr>
          <p:nvPr/>
        </p:nvSpPr>
        <p:spPr>
          <a:xfrm>
            <a:off x="9130284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₹10 lakh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135C2D-2D6A-4773-8CCD-4F8EDDD15735}"/>
              </a:ext>
            </a:extLst>
          </p:cNvPr>
          <p:cNvSpPr>
            <a:spLocks noGrp="1"/>
          </p:cNvSpPr>
          <p:nvPr/>
        </p:nvSpPr>
        <p:spPr>
          <a:xfrm>
            <a:off x="640080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1(a) / 1(b)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70148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949CA3-7BCB-4742-957C-9D08F7005A9E}"/>
              </a:ext>
            </a:extLst>
          </p:cNvPr>
          <p:cNvSpPr>
            <a:spLocks noGrp="1"/>
          </p:cNvSpPr>
          <p:nvPr/>
        </p:nvSpPr>
        <p:spPr>
          <a:xfrm>
            <a:off x="3470148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1(d)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00216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59DA51A-559D-41CA-9DCE-9F7E500858C4}"/>
              </a:ext>
            </a:extLst>
          </p:cNvPr>
          <p:cNvSpPr>
            <a:spLocks noGrp="1"/>
          </p:cNvSpPr>
          <p:nvPr/>
        </p:nvSpPr>
        <p:spPr>
          <a:xfrm>
            <a:off x="6300216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1(c)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284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96C77B9-42F5-46BE-B90E-FC1479764728}"/>
              </a:ext>
            </a:extLst>
          </p:cNvPr>
          <p:cNvSpPr>
            <a:spLocks noGrp="1"/>
          </p:cNvSpPr>
          <p:nvPr/>
        </p:nvSpPr>
        <p:spPr>
          <a:xfrm>
            <a:off x="9130284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15(b)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884867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Connector 20"/>
          <p:cNvCxnSpPr/>
          <p:nvPr/>
        </p:nvCxnSpPr>
        <p:spPr>
          <a:xfrm>
            <a:off x="6089904" y="1600200"/>
            <a:ext cx="0" cy="30175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2011680" y="2268855"/>
            <a:ext cx="137160" cy="0"/>
          </a:xfrm>
          <a:prstGeom prst="line">
            <a:avLst/>
          </a:prstGeom>
          <a:ln w="12700">
            <a:solidFill>
              <a:srgbClr val="E39B26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1810512" y="3297555"/>
            <a:ext cx="338328" cy="0"/>
          </a:xfrm>
          <a:prstGeom prst="line">
            <a:avLst/>
          </a:prstGeom>
          <a:ln w="1270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364224" y="4059936"/>
            <a:ext cx="1874520" cy="0"/>
          </a:xfrm>
          <a:prstGeom prst="line">
            <a:avLst/>
          </a:prstGeom>
          <a:ln w="38100">
            <a:solidFill>
              <a:srgbClr val="B9C8BD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8238744" y="4059936"/>
            <a:ext cx="3310128" cy="0"/>
          </a:xfrm>
          <a:prstGeom prst="line">
            <a:avLst/>
          </a:prstGeom>
          <a:ln w="38100">
            <a:solidFill>
              <a:srgbClr val="E39B26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548640" y="489204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548640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37304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6" name="Connector 45"/>
          <p:cNvCxnSpPr/>
          <p:nvPr/>
        </p:nvCxnSpPr>
        <p:spPr>
          <a:xfrm>
            <a:off x="4200144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7" name="Oval 46"/>
          <p:cNvSpPr/>
          <p:nvPr/>
        </p:nvSpPr>
        <p:spPr>
          <a:xfrm>
            <a:off x="8125968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9" name="Connector 48"/>
          <p:cNvCxnSpPr/>
          <p:nvPr/>
        </p:nvCxnSpPr>
        <p:spPr>
          <a:xfrm>
            <a:off x="7988808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B46D8B-626B-414D-99D6-F79F51C4B742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counts for the infrastructure grant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EA5C02-792A-40CD-91F6-9C5F2D38BD36}"/>
              </a:ext>
            </a:extLst>
          </p:cNvPr>
          <p:cNvSpPr>
            <a:spLocks noGrp="1"/>
          </p:cNvSpPr>
          <p:nvPr/>
        </p:nvSpPr>
        <p:spPr>
          <a:xfrm>
            <a:off x="548640" y="1463040"/>
            <a:ext cx="521208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Eligible investment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59E57B-485D-40EC-98C1-CE1902F78ADE}"/>
              </a:ext>
            </a:extLst>
          </p:cNvPr>
          <p:cNvSpPr>
            <a:spLocks noGrp="1"/>
          </p:cNvSpPr>
          <p:nvPr/>
        </p:nvSpPr>
        <p:spPr>
          <a:xfrm>
            <a:off x="2240280" y="3114675"/>
            <a:ext cx="35204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New plant and machinery</a:t>
            </a:r>
          </a:p>
        </p:txBody>
      </p:sp>
      <p:sp>
        <p:nvSpPr>
          <p:cNvPr id="25" name="Rectangle 5"/>
          <p:cNvSpPr>
            <a:spLocks noGrp="1"/>
          </p:cNvSpPr>
          <p:nvPr/>
        </p:nvSpPr>
        <p:spPr>
          <a:xfrm>
            <a:off x="2240280" y="1994535"/>
            <a:ext cx="35204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Technical civil work for the project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E279-C0C4-45FF-8BA9-8DEF2AE5BC0A}"/>
              </a:ext>
            </a:extLst>
          </p:cNvPr>
          <p:cNvSpPr>
            <a:spLocks noGrp="1"/>
          </p:cNvSpPr>
          <p:nvPr/>
        </p:nvSpPr>
        <p:spPr>
          <a:xfrm>
            <a:off x="685800" y="4251960"/>
            <a:ext cx="512064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civil assistance cannot exceed 25% of total eligible assistance. Submit a certified BOQ and equipment specifications.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4ABBC8-50C5-4DBC-A270-804A3AF44333}"/>
              </a:ext>
            </a:extLst>
          </p:cNvPr>
          <p:cNvSpPr>
            <a:spLocks noGrp="1"/>
          </p:cNvSpPr>
          <p:nvPr/>
        </p:nvSpPr>
        <p:spPr>
          <a:xfrm>
            <a:off x="6364224" y="1463040"/>
            <a:ext cx="5276088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Timing and procurement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D5EC13-A2B4-4D9A-A5E2-FE2E3F90CA52}"/>
              </a:ext>
            </a:extLst>
          </p:cNvPr>
          <p:cNvSpPr>
            <a:spLocks noGrp="1"/>
          </p:cNvSpPr>
          <p:nvPr/>
        </p:nvSpPr>
        <p:spPr>
          <a:xfrm>
            <a:off x="6364224" y="1920240"/>
            <a:ext cx="36576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lang="en-US" sz="18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Q</a:t>
            </a:r>
            <a:r>
              <a:rPr sz="18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uotations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6F6741-DB3F-4CFA-BCFF-7765037D0E37}"/>
              </a:ext>
            </a:extLst>
          </p:cNvPr>
          <p:cNvSpPr>
            <a:spLocks noGrp="1"/>
          </p:cNvSpPr>
          <p:nvPr/>
        </p:nvSpPr>
        <p:spPr>
          <a:xfrm>
            <a:off x="6364224" y="3044952"/>
            <a:ext cx="527608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Get 3 quotes from OEMs / authorised dealers; you may buy from any of them.</a:t>
            </a:r>
            <a:r>
              <a:rPr sz="1200" b="0" dirty="0" err="1">
                <a:solidFill>
                  <a:srgbClr val="5C6A60"/>
                </a:solidFill>
                <a:latin typeface="Arial"/>
                <a:ea typeface="Arial"/>
                <a:cs typeface="Arial"/>
              </a:rPr>
              <a:t/>
            </a:r>
            <a:r>
              <a:rPr sz="120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63" name="Quote exceptions"/>
          <p:cNvSpPr>
            <a:spLocks noGrp="1"/>
          </p:cNvSpPr>
          <p:nvPr/>
        </p:nvSpPr>
        <p:spPr>
          <a:xfrm>
            <a:off x="6364224" y="3310128"/>
            <a:ext cx="5276088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 dirty="0" i="1">
                <a:solidFill>
                  <a:srgbClr val="5C6A60"/>
                </a:solidFill>
                <a:latin typeface="Arial"/>
                <a:ea typeface="Arial"/>
                <a:cs typeface="Arial"/>
              </a:rPr>
              <a:t>Exceptions: sole manufacturer or imported equipment (declaration required).</a:t>
            </a:r>
            <a:r>
              <a:rPr sz="1050" b="0" dirty="0" err="1" i="1">
                <a:solidFill>
                  <a:srgbClr val="5C6A60"/>
                </a:solidFill>
                <a:latin typeface="Arial"/>
                <a:ea typeface="Arial"/>
                <a:cs typeface="Arial"/>
              </a:rPr>
              <a:t/>
            </a:r>
            <a:r>
              <a:rPr sz="1050" b="0" dirty="0" i="1">
                <a:solidFill>
                  <a:srgbClr val="5C6A60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35FFDD-3B24-4DD1-9A82-33F2D6917887}"/>
              </a:ext>
            </a:extLst>
          </p:cNvPr>
          <p:cNvSpPr>
            <a:spLocks noGrp="1"/>
          </p:cNvSpPr>
          <p:nvPr/>
        </p:nvSpPr>
        <p:spPr>
          <a:xfrm>
            <a:off x="6364224" y="4242816"/>
            <a:ext cx="173736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Costs before online filing are ineligible.</a:t>
            </a:r>
          </a:p>
        </p:txBody>
      </p:sp>
      <p:sp>
        <p:nvSpPr>
          <p:cNvPr id="38" name="Rectangle 10"/>
          <p:cNvSpPr>
            <a:spLocks noGrp="1"/>
          </p:cNvSpPr>
          <p:nvPr/>
        </p:nvSpPr>
        <p:spPr>
          <a:xfrm>
            <a:off x="8375904" y="4242816"/>
            <a:ext cx="317296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Filing-to-IPA expenditure needs APEDA’s acceptance.</a:t>
            </a:r>
          </a:p>
        </p:txBody>
      </p:sp>
      <p:sp>
        <p:nvSpPr>
          <p:cNvPr id="40" name="Rectangle 10"/>
          <p:cNvSpPr>
            <a:spLocks noGrp="1"/>
          </p:cNvSpPr>
          <p:nvPr/>
        </p:nvSpPr>
        <p:spPr>
          <a:xfrm>
            <a:off x="10725912" y="3675888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</a:t>
            </a:r>
          </a:p>
        </p:txBody>
      </p:sp>
      <p:sp>
        <p:nvSpPr>
          <p:cNvPr id="39" name="Rectangle 10"/>
          <p:cNvSpPr>
            <a:spLocks noGrp="1"/>
          </p:cNvSpPr>
          <p:nvPr/>
        </p:nvSpPr>
        <p:spPr>
          <a:xfrm>
            <a:off x="7415784" y="3675888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4D1911-B0DF-4221-ACF2-D047CADB231A}"/>
              </a:ext>
            </a:extLst>
          </p:cNvPr>
          <p:cNvSpPr>
            <a:spLocks noGrp="1"/>
          </p:cNvSpPr>
          <p:nvPr/>
        </p:nvSpPr>
        <p:spPr>
          <a:xfrm>
            <a:off x="1600200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15-year registered lease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or eligible land title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2A282A-38B5-425F-99E9-6BDC86C058E2}"/>
              </a:ext>
            </a:extLst>
          </p:cNvPr>
          <p:cNvSpPr>
            <a:spLocks noGrp="1"/>
          </p:cNvSpPr>
          <p:nvPr/>
        </p:nvSpPr>
        <p:spPr>
          <a:xfrm>
            <a:off x="5388864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Existing line + FSMS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for processing gaps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6D22F0-3208-428A-B5DB-60B32514C4A4}"/>
              </a:ext>
            </a:extLst>
          </p:cNvPr>
          <p:cNvSpPr>
            <a:spLocks noGrp="1"/>
          </p:cNvSpPr>
          <p:nvPr/>
        </p:nvSpPr>
        <p:spPr>
          <a:xfrm>
            <a:off x="9177528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Vehicles per plan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2 merchant / 5 manufacturer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2011680"/>
            <a:ext cx="1051560" cy="486918"/>
          </a:xfrm>
          <a:prstGeom prst="roundRect">
            <a:avLst>
              <a:gd name="adj" fmla="val 9389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85800" y="2526030"/>
            <a:ext cx="1051560" cy="1543050"/>
          </a:xfrm>
          <a:prstGeom prst="roundRect">
            <a:avLst>
              <a:gd name="adj" fmla="val 4347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ight Brace 23"/>
          <p:cNvSpPr/>
          <p:nvPr/>
        </p:nvSpPr>
        <p:spPr>
          <a:xfrm>
            <a:off x="1810512" y="2011680"/>
            <a:ext cx="146304" cy="486918"/>
          </a:xfrm>
          <a:prstGeom prst="rightBrace">
            <a:avLst/>
          </a:prstGeom>
          <a:noFill/>
          <a:ln w="1587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138160" y="3959352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1448288" y="3959352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"/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694944" y="5266944"/>
            <a:ext cx="621792" cy="621792"/>
          </a:xfrm>
          <a:prstGeom prst="rect">
            <a:avLst/>
          </a:prstGeom>
        </p:spPr>
      </p:pic>
      <p:pic>
        <p:nvPicPr>
          <p:cNvPr id="45" name="Picture 12"/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483608" y="5266944"/>
            <a:ext cx="621792" cy="621792"/>
          </a:xfrm>
          <a:prstGeom prst="rect">
            <a:avLst/>
          </a:prstGeom>
        </p:spPr>
      </p:pic>
      <p:pic>
        <p:nvPicPr>
          <p:cNvPr id="48" name="Picture 19"/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8272272" y="5266944"/>
            <a:ext cx="621792" cy="621792"/>
          </a:xfrm>
          <a:prstGeom prst="rect">
            <a:avLst/>
          </a:prstGeom>
        </p:spPr>
      </p:pic>
      <p:sp>
        <p:nvSpPr>
          <p:cNvPr id="50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" name="Connector 50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3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7" name="Oval 56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06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004AFC3-8363-1EB2-2D36-D890E2C7D2CB}"/>
              </a:ext>
            </a:extLst>
          </p:cNvPr>
          <p:cNvCxnSpPr>
            <a:cxnSpLocks/>
          </p:cNvCxnSpPr>
          <p:nvPr/>
        </p:nvCxnSpPr>
        <p:spPr>
          <a:xfrm>
            <a:off x="901827" y="1846326"/>
            <a:ext cx="114300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DBE2A99-3977-3786-9782-A6D3558D979F}"/>
              </a:ext>
            </a:extLst>
          </p:cNvPr>
          <p:cNvCxnSpPr>
            <a:cxnSpLocks/>
          </p:cNvCxnSpPr>
          <p:nvPr/>
        </p:nvCxnSpPr>
        <p:spPr>
          <a:xfrm>
            <a:off x="7076313" y="1826903"/>
            <a:ext cx="1439037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364224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6EB189"/>
            </a:solidFill>
          </a:ln>
          <a:effectLst/>
        </p:spPr>
        <p:txBody>
          <a:bodyPr rtlCol="0" anchor="ctr" lIns="45720" rIns="45720" tIns="18288" bIns="18288" wrap="square"/>
          <a:lstStyle/>
          <a:p>
            <a:pPr algn="ctr"/>
            <a:r>
              <a:rPr sz="1150" b="1">
                <a:solidFill>
                  <a:srgbClr val="223529"/>
                </a:solidFill>
                <a:latin typeface="Arial"/>
              </a:rPr>
              <a:t>Quote 1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88352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 lIns="45720" rIns="45720" tIns="18288" bIns="18288" wrap="square"/>
          <a:lstStyle/>
          <a:p>
            <a:pPr algn="ctr"/>
            <a:r>
              <a:rPr sz="1150" b="1">
                <a:solidFill>
                  <a:srgbClr val="174F35"/>
                </a:solidFill>
                <a:latin typeface="Arial"/>
              </a:rPr>
              <a:t>Quote 2</a:t>
            </a:r>
          </a:p>
          <a:p>
            <a:pPr algn="ctr"/>
            <a:r>
              <a:rPr sz="1000" b="0">
                <a:solidFill>
                  <a:srgbClr val="174F35"/>
                </a:solidFill>
                <a:latin typeface="Arial"/>
              </a:rPr>
              <a:t>lowest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12480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6EB189"/>
            </a:solidFill>
          </a:ln>
          <a:effectLst/>
        </p:spPr>
        <p:txBody>
          <a:bodyPr rtlCol="0" anchor="ctr" lIns="45720" rIns="45720" tIns="18288" bIns="18288" wrap="square"/>
          <a:lstStyle/>
          <a:p>
            <a:pPr algn="ctr"/>
            <a:r>
              <a:rPr sz="1150" b="1">
                <a:solidFill>
                  <a:srgbClr val="223529"/>
                </a:solidFill>
                <a:latin typeface="Arial"/>
              </a:rPr>
              <a:t>Quote 3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9436608" y="2606040"/>
            <a:ext cx="384048" cy="256032"/>
          </a:xfrm>
          <a:prstGeom prst="rightArrow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9930384" y="2450592"/>
            <a:ext cx="1709928" cy="566928"/>
          </a:xfrm>
          <a:prstGeom prst="roundRect">
            <a:avLst>
              <a:gd name="adj" fmla="val 12903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 lIns="45720" rIns="45720" tIns="18288" bIns="18288" wrap="square"/>
          <a:lstStyle/>
          <a:p>
            <a:pPr algn="ctr"/>
            <a:r>
              <a:rPr sz="1150" b="0">
                <a:solidFill>
                  <a:srgbClr val="FFFFFF"/>
                </a:solidFill>
                <a:latin typeface="Arial"/>
              </a:rPr>
              <a:t>Assistance calculated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on lowest quote</a:t>
            </a:r>
          </a:p>
        </p:txBody>
      </p:sp>
    </p:spTree>
    <p:extLst>
      <p:ext uri="{BB962C8B-B14F-4D97-AF65-F5344CB8AC3E}">
        <p14:creationId xmlns:p14="http://schemas.microsoft.com/office/powerpoint/2010/main" val="994509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Oval 46"/>
          <p:cNvSpPr/>
          <p:nvPr/>
        </p:nvSpPr>
        <p:spPr>
          <a:xfrm>
            <a:off x="54864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316992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" name="Connector 52"/>
          <p:cNvCxnSpPr/>
          <p:nvPr/>
        </p:nvCxnSpPr>
        <p:spPr>
          <a:xfrm>
            <a:off x="298704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4" name="Oval 53"/>
          <p:cNvSpPr/>
          <p:nvPr/>
        </p:nvSpPr>
        <p:spPr>
          <a:xfrm>
            <a:off x="579120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7" name="Connector 56"/>
          <p:cNvCxnSpPr/>
          <p:nvPr/>
        </p:nvCxnSpPr>
        <p:spPr>
          <a:xfrm>
            <a:off x="560832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58" name="Connector 57"/>
          <p:cNvCxnSpPr/>
          <p:nvPr/>
        </p:nvCxnSpPr>
        <p:spPr>
          <a:xfrm>
            <a:off x="548640" y="4892040"/>
            <a:ext cx="7498080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27" name="Rectangle 2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93FE842-3F20-4234-A783-6157EB762C0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Quality, testing and laboratory assistance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4A34DC-4A78-4ACC-94AD-7A8F677F7D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480" r="22480"/>
          <a:stretch>
            <a:fillRect/>
          </a:stretch>
        </p:blipFill>
        <p:spPr>
          <a:xfrm>
            <a:off x="8366760" y="1463040"/>
            <a:ext cx="3273552" cy="475488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4EFF528-3E46-4BCA-B96B-39BE78344F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390" r="520" b="75390"/>
          <a:stretch/>
        </p:blipFill>
        <p:spPr>
          <a:xfrm>
            <a:off x="704088" y="1618488"/>
            <a:ext cx="694944" cy="69494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2B7CD0E-D37D-432E-9CF8-66E7BDCF1134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Certification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28C0E7-AC9C-4F95-AED4-9EC37BE6B784}"/>
              </a:ext>
            </a:extLst>
          </p:cNvPr>
          <p:cNvSpPr>
            <a:spLocks noGrp="1"/>
          </p:cNvSpPr>
          <p:nvPr/>
        </p:nvSpPr>
        <p:spPr>
          <a:xfrm>
            <a:off x="54864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30CE1B-5752-4DCA-8324-74BA1423A5D3}"/>
              </a:ext>
            </a:extLst>
          </p:cNvPr>
          <p:cNvSpPr>
            <a:spLocks noGrp="1"/>
          </p:cNvSpPr>
          <p:nvPr/>
        </p:nvSpPr>
        <p:spPr>
          <a:xfrm>
            <a:off x="54864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 lakh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BD44E6-F9A0-467F-B298-D3B2F1AEE616}"/>
              </a:ext>
            </a:extLst>
          </p:cNvPr>
          <p:cNvSpPr>
            <a:spLocks noGrp="1"/>
          </p:cNvSpPr>
          <p:nvPr/>
        </p:nvSpPr>
        <p:spPr>
          <a:xfrm>
            <a:off x="54864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certification, including renewals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FB17C41-5DB6-49A8-AF78-2B089AD095E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3853" t="25390" r="50520" b="50390"/>
          <a:stretch/>
        </p:blipFill>
        <p:spPr>
          <a:xfrm>
            <a:off x="3325368" y="1618488"/>
            <a:ext cx="694944" cy="69494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D42ECF3-B377-4025-952B-78555F2B649D}"/>
              </a:ext>
            </a:extLst>
          </p:cNvPr>
          <p:cNvSpPr>
            <a:spLocks noGrp="1"/>
          </p:cNvSpPr>
          <p:nvPr/>
        </p:nvSpPr>
        <p:spPr>
          <a:xfrm>
            <a:off x="316992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packaging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15215C-4960-4C66-8EAC-37D687C6951C}"/>
              </a:ext>
            </a:extLst>
          </p:cNvPr>
          <p:cNvSpPr>
            <a:spLocks noGrp="1"/>
          </p:cNvSpPr>
          <p:nvPr/>
        </p:nvSpPr>
        <p:spPr>
          <a:xfrm>
            <a:off x="316992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B0628D-1C82-4069-883E-DC0DEEA0E61D}"/>
              </a:ext>
            </a:extLst>
          </p:cNvPr>
          <p:cNvSpPr>
            <a:spLocks noGrp="1"/>
          </p:cNvSpPr>
          <p:nvPr/>
        </p:nvSpPr>
        <p:spPr>
          <a:xfrm>
            <a:off x="316992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9D1124-38E2-46A2-9913-8897A6755D39}"/>
              </a:ext>
            </a:extLst>
          </p:cNvPr>
          <p:cNvSpPr>
            <a:spLocks noGrp="1"/>
          </p:cNvSpPr>
          <p:nvPr/>
        </p:nvSpPr>
        <p:spPr>
          <a:xfrm>
            <a:off x="316992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Equipment that improves quality / shelf life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441C190-2072-4ACA-8EE7-A686CEBA62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946648" y="1618488"/>
            <a:ext cx="694944" cy="694944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FA1D1E9-08A5-49C7-AA98-75FCF9C851BE}"/>
              </a:ext>
            </a:extLst>
          </p:cNvPr>
          <p:cNvSpPr>
            <a:spLocks noGrp="1"/>
          </p:cNvSpPr>
          <p:nvPr/>
        </p:nvSpPr>
        <p:spPr>
          <a:xfrm>
            <a:off x="579120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Mandatory testing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B4B916-DF8B-4264-9819-B5E50C73376C}"/>
              </a:ext>
            </a:extLst>
          </p:cNvPr>
          <p:cNvSpPr>
            <a:spLocks noGrp="1"/>
          </p:cNvSpPr>
          <p:nvPr/>
        </p:nvSpPr>
        <p:spPr>
          <a:xfrm>
            <a:off x="579120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5BAD81-BD60-48F3-9A6E-A178BC64F514}"/>
              </a:ext>
            </a:extLst>
          </p:cNvPr>
          <p:cNvSpPr>
            <a:spLocks noGrp="1"/>
          </p:cNvSpPr>
          <p:nvPr/>
        </p:nvSpPr>
        <p:spPr>
          <a:xfrm>
            <a:off x="579120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₹5,000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4FA37F-8B3F-44CF-86C0-9464222E8412}"/>
              </a:ext>
            </a:extLst>
          </p:cNvPr>
          <p:cNvSpPr>
            <a:spLocks noGrp="1"/>
          </p:cNvSpPr>
          <p:nvPr/>
        </p:nvSpPr>
        <p:spPr>
          <a:xfrm>
            <a:off x="579120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sample, ₹20 lakh plan cap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866D34-E81E-457B-8B5A-9C12BC9CA2C9}"/>
              </a:ext>
            </a:extLst>
          </p:cNvPr>
          <p:cNvSpPr>
            <a:spLocks noGrp="1"/>
          </p:cNvSpPr>
          <p:nvPr/>
        </p:nvSpPr>
        <p:spPr>
          <a:xfrm>
            <a:off x="548640" y="5029200"/>
            <a:ext cx="2651760" cy="3291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Laboratory equipment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C62FBC-EEC0-4E68-A9C7-4E179E1009C5}"/>
              </a:ext>
            </a:extLst>
          </p:cNvPr>
          <p:cNvSpPr>
            <a:spLocks noGrp="1"/>
          </p:cNvSpPr>
          <p:nvPr/>
        </p:nvSpPr>
        <p:spPr>
          <a:xfrm>
            <a:off x="548640" y="5394960"/>
            <a:ext cx="265176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 support</a:t>
            </a:r>
          </a:p>
        </p:txBody>
      </p:sp>
      <p:sp>
        <p:nvSpPr>
          <p:cNvPr id="29" name="Rectangle 21"/>
          <p:cNvSpPr>
            <a:spLocks noGrp="1"/>
          </p:cNvSpPr>
          <p:nvPr/>
        </p:nvSpPr>
        <p:spPr>
          <a:xfrm>
            <a:off x="3017520" y="542239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₹100 lakh in-house labs</a:t>
            </a:r>
          </a:p>
        </p:txBody>
      </p:sp>
      <p:sp>
        <p:nvSpPr>
          <p:cNvPr id="28" name="Rectangle 21"/>
          <p:cNvSpPr>
            <a:spLocks noGrp="1"/>
          </p:cNvSpPr>
          <p:nvPr/>
        </p:nvSpPr>
        <p:spPr>
          <a:xfrm>
            <a:off x="3017520" y="501091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₹200 lakh listed labs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3010BF-BBCD-4D4E-8D83-B825B66C7FDB}"/>
              </a:ext>
            </a:extLst>
          </p:cNvPr>
          <p:cNvSpPr>
            <a:spLocks noGrp="1"/>
          </p:cNvSpPr>
          <p:nvPr/>
        </p:nvSpPr>
        <p:spPr>
          <a:xfrm>
            <a:off x="548640" y="5943600"/>
            <a:ext cx="75895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Packaging: line + FSMS. Testing: no IPA. Lab equipment excludes consumables, glassware, computers, general fridges / ACs, furniture and civil works.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54864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54864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316992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3169920" y="3566160"/>
            <a:ext cx="902208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579120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579120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5257800" y="5074920"/>
            <a:ext cx="2788920" cy="164592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5257800" y="5486400"/>
            <a:ext cx="1394460" cy="164592"/>
          </a:xfrm>
          <a:prstGeom prst="roundRect">
            <a:avLst>
              <a:gd name="adj" fmla="val 5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510508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5088636" y="2057400"/>
            <a:ext cx="2011680" cy="201168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D865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4572000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4" name="Connector 33"/>
          <p:cNvCxnSpPr/>
          <p:nvPr/>
        </p:nvCxnSpPr>
        <p:spPr>
          <a:xfrm flipH="1">
            <a:off x="7017693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6" name="Connector 35"/>
          <p:cNvCxnSpPr/>
          <p:nvPr/>
        </p:nvCxnSpPr>
        <p:spPr>
          <a:xfrm flipV="1">
            <a:off x="4572000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8" name="Connector 37"/>
          <p:cNvCxnSpPr/>
          <p:nvPr/>
        </p:nvCxnSpPr>
        <p:spPr>
          <a:xfrm flipH="1" flipV="1">
            <a:off x="7015666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548640" y="452628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210312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525780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841248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D774943-9A12-4C2E-8561-45CC617D5B0E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Innovation, startups and export capability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2D8DA3-8B20-48FB-B811-F2032929D88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50390" r="520" b="25390"/>
          <a:stretch/>
        </p:blipFill>
        <p:spPr>
          <a:xfrm>
            <a:off x="5436108" y="2404872"/>
            <a:ext cx="1316736" cy="131673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78B82F6-9284-4AB7-AA43-540F0FB11452}"/>
              </a:ext>
            </a:extLst>
          </p:cNvPr>
          <p:cNvSpPr>
            <a:spLocks noGrp="1"/>
          </p:cNvSpPr>
          <p:nvPr/>
        </p:nvSpPr>
        <p:spPr>
          <a:xfrm>
            <a:off x="3808476" y="1371600"/>
            <a:ext cx="4572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Innovation and startups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93E395-DBA3-4834-9BE7-2EF1DB660D5B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Innovative ideas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3A1D5C-9328-455D-A5F8-CED8CAE3CE02}"/>
              </a:ext>
            </a:extLst>
          </p:cNvPr>
          <p:cNvSpPr>
            <a:spLocks noGrp="1"/>
          </p:cNvSpPr>
          <p:nvPr/>
        </p:nvSpPr>
        <p:spPr>
          <a:xfrm>
            <a:off x="548640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Up to ₹100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37999C-2187-4C81-A1FE-881762DF279E}"/>
              </a:ext>
            </a:extLst>
          </p:cNvPr>
          <p:cNvSpPr>
            <a:spLocks noGrp="1"/>
          </p:cNvSpPr>
          <p:nvPr/>
        </p:nvSpPr>
        <p:spPr>
          <a:xfrm>
            <a:off x="548640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Novel solution and proof of concept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1CCB8F-4A60-49B3-800E-AADECF6CAD2F}"/>
              </a:ext>
            </a:extLst>
          </p:cNvPr>
          <p:cNvSpPr>
            <a:spLocks noGrp="1"/>
          </p:cNvSpPr>
          <p:nvPr/>
        </p:nvSpPr>
        <p:spPr>
          <a:xfrm>
            <a:off x="7754112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BHARATI startups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40AF66-6F51-4351-9821-73EF9CA53963}"/>
              </a:ext>
            </a:extLst>
          </p:cNvPr>
          <p:cNvSpPr>
            <a:spLocks noGrp="1"/>
          </p:cNvSpPr>
          <p:nvPr/>
        </p:nvSpPr>
        <p:spPr>
          <a:xfrm>
            <a:off x="7754112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₹100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95A766-2D00-4D38-8B7F-4D214DC8CECD}"/>
              </a:ext>
            </a:extLst>
          </p:cNvPr>
          <p:cNvSpPr>
            <a:spLocks noGrp="1"/>
          </p:cNvSpPr>
          <p:nvPr/>
        </p:nvSpPr>
        <p:spPr>
          <a:xfrm>
            <a:off x="7754112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BHARATI registration + 3-year export projections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BC1F68-A626-4A38-8731-24C17B72D62D}"/>
              </a:ext>
            </a:extLst>
          </p:cNvPr>
          <p:cNvSpPr>
            <a:spLocks noGrp="1"/>
          </p:cNvSpPr>
          <p:nvPr/>
        </p:nvSpPr>
        <p:spPr>
          <a:xfrm>
            <a:off x="548640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SPS activities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5B3865-7D00-4342-8033-D47B2365B8FA}"/>
              </a:ext>
            </a:extLst>
          </p:cNvPr>
          <p:cNvSpPr>
            <a:spLocks noGrp="1"/>
          </p:cNvSpPr>
          <p:nvPr/>
        </p:nvSpPr>
        <p:spPr>
          <a:xfrm>
            <a:off x="548640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₹25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8C6DA2-D9A6-4C85-927B-562A9B191C53}"/>
              </a:ext>
            </a:extLst>
          </p:cNvPr>
          <p:cNvSpPr>
            <a:spLocks noGrp="1"/>
          </p:cNvSpPr>
          <p:nvPr/>
        </p:nvSpPr>
        <p:spPr>
          <a:xfrm>
            <a:off x="548640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SPS evidence, target market and measurable outcome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43C96A-0AA8-43E0-8847-221A783CEE28}"/>
              </a:ext>
            </a:extLst>
          </p:cNvPr>
          <p:cNvSpPr>
            <a:spLocks noGrp="1"/>
          </p:cNvSpPr>
          <p:nvPr/>
        </p:nvSpPr>
        <p:spPr>
          <a:xfrm>
            <a:off x="7754112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Startup traceability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459178-BD46-47B8-9BC0-FF65EA5C2D09}"/>
              </a:ext>
            </a:extLst>
          </p:cNvPr>
          <p:cNvSpPr>
            <a:spLocks noGrp="1"/>
          </p:cNvSpPr>
          <p:nvPr/>
        </p:nvSpPr>
        <p:spPr>
          <a:xfrm>
            <a:off x="7754112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₹20 lakh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223D58-09D8-426D-9871-804BEEABD1A0}"/>
              </a:ext>
            </a:extLst>
          </p:cNvPr>
          <p:cNvSpPr>
            <a:spLocks noGrp="1"/>
          </p:cNvSpPr>
          <p:nvPr/>
        </p:nvSpPr>
        <p:spPr>
          <a:xfrm>
            <a:off x="7754112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Eligible farm traceability hardware / software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F05B3C4-918F-4B35-96CE-2A9ECCAC9C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75390" r="520" b="390"/>
          <a:stretch/>
        </p:blipFill>
        <p:spPr>
          <a:xfrm>
            <a:off x="685800" y="4663440"/>
            <a:ext cx="1234440" cy="12344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490195F0-E3CC-4C51-9037-6E148D6F8FFD}"/>
              </a:ext>
            </a:extLst>
          </p:cNvPr>
          <p:cNvSpPr>
            <a:spLocks noGrp="1"/>
          </p:cNvSpPr>
          <p:nvPr/>
        </p:nvSpPr>
        <p:spPr>
          <a:xfrm>
            <a:off x="237744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varieties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6D189D-F762-4764-875E-CA292C986FB2}"/>
              </a:ext>
            </a:extLst>
          </p:cNvPr>
          <p:cNvSpPr>
            <a:spLocks noGrp="1"/>
          </p:cNvSpPr>
          <p:nvPr/>
        </p:nvSpPr>
        <p:spPr>
          <a:xfrm>
            <a:off x="237744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60%, up to ₹50 lakh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product / plan, manufacturer / producer exporters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DD4F8E-7F59-4C85-9580-734C5FE7D611}"/>
              </a:ext>
            </a:extLst>
          </p:cNvPr>
          <p:cNvSpPr>
            <a:spLocks noGrp="1"/>
          </p:cNvSpPr>
          <p:nvPr/>
        </p:nvSpPr>
        <p:spPr>
          <a:xfrm>
            <a:off x="553212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Training / study tours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B1AD16-59B7-477E-A33D-616F593C1A18}"/>
              </a:ext>
            </a:extLst>
          </p:cNvPr>
          <p:cNvSpPr>
            <a:spLocks noGrp="1"/>
          </p:cNvSpPr>
          <p:nvPr/>
        </p:nvSpPr>
        <p:spPr>
          <a:xfrm>
            <a:off x="553212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50%, ₹3 lakh / person / year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One participant / organisation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79CFAE-2B56-4712-B7E4-C746C72A3DAE}"/>
              </a:ext>
            </a:extLst>
          </p:cNvPr>
          <p:cNvSpPr>
            <a:spLocks noGrp="1"/>
          </p:cNvSpPr>
          <p:nvPr/>
        </p:nvSpPr>
        <p:spPr>
          <a:xfrm>
            <a:off x="868680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Workshops and ToT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C67355-CA8E-4209-8A31-9EDCEC0B7C32}"/>
              </a:ext>
            </a:extLst>
          </p:cNvPr>
          <p:cNvSpPr>
            <a:spLocks noGrp="1"/>
          </p:cNvSpPr>
          <p:nvPr/>
        </p:nvSpPr>
        <p:spPr>
          <a:xfrm>
            <a:off x="868680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₹5 lakh / event / beneficiary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ToT (govt institutions): 50%, ₹5 lakh / year</a:t>
            </a:r>
          </a:p>
        </p:txBody>
      </p:sp>
      <p:sp>
        <p:nvSpPr>
          <p:cNvPr id="33" name="Oval 32"/>
          <p:cNvSpPr/>
          <p:nvPr/>
        </p:nvSpPr>
        <p:spPr>
          <a:xfrm>
            <a:off x="4498848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543800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4498848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7543800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7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1" name="Oval 50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08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6E0A215-3DB6-8282-C309-FF8865FB3CD9}"/>
              </a:ext>
            </a:extLst>
          </p:cNvPr>
          <p:cNvCxnSpPr>
            <a:cxnSpLocks/>
          </p:cNvCxnSpPr>
          <p:nvPr/>
        </p:nvCxnSpPr>
        <p:spPr>
          <a:xfrm>
            <a:off x="2581275" y="5124831"/>
            <a:ext cx="77533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BCEDC34-65EC-1310-D145-01EFE6DB4D14}"/>
              </a:ext>
            </a:extLst>
          </p:cNvPr>
          <p:cNvCxnSpPr>
            <a:cxnSpLocks/>
          </p:cNvCxnSpPr>
          <p:nvPr/>
        </p:nvCxnSpPr>
        <p:spPr>
          <a:xfrm>
            <a:off x="5792982" y="5124831"/>
            <a:ext cx="1307334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9E7BC06-8BE4-E84A-06D9-1CD04B152321}"/>
              </a:ext>
            </a:extLst>
          </p:cNvPr>
          <p:cNvCxnSpPr>
            <a:cxnSpLocks/>
          </p:cNvCxnSpPr>
          <p:nvPr/>
        </p:nvCxnSpPr>
        <p:spPr>
          <a:xfrm>
            <a:off x="8905875" y="5105789"/>
            <a:ext cx="132397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8539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1120140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3378708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5637276" y="3702304"/>
            <a:ext cx="914400" cy="754380"/>
          </a:xfrm>
          <a:prstGeom prst="roundRect">
            <a:avLst>
              <a:gd name="adj" fmla="val 4848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895844" y="4350064"/>
            <a:ext cx="914400" cy="120701"/>
          </a:xfrm>
          <a:prstGeom prst="roundRect">
            <a:avLst>
              <a:gd name="adj" fmla="val 30303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0154412" y="2931160"/>
            <a:ext cx="914400" cy="1508760"/>
          </a:xfrm>
          <a:prstGeom prst="roundRect">
            <a:avLst>
              <a:gd name="adj" fmla="val 4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" name="Connector 47"/>
          <p:cNvCxnSpPr/>
          <p:nvPr/>
        </p:nvCxnSpPr>
        <p:spPr>
          <a:xfrm>
            <a:off x="548640" y="4473448"/>
            <a:ext cx="11091672" cy="0"/>
          </a:xfrm>
          <a:prstGeom prst="line">
            <a:avLst/>
          </a:prstGeom>
          <a:ln w="15875">
            <a:solidFill>
              <a:srgbClr val="B9C8BD"/>
            </a:solidFill>
          </a:ln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33A39878-8053-4993-95B3-76F5D65A4CC0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access and overseas promotion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E9B8A4-FC2B-4FCA-9284-17A18E8CFC5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75390" r="83853" b="390"/>
          <a:stretch/>
        </p:blipFill>
        <p:spPr>
          <a:xfrm>
            <a:off x="1120140" y="1370787"/>
            <a:ext cx="914400" cy="914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E1B6339-5519-4FC2-AB33-EF6AF5FB744F}"/>
              </a:ext>
            </a:extLst>
          </p:cNvPr>
          <p:cNvSpPr>
            <a:spLocks noGrp="1"/>
          </p:cNvSpPr>
          <p:nvPr/>
        </p:nvSpPr>
        <p:spPr>
          <a:xfrm>
            <a:off x="548640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47F84C-3BB5-4878-B58C-F38B4C863CF0}"/>
              </a:ext>
            </a:extLst>
          </p:cNvPr>
          <p:cNvSpPr>
            <a:spLocks noGrp="1"/>
          </p:cNvSpPr>
          <p:nvPr/>
        </p:nvSpPr>
        <p:spPr>
          <a:xfrm>
            <a:off x="548640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2C1655-B7BF-4F19-A15E-1BC14935FDD5}"/>
              </a:ext>
            </a:extLst>
          </p:cNvPr>
          <p:cNvSpPr>
            <a:spLocks noGrp="1"/>
          </p:cNvSpPr>
          <p:nvPr/>
        </p:nvSpPr>
        <p:spPr>
          <a:xfrm>
            <a:off x="640080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study / beneficiary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A1F2C7-F5D5-43E2-A2B6-736F54452F5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75390" r="64267" b="390"/>
          <a:stretch/>
        </p:blipFill>
        <p:spPr>
          <a:xfrm>
            <a:off x="3378708" y="1370787"/>
            <a:ext cx="914400" cy="9144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566F764-2C2B-4730-BE20-D471A8D8C35D}"/>
              </a:ext>
            </a:extLst>
          </p:cNvPr>
          <p:cNvSpPr>
            <a:spLocks noGrp="1"/>
          </p:cNvSpPr>
          <p:nvPr/>
        </p:nvSpPr>
        <p:spPr>
          <a:xfrm>
            <a:off x="2807208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74F163-7D79-479F-B65A-37D9A013FF67}"/>
              </a:ext>
            </a:extLst>
          </p:cNvPr>
          <p:cNvSpPr>
            <a:spLocks noGrp="1"/>
          </p:cNvSpPr>
          <p:nvPr/>
        </p:nvSpPr>
        <p:spPr>
          <a:xfrm>
            <a:off x="2807208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177BB6-8C0C-404D-83E2-09189E783147}"/>
              </a:ext>
            </a:extLst>
          </p:cNvPr>
          <p:cNvSpPr>
            <a:spLocks noGrp="1"/>
          </p:cNvSpPr>
          <p:nvPr/>
        </p:nvSpPr>
        <p:spPr>
          <a:xfrm>
            <a:off x="2898648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 / products</a:t>
            </a:r>
          </a:p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Multimodal transport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C15802B-9F5F-4B4F-B013-D9A19EDBC76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75390" r="50520" b="390"/>
          <a:stretch/>
        </p:blipFill>
        <p:spPr>
          <a:xfrm>
            <a:off x="5637276" y="1370787"/>
            <a:ext cx="914400" cy="9144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E614C10-61B7-4D3B-A4EC-9C7F7FE33346}"/>
              </a:ext>
            </a:extLst>
          </p:cNvPr>
          <p:cNvSpPr>
            <a:spLocks noGrp="1"/>
          </p:cNvSpPr>
          <p:nvPr/>
        </p:nvSpPr>
        <p:spPr>
          <a:xfrm>
            <a:off x="5065776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 abroad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BC3C74-5E11-45D8-AED9-58F0DF391A3E}"/>
              </a:ext>
            </a:extLst>
          </p:cNvPr>
          <p:cNvSpPr>
            <a:spLocks noGrp="1"/>
          </p:cNvSpPr>
          <p:nvPr/>
        </p:nvSpPr>
        <p:spPr>
          <a:xfrm>
            <a:off x="5065776" y="3217164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₹50 lakh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A26537-FD5B-4326-B7E0-68DB0EA399A7}"/>
              </a:ext>
            </a:extLst>
          </p:cNvPr>
          <p:cNvSpPr>
            <a:spLocks noGrp="1"/>
          </p:cNvSpPr>
          <p:nvPr/>
        </p:nvSpPr>
        <p:spPr>
          <a:xfrm>
            <a:off x="5157216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 / plan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5D572CA-9A0A-4838-8B37-7A4D9A18B58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75390" r="33853" b="390"/>
          <a:stretch/>
        </p:blipFill>
        <p:spPr>
          <a:xfrm>
            <a:off x="7895844" y="1370787"/>
            <a:ext cx="914400" cy="9144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29BC7A8-B739-4485-B4A6-B4BF37D12094}"/>
              </a:ext>
            </a:extLst>
          </p:cNvPr>
          <p:cNvSpPr>
            <a:spLocks noGrp="1"/>
          </p:cNvSpPr>
          <p:nvPr/>
        </p:nvSpPr>
        <p:spPr>
          <a:xfrm>
            <a:off x="7324344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shelf / listing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9A380A-6203-4F49-8DB9-0266E052797A}"/>
              </a:ext>
            </a:extLst>
          </p:cNvPr>
          <p:cNvSpPr>
            <a:spLocks noGrp="1"/>
          </p:cNvSpPr>
          <p:nvPr/>
        </p:nvSpPr>
        <p:spPr>
          <a:xfrm>
            <a:off x="7324344" y="387900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₹8 lakh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1BD53F0-01B6-4796-B6D5-12C0ED8195C9}"/>
              </a:ext>
            </a:extLst>
          </p:cNvPr>
          <p:cNvSpPr>
            <a:spLocks noGrp="1"/>
          </p:cNvSpPr>
          <p:nvPr/>
        </p:nvSpPr>
        <p:spPr>
          <a:xfrm>
            <a:off x="7415784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FPOs, women, SC/ST, startups; per year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4C96D48-B5BD-4AC3-90B9-16210A107B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75390" r="17187" b="390"/>
          <a:stretch/>
        </p:blipFill>
        <p:spPr>
          <a:xfrm>
            <a:off x="10154412" y="1370787"/>
            <a:ext cx="914400" cy="9144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CDE053D-880D-45EE-8535-F254F084BF37}"/>
              </a:ext>
            </a:extLst>
          </p:cNvPr>
          <p:cNvSpPr>
            <a:spLocks noGrp="1"/>
          </p:cNvSpPr>
          <p:nvPr/>
        </p:nvSpPr>
        <p:spPr>
          <a:xfrm>
            <a:off x="9582912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brand promotion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543C29-8A65-430C-A5FF-C5B4D69A3B1F}"/>
              </a:ext>
            </a:extLst>
          </p:cNvPr>
          <p:cNvSpPr>
            <a:spLocks noGrp="1"/>
          </p:cNvSpPr>
          <p:nvPr/>
        </p:nvSpPr>
        <p:spPr>
          <a:xfrm>
            <a:off x="9582912" y="242925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₹100 lakh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6910F01-DB7F-4CBA-846F-39FDCD5B4451}"/>
              </a:ext>
            </a:extLst>
          </p:cNvPr>
          <p:cNvSpPr>
            <a:spLocks noGrp="1"/>
          </p:cNvSpPr>
          <p:nvPr/>
        </p:nvSpPr>
        <p:spPr>
          <a:xfrm>
            <a:off x="9674352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93292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EE3AB8-3B82-4658-9B9A-6652094819F1}"/>
              </a:ext>
            </a:extLst>
          </p:cNvPr>
          <p:cNvSpPr>
            <a:spLocks noGrp="1"/>
          </p:cNvSpPr>
          <p:nvPr/>
        </p:nvSpPr>
        <p:spPr>
          <a:xfrm>
            <a:off x="1193292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51860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D94B8C-6064-4174-B01D-C02EE9C1740B}"/>
              </a:ext>
            </a:extLst>
          </p:cNvPr>
          <p:cNvSpPr>
            <a:spLocks noGrp="1"/>
          </p:cNvSpPr>
          <p:nvPr/>
        </p:nvSpPr>
        <p:spPr>
          <a:xfrm>
            <a:off x="3451860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10428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EAED71-425A-47BC-9641-EB4CE5EC231B}"/>
              </a:ext>
            </a:extLst>
          </p:cNvPr>
          <p:cNvSpPr>
            <a:spLocks noGrp="1"/>
          </p:cNvSpPr>
          <p:nvPr/>
        </p:nvSpPr>
        <p:spPr>
          <a:xfrm>
            <a:off x="5710428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68996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EC939CF-5AC6-4C20-A17A-FAE9D932B5C3}"/>
              </a:ext>
            </a:extLst>
          </p:cNvPr>
          <p:cNvSpPr>
            <a:spLocks noGrp="1"/>
          </p:cNvSpPr>
          <p:nvPr/>
        </p:nvSpPr>
        <p:spPr>
          <a:xfrm>
            <a:off x="7968996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227564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7B2BDF8-6E8E-4F80-97B6-0D389ADC19F2}"/>
              </a:ext>
            </a:extLst>
          </p:cNvPr>
          <p:cNvSpPr>
            <a:spLocks noGrp="1"/>
          </p:cNvSpPr>
          <p:nvPr/>
        </p:nvSpPr>
        <p:spPr>
          <a:xfrm>
            <a:off x="10227564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3918372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6094476" y="1616370"/>
            <a:ext cx="0" cy="4528397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68680" y="2014471"/>
            <a:ext cx="0" cy="1751643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68680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868680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6688836" y="2014471"/>
            <a:ext cx="0" cy="2995709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688836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6688836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6688836" y="5010180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F008888A-788F-4871-8783-E3DE7E81BA4B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proposals: eligibility and 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A92C5C-64BA-478C-94BB-0E8D5B3ECCE3}"/>
              </a:ext>
            </a:extLst>
          </p:cNvPr>
          <p:cNvSpPr>
            <a:spLocks noGrp="1"/>
          </p:cNvSpPr>
          <p:nvPr/>
        </p:nvSpPr>
        <p:spPr>
          <a:xfrm>
            <a:off x="1554480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C4A97A-2BCF-4DE5-A736-108760E31418}"/>
              </a:ext>
            </a:extLst>
          </p:cNvPr>
          <p:cNvSpPr>
            <a:spLocks noGrp="1"/>
          </p:cNvSpPr>
          <p:nvPr/>
        </p:nvSpPr>
        <p:spPr>
          <a:xfrm>
            <a:off x="1554480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Consultant with 5 years’ experience, scope, quotation and justification. No repetition of a previous study.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4E1C3F-156F-4226-8505-702269087D4D}"/>
              </a:ext>
            </a:extLst>
          </p:cNvPr>
          <p:cNvSpPr>
            <a:spLocks noGrp="1"/>
          </p:cNvSpPr>
          <p:nvPr/>
        </p:nvSpPr>
        <p:spPr>
          <a:xfrm>
            <a:off x="1554480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AAB807-DC03-4DFD-BEFC-D2ABD7CB191B}"/>
              </a:ext>
            </a:extLst>
          </p:cNvPr>
          <p:cNvSpPr>
            <a:spLocks noGrp="1"/>
          </p:cNvSpPr>
          <p:nvPr/>
        </p:nvSpPr>
        <p:spPr>
          <a:xfrm>
            <a:off x="1554480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technical advisor and SOP. Validation report after shipment.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975A314-DC93-458C-936D-F4B74FE4B312}"/>
              </a:ext>
            </a:extLst>
          </p:cNvPr>
          <p:cNvSpPr>
            <a:spLocks noGrp="1"/>
          </p:cNvSpPr>
          <p:nvPr/>
        </p:nvSpPr>
        <p:spPr>
          <a:xfrm>
            <a:off x="6990588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Oval 10"/>
          <p:cNvSpPr>
            <a:spLocks noGrp="1"/>
          </p:cNvSpPr>
          <p:nvPr/>
        </p:nvSpPr>
        <p:spPr>
          <a:xfrm>
            <a:off x="1170432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Oval 10"/>
          <p:cNvSpPr>
            <a:spLocks noGrp="1"/>
          </p:cNvSpPr>
          <p:nvPr/>
        </p:nvSpPr>
        <p:spPr>
          <a:xfrm>
            <a:off x="1170432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8F34B2-D4BF-4204-8D59-F6FA8FBAB8D7}"/>
              </a:ext>
            </a:extLst>
          </p:cNvPr>
          <p:cNvSpPr>
            <a:spLocks noGrp="1"/>
          </p:cNvSpPr>
          <p:nvPr/>
        </p:nvSpPr>
        <p:spPr>
          <a:xfrm>
            <a:off x="7374636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1AFBB0-FA35-467A-B07B-DC1A09F3BDF7}"/>
              </a:ext>
            </a:extLst>
          </p:cNvPr>
          <p:cNvSpPr>
            <a:spLocks noGrp="1"/>
          </p:cNvSpPr>
          <p:nvPr/>
        </p:nvSpPr>
        <p:spPr>
          <a:xfrm>
            <a:off x="7374636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foreign country / justification, product / brand and overseas fee estimate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1C3FBC7-BBC1-45B0-8F7E-39D557F5C80A}"/>
              </a:ext>
            </a:extLst>
          </p:cNvPr>
          <p:cNvSpPr>
            <a:spLocks noGrp="1"/>
          </p:cNvSpPr>
          <p:nvPr/>
        </p:nvSpPr>
        <p:spPr>
          <a:xfrm>
            <a:off x="6990588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00FCE6-54F0-4B7B-9718-2F85409D20D0}"/>
              </a:ext>
            </a:extLst>
          </p:cNvPr>
          <p:cNvSpPr>
            <a:spLocks noGrp="1"/>
          </p:cNvSpPr>
          <p:nvPr/>
        </p:nvSpPr>
        <p:spPr>
          <a:xfrm>
            <a:off x="7374636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listing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64EF35-DD37-4000-9221-10B8DF33E56B}"/>
              </a:ext>
            </a:extLst>
          </p:cNvPr>
          <p:cNvSpPr>
            <a:spLocks noGrp="1"/>
          </p:cNvSpPr>
          <p:nvPr/>
        </p:nvSpPr>
        <p:spPr>
          <a:xfrm>
            <a:off x="7374636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FPOs, women, SC/ST and startups. Foreign chain agreement / intent and fees. Pay chain / authorised entity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E02A076-B157-4028-94CD-F84468C690E2}"/>
              </a:ext>
            </a:extLst>
          </p:cNvPr>
          <p:cNvSpPr>
            <a:spLocks noGrp="1"/>
          </p:cNvSpPr>
          <p:nvPr/>
        </p:nvSpPr>
        <p:spPr>
          <a:xfrm>
            <a:off x="6990588" y="4909596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119964-CBD1-4707-B84A-D2733D05ADF5}"/>
              </a:ext>
            </a:extLst>
          </p:cNvPr>
          <p:cNvSpPr>
            <a:spLocks noGrp="1"/>
          </p:cNvSpPr>
          <p:nvPr/>
        </p:nvSpPr>
        <p:spPr>
          <a:xfrm>
            <a:off x="7374636" y="4863876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promotion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13210C-F38D-40CF-8415-A398FA5B5418}"/>
              </a:ext>
            </a:extLst>
          </p:cNvPr>
          <p:cNvSpPr>
            <a:spLocks noGrp="1"/>
          </p:cNvSpPr>
          <p:nvPr/>
        </p:nvSpPr>
        <p:spPr>
          <a:xfrm>
            <a:off x="7374636" y="5257434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GI product from designated area. International promotion + activity budget. Domestic promotion excluded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44326E-839F-42C4-881F-3A0D70BF073D}"/>
              </a:ext>
            </a:extLst>
          </p:cNvPr>
          <p:cNvSpPr>
            <a:spLocks noGrp="1"/>
          </p:cNvSpPr>
          <p:nvPr/>
        </p:nvSpPr>
        <p:spPr>
          <a:xfrm>
            <a:off x="548640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New market / product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68796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4C97C1-EEAC-4EEB-9736-BC0910359F8F}"/>
              </a:ext>
            </a:extLst>
          </p:cNvPr>
          <p:cNvSpPr>
            <a:spLocks noGrp="1"/>
          </p:cNvSpPr>
          <p:nvPr/>
        </p:nvSpPr>
        <p:spPr>
          <a:xfrm>
            <a:off x="6368796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Overseas brand and retail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9" name="Text 39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0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4495126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548640" y="4192341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773534DC-1801-48D6-9C8A-12D887E7EB9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Application, approval and reimbursement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95DD6F-14C8-4E3A-8691-0D59E45816E6}"/>
              </a:ext>
            </a:extLst>
          </p:cNvPr>
          <p:cNvSpPr>
            <a:spLocks noGrp="1"/>
          </p:cNvSpPr>
          <p:nvPr/>
        </p:nvSpPr>
        <p:spPr>
          <a:xfrm>
            <a:off x="548640" y="1530996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4EC98EC3-48C3-43C1-B012-2ACC7B350875}"/>
              </a:ext>
            </a:extLst>
          </p:cNvPr>
          <p:cNvSpPr>
            <a:spLocks noGrp="1"/>
          </p:cNvSpPr>
          <p:nvPr/>
        </p:nvSpPr>
        <p:spPr>
          <a:xfrm>
            <a:off x="822960" y="2358845"/>
            <a:ext cx="8503920" cy="0"/>
          </a:xfrm>
          <a:prstGeom prst="line">
            <a:avLst/>
          </a:prstGeom>
          <a:noFill/>
          <a:ln w="19050">
            <a:solidFill>
              <a:srgbClr val="E39B2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C5C2D11-BB4F-4CBE-AD3B-08A18BAA6281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E4A272-CE74-4798-93DC-DD49316798EA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F3F6AE-FC90-42AF-9B4C-F0DBFDD9CA2A}"/>
              </a:ext>
            </a:extLst>
          </p:cNvPr>
          <p:cNvSpPr>
            <a:spLocks noGrp="1"/>
          </p:cNvSpPr>
          <p:nvPr/>
        </p:nvSpPr>
        <p:spPr>
          <a:xfrm>
            <a:off x="54864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call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EFEF51-4CAF-4248-9E47-8A95E81897A6}"/>
              </a:ext>
            </a:extLst>
          </p:cNvPr>
          <p:cNvSpPr>
            <a:spLocks noGrp="1"/>
          </p:cNvSpPr>
          <p:nvPr/>
        </p:nvSpPr>
        <p:spPr>
          <a:xfrm>
            <a:off x="54864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Priority groups / products. Window closes at twice available funds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A0BB264-5295-4F13-89CB-4EFA264E54B2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2DCF26-EB22-452B-B6CA-F4C76C735BEA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BD3FB2-0D20-4438-BAD0-4E03218F2A2E}"/>
              </a:ext>
            </a:extLst>
          </p:cNvPr>
          <p:cNvSpPr>
            <a:spLocks noGrp="1"/>
          </p:cNvSpPr>
          <p:nvPr/>
        </p:nvSpPr>
        <p:spPr>
          <a:xfrm>
            <a:off x="338328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Complete proposal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0078B8-D219-481A-A863-8C639C5FFA1C}"/>
              </a:ext>
            </a:extLst>
          </p:cNvPr>
          <p:cNvSpPr>
            <a:spLocks noGrp="1"/>
          </p:cNvSpPr>
          <p:nvPr/>
        </p:nvSpPr>
        <p:spPr>
          <a:xfrm>
            <a:off x="338328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Online form and prescribed supporting documents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F3EA748-D950-4168-BD0B-E16776CEB3EA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5D803F-08E9-4E96-BF6D-3A515CE13906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4035ED-33DF-4914-B8A5-1814B230B5F0}"/>
              </a:ext>
            </a:extLst>
          </p:cNvPr>
          <p:cNvSpPr>
            <a:spLocks noGrp="1"/>
          </p:cNvSpPr>
          <p:nvPr/>
        </p:nvSpPr>
        <p:spPr>
          <a:xfrm>
            <a:off x="621792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fee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A50598-C6D8-48CE-BBA7-DF0C7C65B714}"/>
              </a:ext>
            </a:extLst>
          </p:cNvPr>
          <p:cNvSpPr>
            <a:spLocks noGrp="1"/>
          </p:cNvSpPr>
          <p:nvPr/>
        </p:nvSpPr>
        <p:spPr>
          <a:xfrm>
            <a:off x="621792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Pay prescribed non-refundable submission fee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FF0D90-A932-40E2-BCCB-A57BA185809B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A5D4E-8FD8-4E42-920B-1AC0616ED72A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D80832-0D6C-4271-BDB0-452188E413A3}"/>
              </a:ext>
            </a:extLst>
          </p:cNvPr>
          <p:cNvSpPr>
            <a:spLocks noGrp="1"/>
          </p:cNvSpPr>
          <p:nvPr/>
        </p:nvSpPr>
        <p:spPr>
          <a:xfrm>
            <a:off x="905256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Tracking number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F64FBF-F342-47EB-917A-F1884C63F12C}"/>
              </a:ext>
            </a:extLst>
          </p:cNvPr>
          <p:cNvSpPr>
            <a:spLocks noGrp="1"/>
          </p:cNvSpPr>
          <p:nvPr/>
        </p:nvSpPr>
        <p:spPr>
          <a:xfrm>
            <a:off x="905256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Scheme system generates the application reference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AD3B44-FF65-4F77-96A9-768903611439}"/>
              </a:ext>
            </a:extLst>
          </p:cNvPr>
          <p:cNvSpPr>
            <a:spLocks noGrp="1"/>
          </p:cNvSpPr>
          <p:nvPr/>
        </p:nvSpPr>
        <p:spPr>
          <a:xfrm>
            <a:off x="548640" y="4454680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Evaluation and release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D8F38BD0-51FA-4B94-9F26-91ECEC299549}"/>
              </a:ext>
            </a:extLst>
          </p:cNvPr>
          <p:cNvSpPr>
            <a:spLocks noGrp="1"/>
          </p:cNvSpPr>
          <p:nvPr/>
        </p:nvSpPr>
        <p:spPr>
          <a:xfrm>
            <a:off x="822960" y="5173510"/>
            <a:ext cx="8503920" cy="0"/>
          </a:xfrm>
          <a:prstGeom prst="line">
            <a:avLst/>
          </a:prstGeom>
          <a:noFill/>
          <a:ln w="15875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DEA52BD3-A4ED-46CF-B5EA-DF7B9DC0BA08}"/>
              </a:ext>
            </a:extLst>
          </p:cNvPr>
          <p:cNvSpPr>
            <a:spLocks noGrp="1"/>
          </p:cNvSpPr>
          <p:nvPr/>
        </p:nvSpPr>
        <p:spPr>
          <a:xfrm>
            <a:off x="69494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198E80E-C223-4CAD-9A34-E82673CAC2FA}"/>
              </a:ext>
            </a:extLst>
          </p:cNvPr>
          <p:cNvSpPr>
            <a:spLocks noGrp="1"/>
          </p:cNvSpPr>
          <p:nvPr/>
        </p:nvSpPr>
        <p:spPr>
          <a:xfrm>
            <a:off x="54864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APEDA scrutiny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B5C353-65A1-4BA1-BF70-FB622E8C0599}"/>
              </a:ext>
            </a:extLst>
          </p:cNvPr>
          <p:cNvSpPr>
            <a:spLocks noGrp="1"/>
          </p:cNvSpPr>
          <p:nvPr/>
        </p:nvSpPr>
        <p:spPr>
          <a:xfrm>
            <a:off x="54864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/ financial</a:t>
            </a: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563BA5B9-6012-4CC0-8731-13E6EBEF7858}"/>
              </a:ext>
            </a:extLst>
          </p:cNvPr>
          <p:cNvSpPr>
            <a:spLocks noGrp="1"/>
          </p:cNvSpPr>
          <p:nvPr/>
        </p:nvSpPr>
        <p:spPr>
          <a:xfrm>
            <a:off x="352958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0633A2E-0405-43DC-B942-AD664D98C607}"/>
              </a:ext>
            </a:extLst>
          </p:cNvPr>
          <p:cNvSpPr>
            <a:spLocks noGrp="1"/>
          </p:cNvSpPr>
          <p:nvPr/>
        </p:nvSpPr>
        <p:spPr>
          <a:xfrm>
            <a:off x="338328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Technical Committee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07BDD2-E54F-452F-9781-7DA3735C251F}"/>
              </a:ext>
            </a:extLst>
          </p:cNvPr>
          <p:cNvSpPr>
            <a:spLocks noGrp="1"/>
          </p:cNvSpPr>
          <p:nvPr/>
        </p:nvSpPr>
        <p:spPr>
          <a:xfrm>
            <a:off x="338328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Evaluation</a:t>
            </a:r>
          </a:p>
        </p:txBody>
      </p:sp>
      <p:sp>
        <p:nvSpPr>
          <p:cNvPr id="31" name="Diamond 30">
            <a:extLst>
              <a:ext uri="{FF2B5EF4-FFF2-40B4-BE49-F238E27FC236}">
                <a16:creationId xmlns:a16="http://schemas.microsoft.com/office/drawing/2014/main" id="{C7055554-D609-456C-8DE0-2EBAE6937B3D}"/>
              </a:ext>
            </a:extLst>
          </p:cNvPr>
          <p:cNvSpPr>
            <a:spLocks noGrp="1"/>
          </p:cNvSpPr>
          <p:nvPr/>
        </p:nvSpPr>
        <p:spPr>
          <a:xfrm>
            <a:off x="636422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F63310F-1BA8-4890-9283-3C122D0B7691}"/>
              </a:ext>
            </a:extLst>
          </p:cNvPr>
          <p:cNvSpPr>
            <a:spLocks noGrp="1"/>
          </p:cNvSpPr>
          <p:nvPr/>
        </p:nvSpPr>
        <p:spPr>
          <a:xfrm>
            <a:off x="621792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 / Authority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02F11B-E4C0-4D3B-A928-95073B217864}"/>
              </a:ext>
            </a:extLst>
          </p:cNvPr>
          <p:cNvSpPr>
            <a:spLocks noGrp="1"/>
          </p:cNvSpPr>
          <p:nvPr/>
        </p:nvSpPr>
        <p:spPr>
          <a:xfrm>
            <a:off x="621792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 &gt;₹250 lakh: Authority</a:t>
            </a:r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EDDFF11F-D991-45CD-AE81-1BEA6EEA712E}"/>
              </a:ext>
            </a:extLst>
          </p:cNvPr>
          <p:cNvSpPr>
            <a:spLocks noGrp="1"/>
          </p:cNvSpPr>
          <p:nvPr/>
        </p:nvSpPr>
        <p:spPr>
          <a:xfrm>
            <a:off x="9198864" y="5045494"/>
            <a:ext cx="256032" cy="256032"/>
          </a:xfrm>
          <a:prstGeom prst="diamond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B0A209-7909-4E59-899D-ADEC4B0CA187}"/>
              </a:ext>
            </a:extLst>
          </p:cNvPr>
          <p:cNvSpPr>
            <a:spLocks noGrp="1"/>
          </p:cNvSpPr>
          <p:nvPr/>
        </p:nvSpPr>
        <p:spPr>
          <a:xfrm>
            <a:off x="905256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B037A8-A84B-41D6-BC21-C377E9C1BA85}"/>
              </a:ext>
            </a:extLst>
          </p:cNvPr>
          <p:cNvSpPr>
            <a:spLocks noGrp="1"/>
          </p:cNvSpPr>
          <p:nvPr/>
        </p:nvSpPr>
        <p:spPr>
          <a:xfrm>
            <a:off x="905256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0" name="Oval 49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266839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8640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4383024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4177284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8217408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8011668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548640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83024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4177284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6" name="Oval 45"/>
          <p:cNvSpPr/>
          <p:nvPr/>
        </p:nvSpPr>
        <p:spPr>
          <a:xfrm>
            <a:off x="8217408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" name="Connector 46"/>
          <p:cNvCxnSpPr/>
          <p:nvPr/>
        </p:nvCxnSpPr>
        <p:spPr>
          <a:xfrm>
            <a:off x="8011668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3747345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7B9BC66E-FBA0-4D46-BD85-3780897C6C0F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Documents supporting the application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21995D-3063-4DAA-A24B-0BF51CFA9B4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713232" y="1704825"/>
            <a:ext cx="676656" cy="67665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001714C-4B11-4589-A5BA-F26F38EE0FDE}"/>
              </a:ext>
            </a:extLst>
          </p:cNvPr>
          <p:cNvSpPr>
            <a:spLocks noGrp="1"/>
          </p:cNvSpPr>
          <p:nvPr/>
        </p:nvSpPr>
        <p:spPr>
          <a:xfrm>
            <a:off x="1737360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B3A1ED-99EF-4838-80C4-5CE114F6427F}"/>
              </a:ext>
            </a:extLst>
          </p:cNvPr>
          <p:cNvSpPr>
            <a:spLocks noGrp="1"/>
          </p:cNvSpPr>
          <p:nvPr/>
        </p:nvSpPr>
        <p:spPr>
          <a:xfrm>
            <a:off x="548640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Land and approvals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99AE43-CBA4-4E13-B5D8-DC377213E42B}"/>
              </a:ext>
            </a:extLst>
          </p:cNvPr>
          <p:cNvSpPr>
            <a:spLocks noGrp="1"/>
          </p:cNvSpPr>
          <p:nvPr/>
        </p:nvSpPr>
        <p:spPr>
          <a:xfrm>
            <a:off x="548640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Title / 15-year lease, CLU, NOC and approvals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0E2586-D617-4AB8-B70A-D0F5E5B2F3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25390" r="17187" b="50390"/>
          <a:stretch/>
        </p:blipFill>
        <p:spPr>
          <a:xfrm>
            <a:off x="4547616" y="1704825"/>
            <a:ext cx="676656" cy="67665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90B198-208C-46E8-9B03-FE86F685449E}"/>
              </a:ext>
            </a:extLst>
          </p:cNvPr>
          <p:cNvSpPr>
            <a:spLocks noGrp="1"/>
          </p:cNvSpPr>
          <p:nvPr/>
        </p:nvSpPr>
        <p:spPr>
          <a:xfrm>
            <a:off x="5571744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179B76-F1FF-46F1-B40C-8777D6B7C33D}"/>
              </a:ext>
            </a:extLst>
          </p:cNvPr>
          <p:cNvSpPr>
            <a:spLocks noGrp="1"/>
          </p:cNvSpPr>
          <p:nvPr/>
        </p:nvSpPr>
        <p:spPr>
          <a:xfrm>
            <a:off x="4383024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Project proposal / DPR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762C26-6E7A-484A-AE8E-73D039EF1C8A}"/>
              </a:ext>
            </a:extLst>
          </p:cNvPr>
          <p:cNvSpPr>
            <a:spLocks noGrp="1"/>
          </p:cNvSpPr>
          <p:nvPr/>
        </p:nvSpPr>
        <p:spPr>
          <a:xfrm>
            <a:off x="4383024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Profile, process flow, costs and export-market benefits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3DF211-34C2-4E2A-9739-34E6810E558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50390" r="50520" b="25390"/>
          <a:stretch/>
        </p:blipFill>
        <p:spPr>
          <a:xfrm>
            <a:off x="8382000" y="1704825"/>
            <a:ext cx="676656" cy="67665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88A65D2-3B08-404B-9236-C16AFDBC9F5B}"/>
              </a:ext>
            </a:extLst>
          </p:cNvPr>
          <p:cNvSpPr>
            <a:spLocks noGrp="1"/>
          </p:cNvSpPr>
          <p:nvPr/>
        </p:nvSpPr>
        <p:spPr>
          <a:xfrm>
            <a:off x="9406128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18958C-917D-45A1-A54F-968AB13EBBB7}"/>
              </a:ext>
            </a:extLst>
          </p:cNvPr>
          <p:cNvSpPr>
            <a:spLocks noGrp="1"/>
          </p:cNvSpPr>
          <p:nvPr/>
        </p:nvSpPr>
        <p:spPr>
          <a:xfrm>
            <a:off x="8217408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Finance and appraisal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E49870-6A6F-4290-BECB-4EEAA6D2834B}"/>
              </a:ext>
            </a:extLst>
          </p:cNvPr>
          <p:cNvSpPr>
            <a:spLocks noGrp="1"/>
          </p:cNvSpPr>
          <p:nvPr/>
        </p:nvSpPr>
        <p:spPr>
          <a:xfrm>
            <a:off x="8217408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Loan sanction and appraisal note; mandatory for public facilities 1(e)/(f)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9A60DC1-AF8F-4949-8C8E-CE281F848A4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50390" r="17187" b="25390"/>
          <a:stretch/>
        </p:blipFill>
        <p:spPr>
          <a:xfrm>
            <a:off x="713232" y="4160017"/>
            <a:ext cx="676656" cy="67665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DAAF040-C319-4DD8-A9F8-E3BC15D2C2D8}"/>
              </a:ext>
            </a:extLst>
          </p:cNvPr>
          <p:cNvSpPr>
            <a:spLocks noGrp="1"/>
          </p:cNvSpPr>
          <p:nvPr/>
        </p:nvSpPr>
        <p:spPr>
          <a:xfrm>
            <a:off x="1737360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83D2C2-6219-42AC-8643-F666409982CD}"/>
              </a:ext>
            </a:extLst>
          </p:cNvPr>
          <p:cNvSpPr>
            <a:spLocks noGrp="1"/>
          </p:cNvSpPr>
          <p:nvPr/>
        </p:nvSpPr>
        <p:spPr>
          <a:xfrm>
            <a:off x="548640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Quotations and cost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36ED1D-FECF-4386-B82A-EDC0F23589F0}"/>
              </a:ext>
            </a:extLst>
          </p:cNvPr>
          <p:cNvSpPr>
            <a:spLocks noGrp="1"/>
          </p:cNvSpPr>
          <p:nvPr/>
        </p:nvSpPr>
        <p:spPr>
          <a:xfrm>
            <a:off x="548640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Minimum 3 equipment quotes, specifications and eligible costs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8943285-CE12-4DF0-B244-14F6CFB0C3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50390" r="67187" b="25390"/>
          <a:stretch/>
        </p:blipFill>
        <p:spPr>
          <a:xfrm>
            <a:off x="4547616" y="4160017"/>
            <a:ext cx="676656" cy="676656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7007458-6632-4412-ABA8-70E89E642911}"/>
              </a:ext>
            </a:extLst>
          </p:cNvPr>
          <p:cNvSpPr>
            <a:spLocks noGrp="1"/>
          </p:cNvSpPr>
          <p:nvPr/>
        </p:nvSpPr>
        <p:spPr>
          <a:xfrm>
            <a:off x="5571744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1288C3-4868-4C95-8AD5-623A889E3642}"/>
              </a:ext>
            </a:extLst>
          </p:cNvPr>
          <p:cNvSpPr>
            <a:spLocks noGrp="1"/>
          </p:cNvSpPr>
          <p:nvPr/>
        </p:nvSpPr>
        <p:spPr>
          <a:xfrm>
            <a:off x="4383024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Civil works / layout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39C14C2-33DD-4C25-A896-DDC4F72B07B6}"/>
              </a:ext>
            </a:extLst>
          </p:cNvPr>
          <p:cNvSpPr>
            <a:spLocks noGrp="1"/>
          </p:cNvSpPr>
          <p:nvPr/>
        </p:nvSpPr>
        <p:spPr>
          <a:xfrm>
            <a:off x="4383024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BOQ certified by Chartered Engineer / Civil Architect; layout drawing for 1(e)/(f)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F451CE2-1308-403F-A6C5-B32115936F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50390" r="33853" b="25390"/>
          <a:stretch/>
        </p:blipFill>
        <p:spPr>
          <a:xfrm>
            <a:off x="8382000" y="4160017"/>
            <a:ext cx="676656" cy="676656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6E453F9E-F185-4C60-B149-2A76FB4A3431}"/>
              </a:ext>
            </a:extLst>
          </p:cNvPr>
          <p:cNvSpPr>
            <a:spLocks noGrp="1"/>
          </p:cNvSpPr>
          <p:nvPr/>
        </p:nvSpPr>
        <p:spPr>
          <a:xfrm>
            <a:off x="9406128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71C67C-4F97-4404-B8E6-AFF485FD0875}"/>
              </a:ext>
            </a:extLst>
          </p:cNvPr>
          <p:cNvSpPr>
            <a:spLocks noGrp="1"/>
          </p:cNvSpPr>
          <p:nvPr/>
        </p:nvSpPr>
        <p:spPr>
          <a:xfrm>
            <a:off x="8217408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Eligibility and declarations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2D6F336-3581-4DA0-82F6-A9D4A29CDD54}"/>
              </a:ext>
            </a:extLst>
          </p:cNvPr>
          <p:cNvSpPr>
            <a:spLocks noGrp="1"/>
          </p:cNvSpPr>
          <p:nvPr/>
        </p:nvSpPr>
        <p:spPr>
          <a:xfrm>
            <a:off x="8217408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RCMC / NPOP / category, entity and other-assistance declarations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6490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Connector 67"/>
          <p:cNvCxnSpPr/>
          <p:nvPr/>
        </p:nvCxnSpPr>
        <p:spPr>
          <a:xfrm>
            <a:off x="694944" y="1746504"/>
            <a:ext cx="7577328" cy="0"/>
          </a:xfrm>
          <a:prstGeom prst="line">
            <a:avLst/>
          </a:prstGeom>
          <a:ln w="19050">
            <a:solidFill>
              <a:srgbClr val="6EB189"/>
            </a:solidFill>
          </a:ln>
        </p:spPr>
      </p:cxnSp>
      <p:sp>
        <p:nvSpPr>
          <p:cNvPr id="69" name="Rounded Rectangle 68"/>
          <p:cNvSpPr/>
          <p:nvPr/>
        </p:nvSpPr>
        <p:spPr>
          <a:xfrm>
            <a:off x="548640" y="3154680"/>
            <a:ext cx="11091672" cy="384048"/>
          </a:xfrm>
          <a:prstGeom prst="roundRect">
            <a:avLst>
              <a:gd name="adj" fmla="val 1904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0" name="Connector 69"/>
          <p:cNvCxnSpPr/>
          <p:nvPr/>
        </p:nvCxnSpPr>
        <p:spPr>
          <a:xfrm>
            <a:off x="548640" y="388620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78" name="Connector 77"/>
          <p:cNvCxnSpPr/>
          <p:nvPr/>
        </p:nvCxnSpPr>
        <p:spPr>
          <a:xfrm>
            <a:off x="4200144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84" name="Connector 83"/>
          <p:cNvCxnSpPr/>
          <p:nvPr/>
        </p:nvCxnSpPr>
        <p:spPr>
          <a:xfrm>
            <a:off x="7988808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86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87" name="Rectangle 8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8A249A6-9A2F-47E3-A2E4-EB8C585E6739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Release of assistance and continuing obligations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048403-0520-4792-96F0-A48C576D9144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Standard exporter assistance reimburses approved eligible cost after completion and verification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0A50FF-9661-4523-9D09-48E693FED7F6}"/>
              </a:ext>
            </a:extLst>
          </p:cNvPr>
          <p:cNvSpPr>
            <a:spLocks noGrp="1"/>
          </p:cNvSpPr>
          <p:nvPr/>
        </p:nvSpPr>
        <p:spPr>
          <a:xfrm>
            <a:off x="548640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Implementation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564AEE-CA41-446F-A0C9-2911FE5BBFD5}"/>
              </a:ext>
            </a:extLst>
          </p:cNvPr>
          <p:cNvSpPr>
            <a:spLocks noGrp="1"/>
          </p:cNvSpPr>
          <p:nvPr/>
        </p:nvSpPr>
        <p:spPr>
          <a:xfrm>
            <a:off x="548640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Approved eligible assets / activity within IPA validity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0B14A4-930A-4F62-A1D1-53F101C5C3C8}"/>
              </a:ext>
            </a:extLst>
          </p:cNvPr>
          <p:cNvSpPr>
            <a:spLocks noGrp="1"/>
          </p:cNvSpPr>
          <p:nvPr/>
        </p:nvSpPr>
        <p:spPr>
          <a:xfrm>
            <a:off x="4337304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3249D7-5926-4424-AF6B-DF872AD3AF51}"/>
              </a:ext>
            </a:extLst>
          </p:cNvPr>
          <p:cNvSpPr>
            <a:spLocks noGrp="1"/>
          </p:cNvSpPr>
          <p:nvPr/>
        </p:nvSpPr>
        <p:spPr>
          <a:xfrm>
            <a:off x="4337304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CA / UDIN, invoices, bank payments and completion evidence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D01162-F1F8-4D19-BDBB-D2F4AFD2B9EB}"/>
              </a:ext>
            </a:extLst>
          </p:cNvPr>
          <p:cNvSpPr>
            <a:spLocks noGrp="1"/>
          </p:cNvSpPr>
          <p:nvPr/>
        </p:nvSpPr>
        <p:spPr>
          <a:xfrm>
            <a:off x="8125968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986324-57A7-44AF-B86B-C384138DB9CD}"/>
              </a:ext>
            </a:extLst>
          </p:cNvPr>
          <p:cNvSpPr>
            <a:spLocks noGrp="1"/>
          </p:cNvSpPr>
          <p:nvPr/>
        </p:nvSpPr>
        <p:spPr>
          <a:xfrm>
            <a:off x="8125968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scrutiny / inspection. Processing fee: 5% + GST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F735C0-510E-48D2-8593-790F26DBF9AC}"/>
              </a:ext>
            </a:extLst>
          </p:cNvPr>
          <p:cNvSpPr>
            <a:spLocks noGrp="1"/>
          </p:cNvSpPr>
          <p:nvPr/>
        </p:nvSpPr>
        <p:spPr>
          <a:xfrm>
            <a:off x="777240" y="3154680"/>
            <a:ext cx="10634472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6B4A12"/>
                </a:solidFill>
                <a:latin typeface="Arial"/>
                <a:ea typeface="Arial"/>
                <a:cs typeface="Arial"/>
              </a:rPr>
              <a:t>Claims before IPA expiry. For activities exempt from IPA, submit within 3 months of completion. Assistance depends on available funds.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F4AE6D-8085-4BBD-A47D-BC1BEE1AF29F}"/>
              </a:ext>
            </a:extLst>
          </p:cNvPr>
          <p:cNvSpPr>
            <a:spLocks noGrp="1"/>
          </p:cNvSpPr>
          <p:nvPr/>
        </p:nvSpPr>
        <p:spPr>
          <a:xfrm>
            <a:off x="2240280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25% BG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2AB2BB-7C55-465B-A52E-1B8FADA7CA13}"/>
              </a:ext>
            </a:extLst>
          </p:cNvPr>
          <p:cNvSpPr>
            <a:spLocks noGrp="1"/>
          </p:cNvSpPr>
          <p:nvPr/>
        </p:nvSpPr>
        <p:spPr>
          <a:xfrm>
            <a:off x="2240280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Infrastructure grants: 3 years or until performance, whichever is later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12D56E-8E39-41BB-ABBC-9A4464B74BBD}"/>
              </a:ext>
            </a:extLst>
          </p:cNvPr>
          <p:cNvSpPr>
            <a:spLocks noGrp="1"/>
          </p:cNvSpPr>
          <p:nvPr/>
        </p:nvSpPr>
        <p:spPr>
          <a:xfrm>
            <a:off x="6028944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Quarterly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33BE32-CA2D-4386-9A9E-223C96948113}"/>
              </a:ext>
            </a:extLst>
          </p:cNvPr>
          <p:cNvSpPr>
            <a:spLocks noGrp="1"/>
          </p:cNvSpPr>
          <p:nvPr/>
        </p:nvSpPr>
        <p:spPr>
          <a:xfrm>
            <a:off x="6028944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Online performance return, even when exports are nil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1D82A82-5650-41DD-8177-4F5405F9CFCE}"/>
              </a:ext>
            </a:extLst>
          </p:cNvPr>
          <p:cNvSpPr>
            <a:spLocks noGrp="1"/>
          </p:cNvSpPr>
          <p:nvPr/>
        </p:nvSpPr>
        <p:spPr>
          <a:xfrm>
            <a:off x="9817608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5 years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7AFFAEC-CB89-45D4-B898-050B1D20A9C9}"/>
              </a:ext>
            </a:extLst>
          </p:cNvPr>
          <p:cNvSpPr>
            <a:spLocks noGrp="1"/>
          </p:cNvSpPr>
          <p:nvPr/>
        </p:nvSpPr>
        <p:spPr>
          <a:xfrm>
            <a:off x="9817608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Retain assets. No sale / transfer. Recovery for breach</a:t>
            </a:r>
          </a:p>
        </p:txBody>
      </p:sp>
      <p:sp>
        <p:nvSpPr>
          <p:cNvPr id="61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2" name="Connector 61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64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65" name="Oval 64"/>
          <p:cNvSpPr/>
          <p:nvPr/>
        </p:nvSpPr>
        <p:spPr>
          <a:xfrm>
            <a:off x="548640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4337304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8125968" y="1600200"/>
            <a:ext cx="292608" cy="292608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548640" y="4343400"/>
            <a:ext cx="1417320" cy="1417320"/>
          </a:xfrm>
          <a:prstGeom prst="ellipse">
            <a:avLst/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Pie 71"/>
          <p:cNvSpPr/>
          <p:nvPr/>
        </p:nvSpPr>
        <p:spPr>
          <a:xfrm>
            <a:off x="548640" y="4343400"/>
            <a:ext cx="1417320" cy="141732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Pie 72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6379999"/>
              <a:gd name="adj2" fmla="val 214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Pie 73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79999"/>
              <a:gd name="adj2" fmla="val 522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Pie 74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5580000"/>
              <a:gd name="adj2" fmla="val 106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Pie 75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0980000"/>
              <a:gd name="adj2" fmla="val 16019999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4762500" y="476859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8125968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79"/>
          <p:cNvSpPr/>
          <p:nvPr/>
        </p:nvSpPr>
        <p:spPr>
          <a:xfrm>
            <a:off x="8418576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8711184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9003792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9296400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855413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solidFill>
            <a:srgbClr val="EAF3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F69469-81AA-4ABC-8006-17B4B6DB0AF6}"/>
              </a:ext>
            </a:extLst>
          </p:cNvPr>
          <p:cNvSpPr>
            <a:spLocks noGrp="1"/>
          </p:cNvSpPr>
          <p:nvPr/>
        </p:nvSpPr>
        <p:spPr>
          <a:xfrm>
            <a:off x="548640" y="777240"/>
            <a:ext cx="11091672" cy="1463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8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8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8800" b="0">
                <a:solidFill>
                  <a:srgbClr val="174F35"/>
                </a:solidFill>
                <a:effectLst>
                  <a:outerShdw blurRad="38100" dist="38100" dir="2700000" algn="tl" rotWithShape="0">
                    <a:srgbClr val="000000">
                      <a:alpha val="35000"/>
                    </a:srgbClr>
                  </a:outerShdw>
                </a:effectLst>
                <a:latin typeface="Arial"/>
                <a:ea typeface="Arial"/>
                <a:cs typeface="Arial"/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1F021B-675D-4F13-A0BB-134A4E414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28800" y="3429000"/>
            <a:ext cx="2834640" cy="950976"/>
          </a:xfrm>
          <a:prstGeom prst="rect">
            <a:avLst/>
          </a:prstGeom>
        </p:spPr>
      </p:pic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C57BEB9B-FA74-47DA-93D0-C2DF31C7B705}"/>
              </a:ext>
            </a:extLst>
          </p:cNvPr>
          <p:cNvSpPr>
            <a:spLocks noGrp="1"/>
          </p:cNvSpPr>
          <p:nvPr/>
        </p:nvSpPr>
        <p:spPr>
          <a:xfrm>
            <a:off x="5120640" y="2788920"/>
            <a:ext cx="0" cy="2926080"/>
          </a:xfrm>
          <a:prstGeom prst="line">
            <a:avLst/>
          </a:prstGeom>
          <a:noFill/>
          <a:ln w="28575">
            <a:solidFill>
              <a:srgbClr val="7F8A8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59816D-28B4-4BED-B984-810D0920828D}"/>
              </a:ext>
            </a:extLst>
          </p:cNvPr>
          <p:cNvSpPr>
            <a:spLocks noGrp="1"/>
          </p:cNvSpPr>
          <p:nvPr/>
        </p:nvSpPr>
        <p:spPr>
          <a:xfrm>
            <a:off x="5394960" y="2971800"/>
            <a:ext cx="594360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Mr. Sandeep Bohra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95BA85-A2D5-4A10-BE59-CB9FC896A6FF}"/>
              </a:ext>
            </a:extLst>
          </p:cNvPr>
          <p:cNvSpPr>
            <a:spLocks noGrp="1"/>
          </p:cNvSpPr>
          <p:nvPr/>
        </p:nvSpPr>
        <p:spPr>
          <a:xfrm>
            <a:off x="5394960" y="3364992"/>
            <a:ext cx="59436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FCA, MBA, CAIIB</a:t>
            </a:r>
          </a:p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Founder &amp; Chief Executive Officer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F05097-9EFE-4C8F-B503-8D8EAFB69157}"/>
              </a:ext>
            </a:extLst>
          </p:cNvPr>
          <p:cNvSpPr>
            <a:spLocks noGrp="1"/>
          </p:cNvSpPr>
          <p:nvPr/>
        </p:nvSpPr>
        <p:spPr>
          <a:xfrm>
            <a:off x="5394960" y="3931920"/>
            <a:ext cx="594360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Contact: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+91 99710 57298</a:t>
            </a:r>
          </a:p>
          <a:p>
            <a:pPr algn="l">
              <a:spcBef>
                <a:spcPts val="600"/>
              </a:spcBef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Email: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sandeep@krishikaadvisory.com</a:t>
            </a:r>
          </a:p>
          <a:p>
            <a:pPr algn="l">
              <a:spcBef>
                <a:spcPts val="600"/>
              </a:spcBef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Website: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krishikaadvisory.com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8BA510-D146-40A4-99C3-7B9CA6C8D3F8}"/>
              </a:ext>
            </a:extLst>
          </p:cNvPr>
          <p:cNvSpPr>
            <a:spLocks noGrp="1"/>
          </p:cNvSpPr>
          <p:nvPr/>
        </p:nvSpPr>
        <p:spPr>
          <a:xfrm>
            <a:off x="5394960" y="4846320"/>
            <a:ext cx="5943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Address: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Block B, 818 &amp; 817, 8th Floor, West Bank</a:t>
            </a:r>
          </a:p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Opp. Gold Cinema, Ashram Road</a:t>
            </a:r>
          </a:p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Ahmedabad – 380009</a:t>
            </a:r>
          </a:p>
        </p:txBody>
      </p:sp>
    </p:spTree>
    <p:extLst>
      <p:ext uri="{BB962C8B-B14F-4D97-AF65-F5344CB8AC3E}">
        <p14:creationId xmlns:p14="http://schemas.microsoft.com/office/powerpoint/2010/main" val="120177841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29B2EE-EBE7-4C91-A761-2921A3CB0A3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0a04840-1deb-40f0-8c18-9d7b3dc83a5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2923</Words>
  <Application>Microsoft Office PowerPoint</Application>
  <DocSecurity>0</DocSecurity>
  <PresentationFormat>Widescreen</PresentationFormat>
  <Paragraphs>266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Arial</vt:lpstr>
      <vt:lpstr>Cambria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Ishaan Sharma</cp:lastModifiedBy>
  <cp:revision>4</cp:revision>
  <dcterms:created xsi:type="dcterms:W3CDTF">2026-10-13T08:41:00Z</dcterms:created>
  <dcterms:modified xsi:type="dcterms:W3CDTF">2026-10-13T10:31:50Z</dcterms:modified>
</cp:coreProperties>
</file>