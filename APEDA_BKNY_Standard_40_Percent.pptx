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63040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63040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63040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194560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194560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4348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257800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4937760"/>
            <a:ext cx="0" cy="73152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4937760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669280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scheduled products and NPOP-certified organic products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802892" y="1691640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08960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520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91556" y="1691640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08960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520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380220" y="1691640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08960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520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4983480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754880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645152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486400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376672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 operators, FPOs / PACS, listed labs and institutions</a:t>
            </a:r>
          </a:p>
        </p:txBody>
      </p:sp>
      <p:sp>
        <p:nvSpPr>
          <p:cNvPr id="25" name="Pentagon 24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B8DF92-D13B-4FD9-AA12-27928C4B148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855464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586984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route for projects in other states and ordinary beneficiary categories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0" name="Pentagon 29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60F299-6D0B-43F8-86A8-6A2A8FC677B2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Connector 22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4526280" y="297180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4526280" y="443484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526280" y="58521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8412480" y="1737360"/>
            <a:ext cx="0" cy="9601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412480" y="3200400"/>
            <a:ext cx="0" cy="9601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412480" y="4663440"/>
            <a:ext cx="0" cy="9601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Two investment routes, both at the standard 40% assistance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833372"/>
            <a:ext cx="265176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6412"/>
            <a:ext cx="265176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35708"/>
            <a:ext cx="265176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698748"/>
            <a:ext cx="265176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91640"/>
            <a:ext cx="2999232" cy="1051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51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760720" y="4960620"/>
            <a:ext cx="26517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8641080" y="4617720"/>
            <a:ext cx="2999232" cy="1051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19" name="Pentagon 1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42E42-52C7-4F5D-A992-DB3BFC42B0A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0" y="1760220"/>
            <a:ext cx="914400" cy="91440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760220"/>
            <a:ext cx="9144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0" y="3223260"/>
            <a:ext cx="914400" cy="91440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23260"/>
            <a:ext cx="9144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0" y="4686300"/>
            <a:ext cx="914400" cy="91440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Pie 30"/>
          <p:cNvSpPr/>
          <p:nvPr/>
        </p:nvSpPr>
        <p:spPr>
          <a:xfrm>
            <a:off x="4572000" y="4686300"/>
            <a:ext cx="914400" cy="9144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Infrastructure support at 40%, followed by separate market-development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39" name="Pentagon 3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F63BC0-0E45-4C36-8EB6-B5AF87A0466E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318504" y="3291840"/>
            <a:ext cx="1188720" cy="0"/>
          </a:xfrm>
          <a:prstGeom prst="line">
            <a:avLst/>
          </a:prstGeom>
          <a:ln w="12700">
            <a:solidFill>
              <a:srgbClr val="B9C8B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3931920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3931920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Only eligible assets and eligible timing enter the assistance calculation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65960"/>
            <a:ext cx="27432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7781544" y="2395728"/>
            <a:ext cx="38587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OEM / authorised suppliers.</a:t>
            </a:r>
          </a:p>
        </p:txBody>
      </p:sp>
      <p:sp>
        <p:nvSpPr>
          <p:cNvPr id="32" name="Rectangle 9"/>
          <p:cNvSpPr>
            <a:spLocks noGrp="1"/>
          </p:cNvSpPr>
          <p:nvPr/>
        </p:nvSpPr>
        <p:spPr>
          <a:xfrm>
            <a:off x="8028432" y="2724912"/>
            <a:ext cx="36118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114800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114800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19" name="Pentagon 1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5F27DD-C627-4773-91D1-352C6F0697E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2606040"/>
            <a:ext cx="274320" cy="68580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48272" y="2834640"/>
            <a:ext cx="274320" cy="457200"/>
          </a:xfrm>
          <a:prstGeom prst="roundRect">
            <a:avLst>
              <a:gd name="adj" fmla="val 1333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2320" y="2423160"/>
            <a:ext cx="274320" cy="86868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81544" y="2798064"/>
            <a:ext cx="128016" cy="128016"/>
          </a:xfrm>
          <a:prstGeom prst="roundRect">
            <a:avLst>
              <a:gd name="adj" fmla="val 14285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38160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48288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48640" y="5266944"/>
            <a:ext cx="31089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48640" y="5769864"/>
            <a:ext cx="1554480" cy="128016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297680" y="1463040"/>
            <a:ext cx="118872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297680" y="3840480"/>
            <a:ext cx="2203704" cy="146304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867144" y="1463040"/>
            <a:ext cx="118872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867144" y="3840480"/>
            <a:ext cx="2203704" cy="146304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6684264" y="1554480"/>
            <a:ext cx="0" cy="39319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9436608" y="1463040"/>
            <a:ext cx="118872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436608" y="3840480"/>
            <a:ext cx="2203704" cy="146304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9253728" y="1554480"/>
            <a:ext cx="0" cy="39319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rates for certification, shelf life and export-quality verification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2" r="1562"/>
          <a:stretch>
            <a:fillRect/>
          </a:stretch>
        </p:blipFill>
        <p:spPr>
          <a:xfrm>
            <a:off x="548640" y="1508760"/>
            <a:ext cx="3291840" cy="255117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4498848" y="1664208"/>
            <a:ext cx="786384" cy="78638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4297680" y="2834640"/>
            <a:ext cx="220370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4297680" y="3200400"/>
            <a:ext cx="2203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4297680" y="4160520"/>
            <a:ext cx="220370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4297680" y="4617720"/>
            <a:ext cx="220370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7068312" y="1664208"/>
            <a:ext cx="786384" cy="78638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6867144" y="2834640"/>
            <a:ext cx="220370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6867144" y="3200400"/>
            <a:ext cx="2203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6867144" y="4160520"/>
            <a:ext cx="220370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6867144" y="4617720"/>
            <a:ext cx="220370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637776" y="1664208"/>
            <a:ext cx="786384" cy="78638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9436608" y="2834640"/>
            <a:ext cx="220370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9436608" y="3200400"/>
            <a:ext cx="2203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9436608" y="4160520"/>
            <a:ext cx="220370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9436608" y="4617720"/>
            <a:ext cx="220370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4251960"/>
            <a:ext cx="329184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4617720"/>
            <a:ext cx="3291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548640" y="5486400"/>
            <a:ext cx="329184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548640" y="4983480"/>
            <a:ext cx="329184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consumables, civil works, furniture and office equipment excluded.</a:t>
            </a:r>
          </a:p>
        </p:txBody>
      </p:sp>
      <p:sp>
        <p:nvSpPr>
          <p:cNvPr id="26" name="Pentagon 2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F50093-F7A0-4AFC-9A7D-8050DC6FB96A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840480"/>
            <a:ext cx="1101852" cy="146304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867144" y="3840480"/>
            <a:ext cx="881482" cy="146304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436608" y="3840480"/>
            <a:ext cx="1101852" cy="146304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Targeted assistance beyond the standard infrastructure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ToT: 50%, ₹5 lakh / year</a:t>
            </a:r>
          </a:p>
        </p:txBody>
      </p:sp>
      <p:sp>
        <p:nvSpPr>
          <p:cNvPr id="29" name="Pentagon 2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83B51E-CD6E-4A6B-9379-70A89CA79D57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192524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192524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589020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222699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83464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343400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Base assistance is 50% for the five routes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1120140" y="1353312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73532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378708" y="1353312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73532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637276" y="1353312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13182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895844" y="1353312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765499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10154412" y="1353312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37744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6" name="Pentagon 3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A554AF-4B9D-4D74-ABE1-6DB95ACB6FC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00200"/>
            <a:ext cx="0" cy="4160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1965960"/>
            <a:ext cx="0" cy="1609344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432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575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1965960"/>
            <a:ext cx="0" cy="2752344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432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575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4718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The proposal must establish the target market and the activity-specific case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286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633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429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3776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331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474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331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286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633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474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429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3776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617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572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4919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3" name="Pentagon 22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94B093-C0B1-48BA-8352-DC75E69B02A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0876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0876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08760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39776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website: Schemes menu, “Submit BKNY Application”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286000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4882896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475488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475488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475488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4754880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0" name="Pentagon 39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51FE1F-D915-4FE4-AC53-37603A21500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087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087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020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087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020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8404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8404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393192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8404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393192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63016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Six groups cover the core file. Each sub-component adds its prescribed formats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713232" y="1673352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3736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69748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02666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547616" y="1673352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3736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69748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02666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382000" y="1673352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3736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69748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02666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Appraisal / loan or relevant financial evidence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713232" y="4005072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06908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35838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547616" y="4005072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06908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02920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35838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Engineer-certified BOQ and project drawing / layout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382000" y="4005072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06908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02920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35838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36" name="Pentagon 3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579080-D023-46C8-87D5-1300441AC608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548640" y="36576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6035040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7156094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8277149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9398203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10519258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11640312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8" name="Rounded Rectangle 37"/>
          <p:cNvSpPr/>
          <p:nvPr/>
        </p:nvSpPr>
        <p:spPr>
          <a:xfrm>
            <a:off x="6035040" y="4078224"/>
            <a:ext cx="5605272" cy="256032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exporter assistance reimburses approved eligible cost after completion and verification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1D470AC-AB83-4692-95E6-83150ACABE51}"/>
              </a:ext>
            </a:extLst>
          </p:cNvPr>
          <p:cNvSpPr>
            <a:spLocks noGrp="1"/>
          </p:cNvSpPr>
          <p:nvPr/>
        </p:nvSpPr>
        <p:spPr>
          <a:xfrm>
            <a:off x="685800" y="1691640"/>
            <a:ext cx="7577328" cy="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6268665-F276-42E8-A8D4-E5502076B86C}"/>
              </a:ext>
            </a:extLst>
          </p:cNvPr>
          <p:cNvSpPr>
            <a:spLocks noGrp="1"/>
          </p:cNvSpPr>
          <p:nvPr/>
        </p:nvSpPr>
        <p:spPr>
          <a:xfrm>
            <a:off x="548640" y="1554480"/>
            <a:ext cx="274320" cy="27432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1993392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31720"/>
            <a:ext cx="324002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1A04D46-DE00-41E4-ACC8-31564E5A1492}"/>
              </a:ext>
            </a:extLst>
          </p:cNvPr>
          <p:cNvSpPr>
            <a:spLocks noGrp="1"/>
          </p:cNvSpPr>
          <p:nvPr/>
        </p:nvSpPr>
        <p:spPr>
          <a:xfrm>
            <a:off x="4337304" y="1554480"/>
            <a:ext cx="274320" cy="27432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1993392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31720"/>
            <a:ext cx="324002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6DAAB4-0BDB-4130-86F4-0C3A56949170}"/>
              </a:ext>
            </a:extLst>
          </p:cNvPr>
          <p:cNvSpPr>
            <a:spLocks noGrp="1"/>
          </p:cNvSpPr>
          <p:nvPr/>
        </p:nvSpPr>
        <p:spPr>
          <a:xfrm>
            <a:off x="8125968" y="1554480"/>
            <a:ext cx="274320" cy="274320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1993392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31720"/>
            <a:ext cx="324002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822960" y="3154680"/>
            <a:ext cx="1081735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548640" y="3931920"/>
            <a:ext cx="16002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194560" y="3931920"/>
            <a:ext cx="36118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548640" y="4617720"/>
            <a:ext cx="16002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2194560" y="4617720"/>
            <a:ext cx="36118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548640" y="5303520"/>
            <a:ext cx="16002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2194560" y="5303520"/>
            <a:ext cx="36118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28" name="Pentagon 27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CDFDD3-1100-4B94-89BA-5F9E210B7152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0" name="Oval 29"/>
          <p:cNvSpPr/>
          <p:nvPr/>
        </p:nvSpPr>
        <p:spPr>
          <a:xfrm>
            <a:off x="566928" y="3236976"/>
            <a:ext cx="128016" cy="128016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035040" y="4078224"/>
            <a:ext cx="3363163" cy="25603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115736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395999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676263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956527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236790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517054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797317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077581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357845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38108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918372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9198635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9478899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9759163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0039426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0319690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0599953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10880217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11160481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11440744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6035040" y="5449824"/>
            <a:ext cx="5605272" cy="25603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</cp:revision>
  <dcterms:created xsi:type="dcterms:W3CDTF">2026-10-13T08:41:00Z</dcterms:created>
  <dcterms:modified xsi:type="dcterms:W3CDTF">2026-10-13T09:47:43Z</dcterms:modified>
</cp:coreProperties>
</file>