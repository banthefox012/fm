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95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4–8,16–19,29–31,35–36.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Component-specific eligibility matters. FPO/PACS, SC/ST, women and startups may qualify for higher rates, briefly mentioned on slide 3. SC/ST entity conditions: proprietor or ≥51% qualifying ownership, entity/holding history ≥1 year. Women category: woman proprietor, or all partners/directors/promoters women, wholly owned/managed for ≥1 year. Startup: RCMC + DPIIT certificate, 2–5 years, annual turnover ≤₹500 lakh. Organic applicants require NPOP certification/registration. APEDA-implemented ecosystem activities include standards/NRL, technology development, fairs/BSMs, market intelligence, protocols, internationalisation and grant administration.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7–11,35. Standard applicant route is the presentation's primary focus. Percentages are assistance up to the stated rate, subject to eligible cost, component ceilings, approval and funds.</a:t>
            </a:r>
          </a:p>
          <a:p>
            <a:r>
              <a:t>Specified regions: North-Eastern States, Ladakh, J&amp;K, Andaman &amp; Nicobar and Lakshadweep. Higher rates also apply to eligible FPO/PACS, SC/ST, women and startups across India unless a different component rate is specified. Monetary ceilings remain unchanged. The standard 40% share illustration is before ceilings and fee deductions; it does not imply an automatic entitlement. Public common-facility assistance under 1(e)/(f): up to 90%, caps ₹600 lakh new and ₹200 lakh upgrade, restricted regions, government/public institutions; detailed MoU, 40/40/20 instalments and 50% BG requirements are secondary to the standard exporter route.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9–10,36. Standard applicant route is the presentation's primary focus. Percentages are assistance up to the stated rate, subject to eligible cost, component ceilings, approval and funds.</a:t>
            </a:r>
          </a:p>
          <a:p>
            <a:r>
              <a:t>Cleaning/washing/grading assistance is limited to fresh fruits and vegetables, floriculture and fruit/vegetable seeds. Land in applicant’s name or registered lease valid for 15 years at application. CLU and landowner NOC where applicable. Packhouses follow NCCD/MIDH minimum cold-chain standards and importing-country requirements. Technical civil BOQ certified by engineer/architect. Photograph is conceptual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Source: supplied FAS_Guidelines_06102026.pdf, pp. 7–11,30,33. Standard applicant route is the presentation's primary focus. Percentages are assistance up to the stated rate, subject to eligible cost, component ceilings, approval and funds.</a:t>
            </a:r>
          </a:p>
          <a:p>
            <a:r>
              <a:rPr dirty="0"/>
              <a:t>Cold storage is part of integrated facilities, not an additional independent cap. Combined ceiling ₹300 lakh for 1(a)–1(d). Merchant exporter vehicle limit 2 per plan, manufacturer 5. Missing-gap line already established (manual facilities needing </a:t>
            </a:r>
            <a:r>
              <a:rPr dirty="0" err="1"/>
              <a:t>mechanisation</a:t>
            </a:r>
            <a:r>
              <a:rPr dirty="0"/>
              <a:t> can qualify), HACCP/ISO 22000 in place, quality/productivity equipment not an integral line item. Trial shipment base 50%, cap ₹10 lakh; higher rate in overview for special categories differs from detailed clause and should be clarified.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9–11,35–36. Standard applicant route is the presentation's primary focus. Percentages are assistance up to the stated rate, subject to eligible cost, component ceilings, approval and funds.</a:t>
            </a:r>
          </a:p>
          <a:p>
            <a:r>
              <a:t>Exceptions to three quotes: sole manufacturer, imports or government procurement rules need declaration; 1(e)/(f) excluded. Quotes identify supplier address/GSTN/TIN/PAN, specifications, validity and itemised costs. No duplicate funding for same project/components, disclose other grant applications/support. CLU and landowner NOC as applicable. Existing HACCP/ISO 22000 must have prescribed accreditation. FSSAI and other regulatory permissions 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16–18,20–25. Standard applicant route is the presentation's primary focus. Percentages are assistance up to the stated rate, subject to eligible cost, component ceilings, approval and funds.</a:t>
            </a:r>
          </a:p>
          <a:p>
            <a:r>
              <a:t>Certification FSMS for own manufacturing, sustainability for manufacturing/production, ISO 9001 also merchant. Recognised/IAF-accredited bodies as applicable, separate application per certification, Annexure III fees. Packaging CAP/MAP/active, HACCP/ISO 22000 required. Lab testing is mandatory importing-country or notified APEDA traceability/monitoring. RCMC manufacturers/producers and NPOP operators. NPOP high-risk exports need Transaction Certificate on Trace.Net. NPOP 2% sampling reimbursable, CB-funded 5% sampling excluded. Recognised lab upgrades: APEDA recognition + NABL ISO 17025, equipment/eligible CRM. In-house lab eligible RCMC/NPOP. Higher special-category rates not the main route here. Photo is illustrative artwork.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18–19,21–22,24–28,35. Standard applicant route is the presentation's primary focus. Percentages are assistance up to the stated rate, subject to eligible cost, component ceilings, approval and funds.</a:t>
            </a:r>
          </a:p>
          <a:p>
            <a:r>
              <a:t>Startup definition: RCMC + DPIIT, 2–5 years existence, turnover ≤₹500 lakh. BHARATI cohort indicative 10–20 per plan, export linkage/scalability and performance monitoring. ToT restricted to Central/State government institutions with competence and IPA. Workshop specific conditions exclude merchant exporters. Courses up to 1 month; training table includes travel+fee but detailed conditions only course/participation fee. ToT higher rate differs between table and detailed conditions. Imported material institutions rate up to90%; exporter60%, ₹50 lakh/product/plan, applicant handles import/royalty. Confirm differences with APEDA.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30–34.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support restricted to FPOs, women-led enterprises, SC/ST exporters and startups. Special75% rates appear in component tables for studies/trials/IPR/GI while detailed trial/IPR/GI clauses list50%; confirm applicable approved rate. Study higher-category list also institutions/Indian missions/trade associations/organic. APEDA-led fairs/BSMs/ODOP/GI/organic promotion separate APEDA-implemented activity with preference new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33–34,36. Standard applicant route is the presentation's primary focus. Percentages are assistance up to the stated rate, subject to eligible cost, component ceilings, approval and funds.</a:t>
            </a:r>
          </a:p>
          <a:p>
            <a:r>
              <a:t>Retail fees are one-time initial onboarding / shelf-placement fees. Chain must operate in at least one foreign country. GI proposal includes market rationale, competitors, export projections and activity-wise budget. Routine business costs and domestic promotion excluded. Trial advisor may be ICAR, research institution/university or qualified expert; proposal follows APEDA priorities.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35–41. Standard applicant route is the presentation's primary focus. Percentages are assistance up to the stated rate, subject to eligible cost, component ceilings, approval and funds.</a:t>
            </a:r>
          </a:p>
          <a:p>
            <a:r>
              <a:t>Oversight Committee receives TC recommended applications for information. Technical/financial viability, designated applicant categories and pre-inspection may affect acceptance. Authority threshold is project cost over₹250 lakh, not grant. IPA required all components except lab testing5. Amendments within IPA validity; extension case-by-case. Claims and verification before disbursement, budget dependent.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9–14,25–27,33–36,38,42–65. Standard applicant route is the presentation's primary focus. Percentages are assistance up to the stated rate, subject to eligible cost, component ceilings, approval and funds.</a:t>
            </a:r>
          </a:p>
          <a:p>
            <a:r>
              <a:t>Annexure I DPR and engineer forms, III certification fees, VIII training, IV testing linkage, VI CA claim, VII asset bond, IX ToT CA certificate and X NPOP2% procedures. Claim additions: invoices, highlighted bank debits, CA/UDIN/registration, ₹100 notarised indemnity bond, installation certificate, import Bill of Entry, prescribed APEDA asset marking, certificates/reports and Aadhaar as applicable. Public facilities require2 years audited statements and prescribed project appraisal, separate bank account, MoU conditions.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FAS_Guidelines_06102026.pdf, pp. 35–41,59–63,66–80. Standard applicant route is the presentation's primary focus. Percentages are assistance up to the stated rate, subject to eligible cost, component ceilings, approval and funds.</a:t>
            </a:r>
          </a:p>
          <a:p>
            <a:r>
              <a:t>25% infrastructure BG renewed annually; release after request, GST returns and performance verification. Special-category annual undertakings3 years, ownership/control plan or3 years post-disbursement whichever longer. FSSAI/regulatory requirements and RCMC ownership/location updates apply. Paint original APEDA logo plus Assisted by APEDA; stickers excluded. NPOP2% grower sampling claim through CB: recognised organic lab, payment/sampling/test evidence, counter samples retained≥6 months. CB-funded5% testing excluded. AnnexureVII5-year asset bond specifies12% recovery interest while general clauses use GFR norms. No right to carry claims beyond plan, subject scheme continuation/funds. Public1e/f40/40/20 releases and50% BG are a separate route, briefly mentioned on slide3.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image" Target="../media/image2.png"/><Relationship Id="rId7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AC9425B-40DF-4D86-A7B6-CA1C7C194F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91625" cy="6858000"/>
          </a:xfrm>
          <a:prstGeom prst="rect">
            <a:avLst/>
          </a:prstGeom>
          <a:gradFill>
            <a:gsLst>
              <a:gs pos="0">
                <a:srgbClr val="FFFFFF"/>
              </a:gs>
              <a:gs pos="6300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1CF1DB-DE52-4F08-A2F2-10A8D7B3CE7C}"/>
              </a:ext>
            </a:extLst>
          </p:cNvPr>
          <p:cNvSpPr>
            <a:spLocks noGrp="1"/>
          </p:cNvSpPr>
          <p:nvPr/>
        </p:nvSpPr>
        <p:spPr>
          <a:xfrm>
            <a:off x="8477250" y="0"/>
            <a:ext cx="3714750" cy="1619250"/>
          </a:xfrm>
          <a:prstGeom prst="rect">
            <a:avLst/>
          </a:prstGeom>
          <a:gradFill>
            <a:gsLst>
              <a:gs pos="0">
                <a:srgbClr val="FFFFFF">
                  <a:alpha val="95000"/>
                </a:srgbClr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077325" y="306203"/>
            <a:ext cx="2600325" cy="87349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5669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200" b="1">
                <a:solidFill>
                  <a:srgbClr val="2D8651"/>
                </a:solidFill>
                <a:latin typeface="Cambria"/>
                <a:ea typeface="Cambria"/>
                <a:cs typeface="Cambria"/>
              </a:defRPr>
            </a:pPr>
            <a:r>
              <a:rPr sz="2200" b="1">
                <a:solidFill>
                  <a:srgbClr val="2D8651"/>
                </a:solidFill>
                <a:latin typeface="Cambria"/>
                <a:ea typeface="Cambria"/>
                <a:cs typeface="Cambria"/>
              </a:rPr>
              <a:t>APEDA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67665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Bharat Krishi</a:t>
            </a:r>
          </a:p>
          <a:p>
            <a:pPr algn="l">
              <a:defRPr sz="36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36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66928" y="3429000"/>
            <a:ext cx="64922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700" b="0">
                <a:solidFill>
                  <a:srgbClr val="223529"/>
                </a:solidFill>
                <a:latin typeface="Cambria"/>
                <a:ea typeface="Cambria"/>
                <a:cs typeface="Cambria"/>
              </a:defRPr>
            </a:pPr>
            <a:r>
              <a:rPr sz="1700" b="0" i="1">
                <a:solidFill>
                  <a:srgbClr val="223529"/>
                </a:solidFill>
                <a:latin typeface="Cambria"/>
                <a:ea typeface="Cambria"/>
                <a:cs typeface="Cambria"/>
              </a:rPr>
              <a:t>Financial Assistance Guidelines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950208"/>
            <a:ext cx="2651760" cy="438912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66928" y="3950208"/>
            <a:ext cx="2651760" cy="43891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66928" y="4617720"/>
            <a:ext cx="61264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5"/>
          <a:srcRect t="42000" b="49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7D1D06-4846-4BAE-9717-B1345BFA6A2C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scheduled products and NPOP-certified organic products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61795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 operators, FPOs / PACS, listed labs and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Text 4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6"/>
          <a:srcRect t="68000" b="23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695CAB-8A6D-4862-8312-69926A4C6BB2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route for projects in other states and ordinary beneficiary categories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3DDAEE-3ADA-407D-95EB-DC34EAAAA9C5}"/>
              </a:ext>
            </a:extLst>
          </p:cNvPr>
          <p:cNvSpPr>
            <a:spLocks noGrp="1"/>
          </p:cNvSpPr>
          <p:nvPr/>
        </p:nvSpPr>
        <p:spPr>
          <a:xfrm>
            <a:off x="548640" y="4828032"/>
            <a:ext cx="265176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Balance financing</a:t>
            </a:r>
          </a:p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from own / bank funds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1(a)</a:t>
            </a: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assistance limit for 1(a)–1(d)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897880"/>
            <a:ext cx="11091672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islands. Public common facilities use a separate route.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5"/>
          <a:srcRect t="52000" b="39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6B661D1-CE16-4146-A191-9FBF99A20B4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Two investment routes, both at the standard 40% assistance rate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64592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facility under 1(a).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/ lease and packhouse norms apply.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Text 34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35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5"/>
          <a:srcRect t="80000" b="11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64FB1CC-FF41-43B4-B9D1-D2D9EF93710B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Infrastructure support at 40%, followed by separate market-development support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913632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135C2D-2D6A-4773-8CCD-4F8EDDD15735}"/>
              </a:ext>
            </a:extLst>
          </p:cNvPr>
          <p:cNvSpPr>
            <a:spLocks noGrp="1"/>
          </p:cNvSpPr>
          <p:nvPr/>
        </p:nvSpPr>
        <p:spPr>
          <a:xfrm>
            <a:off x="640080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1(a) / 1(b)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470148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949CA3-7BCB-4742-957C-9D08F7005A9E}"/>
              </a:ext>
            </a:extLst>
          </p:cNvPr>
          <p:cNvSpPr>
            <a:spLocks noGrp="1"/>
          </p:cNvSpPr>
          <p:nvPr/>
        </p:nvSpPr>
        <p:spPr>
          <a:xfrm>
            <a:off x="3470148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1(d)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0216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9DA51A-559D-41CA-9DCE-9F7E500858C4}"/>
              </a:ext>
            </a:extLst>
          </p:cNvPr>
          <p:cNvSpPr>
            <a:spLocks noGrp="1"/>
          </p:cNvSpPr>
          <p:nvPr/>
        </p:nvSpPr>
        <p:spPr>
          <a:xfrm>
            <a:off x="6300216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1(c)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284" y="347472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96C77B9-42F5-46BE-B90E-FC1479764728}"/>
              </a:ext>
            </a:extLst>
          </p:cNvPr>
          <p:cNvSpPr>
            <a:spLocks noGrp="1"/>
          </p:cNvSpPr>
          <p:nvPr/>
        </p:nvSpPr>
        <p:spPr>
          <a:xfrm>
            <a:off x="9130284" y="3474720"/>
            <a:ext cx="9601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1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15(b)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6318504" y="3291840"/>
            <a:ext cx="1188720" cy="0"/>
          </a:xfrm>
          <a:prstGeom prst="line">
            <a:avLst/>
          </a:prstGeom>
          <a:ln w="12700">
            <a:solidFill>
              <a:srgbClr val="B9C8BD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3931920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3931920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5"/>
          <a:srcRect t="46000" b="45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B5F657-E078-49D5-B316-5287F691CBB1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Only eligible assets and eligible timing enter the assistance calculation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65960"/>
            <a:ext cx="27432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3 quotations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7781544" y="2395728"/>
            <a:ext cx="38587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OEM / authorised suppliers.</a:t>
            </a:r>
          </a:p>
        </p:txBody>
      </p:sp>
      <p:sp>
        <p:nvSpPr>
          <p:cNvPr id="32" name="Rectangle 9"/>
          <p:cNvSpPr>
            <a:spLocks noGrp="1"/>
          </p:cNvSpPr>
          <p:nvPr/>
        </p:nvSpPr>
        <p:spPr>
          <a:xfrm>
            <a:off x="8028432" y="2724912"/>
            <a:ext cx="361188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Assistance uses the lowest quoted rate, even if another supplier receives the order.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114800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114800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Filing-to-IPA expenditure needs APEDA’s acceptance.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547872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Existing line + FSMS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for processing gaps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Vehicles per plan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64224" y="2606040"/>
            <a:ext cx="274320" cy="68580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48272" y="2834640"/>
            <a:ext cx="274320" cy="457200"/>
          </a:xfrm>
          <a:prstGeom prst="roundRect">
            <a:avLst>
              <a:gd name="adj" fmla="val 1333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132320" y="2423160"/>
            <a:ext cx="274320" cy="868680"/>
          </a:xfrm>
          <a:prstGeom prst="roundRect">
            <a:avLst>
              <a:gd name="adj" fmla="val 13333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81544" y="2798064"/>
            <a:ext cx="128016" cy="128016"/>
          </a:xfrm>
          <a:prstGeom prst="roundRect">
            <a:avLst>
              <a:gd name="adj" fmla="val 14285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138160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448288" y="3831336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3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3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2" name="Text 52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3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7"/>
          <a:srcRect t="74000" b="17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82B203-557A-47F5-B6CC-F127BF62D23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rates for certification, shelf life and export-quality verification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including renewals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9120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sample,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Packaging: line + FSMS. Testing: no IPA. Lab consumables, civil works, furniture and office equipment excluded.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5"/>
          <a:srcRect t="42000" b="49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5262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754880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7C23C2-DD04-4CF8-BF34-B8A5746A70C9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Targeted assistance beyond the standard infrastructure routes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BHARATI registration + 3-year export projections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SPS evidence, target market and measurable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853" t="75390" r="520" b="390"/>
          <a:stretch/>
        </p:blipFill>
        <p:spPr>
          <a:xfrm>
            <a:off x="685800" y="4663440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846320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212080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Text 46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7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5"/>
          <a:srcRect t="68000" b="23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D6F162-974E-4424-9182-7552DC918536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Base assistance is 50% for the five routes below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90464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193292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1193292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51860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451860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10428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710428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27564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10227564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4"/>
          <a:srcRect t="52000" b="39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1ABA444-3BF6-41C2-818F-C25E65881FE7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The proposal must establish the target market and the activity-specific case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Pay chain / authorised entity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4"/>
          <a:srcRect t="80000" b="11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D59541-498A-409C-8E69-C03276DFF483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APEDA website: Schemes menu, “Submit BKNY Application”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at twice available funds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 / Authority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 &gt;₹250 lakh: Authority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5" name="Text 45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6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5"/>
          <a:srcRect t="46000" b="45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33CE42F-56C6-45D2-886D-99B31FFA3DB0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Six groups cover the core file. Each sub-component adds its prescribed formats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Appraisal / loan or relevant financial evidence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Engineer-certified BOQ and project drawing / layout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1" name="Text 51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52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4"/>
          <a:srcRect t="74000" b="17755" l="3000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048403-0520-4792-96F0-A48C576D9144}"/>
              </a:ext>
            </a:extLst>
          </p:cNvPr>
          <p:cNvSpPr>
            <a:spLocks noGrp="1"/>
          </p:cNvSpPr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1400" b="0">
                <a:solidFill>
                  <a:srgbClr val="5C6A60"/>
                </a:solidFill>
                <a:latin typeface="Cambria"/>
                <a:ea typeface="Cambria"/>
                <a:cs typeface="Cambria"/>
              </a:defRPr>
            </a:pPr>
            <a:r>
              <a:rPr sz="1400" b="0" i="1">
                <a:solidFill>
                  <a:srgbClr val="5C6A60"/>
                </a:solidFill>
                <a:latin typeface="Cambria"/>
                <a:ea typeface="Cambria"/>
                <a:cs typeface="Cambria"/>
              </a:rPr>
              <a:t>Standard exporter assistance reimburses approved eligible cost after completion and verification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/ UDIN, invoices, bank payments and completion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3 years or until performance, whichever is later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17608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Retain assets. No sale / transfer. Recovery for breach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3" name="Text 63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64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685800" y="731520"/>
            <a:ext cx="10607040" cy="8229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4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4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2960" y="3246120"/>
            <a:ext cx="4014216" cy="1344168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486400" y="2377440"/>
            <a:ext cx="0" cy="3291840"/>
          </a:xfrm>
          <a:prstGeom prst="line">
            <a:avLst/>
          </a:prstGeom>
          <a:noFill/>
          <a:ln w="1905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943600" y="2468880"/>
            <a:ext cx="53035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20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943600" y="2971800"/>
            <a:ext cx="5303520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943600" y="3794760"/>
            <a:ext cx="5303520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defRPr sz="13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D8651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943600" y="4754880"/>
            <a:ext cx="53035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3036</Words>
  <Application>Microsoft Office PowerPoint</Application>
  <DocSecurity>0</DocSecurity>
  <PresentationFormat>Widescreen</PresentationFormat>
  <Paragraphs>273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</cp:revision>
  <dcterms:created xsi:type="dcterms:W3CDTF">2026-10-13T08:41:00Z</dcterms:created>
  <dcterms:modified xsi:type="dcterms:W3CDTF">2026-10-13T09:47:43Z</dcterms:modified>
</cp:coreProperties>
</file>