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8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v>Share of eligible cost</c:v>
          </c:tx>
          <c:dPt>
            <c:idx val="0"/>
            <c:bubble3D val="0"/>
            <c:spPr>
              <a:solidFill>
                <a:srgbClr val="2D8651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EB7D-4DCD-B4BB-9F1EAF9C5F61}"/>
              </c:ext>
            </c:extLst>
          </c:dPt>
          <c:dPt>
            <c:idx val="1"/>
            <c:bubble3D val="0"/>
            <c:spPr>
              <a:solidFill>
                <a:srgbClr val="EEF4EC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EB7D-4DCD-B4BB-9F1EAF9C5F61}"/>
              </c:ext>
            </c:extLst>
          </c:dPt>
          <c:cat>
            <c:strLit>
              <c:ptCount val="2"/>
              <c:pt idx="0">
                <c:v>APEDA assistance</c:v>
              </c:pt>
              <c:pt idx="1">
                <c:v>Balance financing</c:v>
              </c:pt>
            </c:strLit>
          </c:cat>
          <c:val>
            <c:numLit>
              <c:formatCode>0%</c:formatCode>
              <c:ptCount val="2"/>
              <c:pt idx="0">
                <c:v>0.4</c:v>
              </c:pt>
              <c:pt idx="1">
                <c:v>0.6</c:v>
              </c:pt>
            </c:numLit>
          </c:val>
          <c:extLst>
            <c:ext xmlns:c16="http://schemas.microsoft.com/office/drawing/2014/chart" uri="{C3380CC4-5D6E-409C-BE32-E72D297353CC}">
              <c16:uniqueId val="{00000004-EB7D-4DCD-B4BB-9F1EAF9C5F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270"/>
        <c:holeSize val="72"/>
      </c:doughnutChart>
      <c:spPr>
        <a:noFill/>
        <a:ln w="0">
          <a:noFill/>
          <a:prstDash val="solid"/>
        </a:ln>
      </c:spPr>
    </c:plotArea>
    <c:plotVisOnly val="1"/>
    <c:dispBlanksAs val="zero"/>
    <c:showDLblsOverMax val="1"/>
  </c:chart>
  <c:spPr>
    <a:noFill/>
    <a:ln w="0">
      <a:noFill/>
      <a:prstDash val="solid"/>
    </a:ln>
  </c:spPr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guidelines pp. 1–4. Krishika logo from supplied UP presentation. Cover and facility photographs are AI-generated illustrative assets, not records of an actual funded project. Native text and policy diagrams remain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4–8,16–19,29–31,35–36. Standard applicant route is the presentation's primary focus. Percentages are assistance up to the stated rate, subject to eligible cost, component ceilings, approval and funds.</a:t>
            </a:r>
          </a:p>
          <a:p>
            <a:r>
              <a:t>Component-specific eligibility matters. FPO/PACS, SC/ST, women and startups may qualify for higher rates, briefly mentioned on slide 3. SC/ST entity conditions: proprietor or ≥51% qualifying ownership, entity/holding history ≥1 year. Women category: woman proprietor, or all partners/directors/promoters women, wholly owned/managed for ≥1 year. Startup: RCMC + DPIIT certificate, 2–5 years, annual turnover ≤₹500 lakh. Organic applicants require NPOP certification/registration. APEDA-implemented ecosystem activities include standards/NRL, technology development, fairs/BSMs, market intelligence, protocols, internationalisation and grant administration.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7–11,35. Standard applicant route is the presentation's primary focus. Percentages are assistance up to the stated rate, subject to eligible cost, component ceilings, approval and funds.</a:t>
            </a:r>
          </a:p>
          <a:p>
            <a:r>
              <a:t>Specified regions: North-Eastern States, Ladakh, J&amp;K, Andaman &amp; Nicobar and Lakshadweep. Higher rates also apply to eligible FPO/PACS, SC/ST, women and startups across India unless a different component rate is specified. Monetary ceilings remain unchanged. The standard 40% share illustration is before ceilings and fee deductions; it does not imply an automatic entitlement. Public common-facility assistance under 1(e)/(f): up to 90%, caps ₹600 lakh new and ₹200 lakh upgrade, restricted regions, government/public institutions; detailed MoU, 40/40/20 instalments and 50% BG requirements are secondary to the standard exporter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9–10,36. Standard applicant route is the presentation's primary focus. Percentages are assistance up to the stated rate, subject to eligible cost, component ceilings, approval and funds.</a:t>
            </a:r>
          </a:p>
          <a:p>
            <a:r>
              <a:t>Cleaning/washing/grading assistance is limited to fresh fruits and vegetables, floriculture and fruit/vegetable seeds. Land in applicant’s name or registered lease valid for 15 years at application. CLU and landowner NOC where applicable. Packhouses follow NCCD/MIDH minimum cold-chain standards and importing-country requirements. Technical civil BOQ certified by engineer/architect. Photograph is conceptual illustrative artwork.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7–11,30,33. Standard applicant route is the presentation's primary focus. Percentages are assistance up to the stated rate, subject to eligible cost, component ceilings, approval and funds.</a:t>
            </a:r>
          </a:p>
          <a:p>
            <a:r>
              <a:t>Cold storage is part of integrated facilities, not an additional independent cap. Combined ceiling ₹300 lakh for 1(a)–1(d). Merchant exporter vehicle limit 2 per plan, manufacturer 5. Missing-gap line already established (manual facilities needing mechanisation can qualify), HACCP/ISO 22000 in place, quality/productivity equipment not an integral line item. Trial shipment base 50%, cap ₹10 lakh; higher rate in overview for special categories differs from detailed clause and should be clarified.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9–11,35–36. Standard applicant route is the presentation's primary focus. Percentages are assistance up to the stated rate, subject to eligible cost, component ceilings, approval and funds.</a:t>
            </a:r>
          </a:p>
          <a:p>
            <a:r>
              <a:t>Exceptions to three quotes: sole manufacturer, imports or government procurement rules need declaration; 1(e)/(f) excluded. Quotes identify supplier address/GSTN/TIN/PAN, specifications, validity and itemised costs. No duplicate funding for same project/components, disclose other grant applications/support. CLU and landowner NOC as applicable. Existing HACCP/ISO 22000 must have prescribed accreditation. FSSAI and other regulatory permissions 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16–18,20–25. Standard applicant route is the presentation's primary focus. Percentages are assistance up to the stated rate, subject to eligible cost, component ceilings, approval and funds.</a:t>
            </a:r>
          </a:p>
          <a:p>
            <a:r>
              <a:t>Certification FSMS for own manufacturing, sustainability for manufacturing/production, ISO 9001 also merchant. Recognised/IAF-accredited bodies as applicable, separate application per certification, Annexure III fees. Packaging CAP/MAP/active, HACCP/ISO 22000 required. Lab testing is mandatory importing-country or notified APEDA traceability/monitoring. RCMC manufacturers/producers and NPOP operators. NPOP high-risk exports need Transaction Certificate on Trace.Net. NPOP 2% sampling reimbursable, CB-funded 5% sampling excluded. Recognised lab upgrades: APEDA recognition + NABL ISO 17025, equipment/eligible CRM. In-house lab eligible RCMC/NPOP. Higher special-category rates not the main route here. Photo is illustrative artwork.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18–19,21–22,24–28,35. Standard applicant route is the presentation's primary focus. Percentages are assistance up to the stated rate, subject to eligible cost, component ceilings, approval and funds.</a:t>
            </a:r>
          </a:p>
          <a:p>
            <a:r>
              <a:t>Startup definition: RCMC + DPIIT, 2–5 years existence, turnover ≤₹500 lakh. BHARATI cohort indicative 10–20 per plan, export linkage/scalability and performance monitoring. ToT restricted to Central/State government institutions with competence and IPA. Workshop specific conditions exclude merchant exporters. Courses up to 1 month; training table includes travel+fee but detailed conditions only course/participation fee. ToT higher rate differs between table and detailed conditions. Imported material institutions rate up to90%; exporter60%, ₹50 lakh/product/plan, applicant handles import/royalty. Confirm differences with APEDA.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30–34. Standard applicant route is the presentation's primary focus. Percentages are assistance up to the stated rate, subject to eligible cost, component ceilings, approval and funds.</a:t>
            </a:r>
          </a:p>
          <a:p>
            <a:r>
              <a:t>Retail support restricted to FPOs, women-led enterprises, SC/ST exporters and startups. Special75% rates appear in component tables for studies/trials/IPR/GI while detailed trial/IPR/GI clauses list50%; confirm applicable approved rate. Study higher-category list also institutions/Indian missions/trade associations/organic. APEDA-led fairs/BSMs/ODOP/GI/organic promotion separate APEDA-implemented activity with preference new participants.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33–34,36. Standard applicant route is the presentation's primary focus. Percentages are assistance up to the stated rate, subject to eligible cost, component ceilings, approval and funds.</a:t>
            </a:r>
          </a:p>
          <a:p>
            <a:r>
              <a:t>Retail fees are one-time initial onboarding / shelf-placement fees. Chain must operate in at least one foreign country. GI proposal includes market rationale, competitors, export projections and activity-wise budget. Routine business costs and domestic promotion excluded. Trial advisor may be ICAR, research institution/university or qualified expert; proposal follows APEDA priorities.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35–41. Standard applicant route is the presentation's primary focus. Percentages are assistance up to the stated rate, subject to eligible cost, component ceilings, approval and funds.</a:t>
            </a:r>
          </a:p>
          <a:p>
            <a:r>
              <a:t>Oversight Committee receives TC recommended applications for information. Technical/financial viability, designated applicant categories and pre-inspection may affect acceptance. Authority threshold is project cost over₹250 lakh, not grant. IPA required all components except lab testing5. Amendments within IPA validity; extension case-by-case. Claims and verification before disbursement, budget dependent.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9–14,25–27,33–36,38,42–65. Standard applicant route is the presentation's primary focus. Percentages are assistance up to the stated rate, subject to eligible cost, component ceilings, approval and funds.</a:t>
            </a:r>
          </a:p>
          <a:p>
            <a:r>
              <a:t>Annexure I DPR and engineer forms, III certification fees, VIII training, IV testing linkage, VI CA claim, VII asset bond, IX ToT CA certificate and X NPOP2% procedures. Claim additions: invoices, highlighted bank debits, CA/UDIN/registration, ₹100 notarised indemnity bond, installation certificate, import Bill of Entry, prescribed APEDA asset marking, certificates/reports and Aadhaar as applicable. Public facilities require2 years audited statements and prescribed project appraisal, separate bank account, MoU conditions.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35–41,59–63,66–80. Standard applicant route is the presentation's primary focus. Percentages are assistance up to the stated rate, subject to eligible cost, component ceilings, approval and funds.</a:t>
            </a:r>
          </a:p>
          <a:p>
            <a:r>
              <a:t>25% infrastructure BG renewed annually; release after request, GST returns and performance verification. Special-category annual undertakings3 years, ownership/control plan or3 years post-disbursement whichever longer. FSSAI/regulatory requirements and RCMC ownership/location updates apply. Paint original APEDA logo plus Assisted by APEDA; stickers excluded. NPOP2% grower sampling claim through CB: recognised organic lab, payment/sampling/test evidence, counter samples retained≥6 months. CB-funded5% testing excluded. AnnexureVII5-year asset bond specifies12% recovery interest while general clauses use GFR norms. No right to carry claims beyond plan, subject scheme continuation/funds. Public1e/f40/40/20 releases and50% BG are a separate route, briefly mentioned on slide3.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Krishika brand and contact details from supplied UP presentation, retained as authorised by the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B678D5C-ED70-427E-B382-3735C2CE4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6D35700-6373-42CC-B070-5FC560BEDA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A262CFBF-E634-40A4-9A8B-E3A05F46C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B876E-1EAE-4203-B08A-6567BFD7D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F2FFE9D-B1E0-4D07-A19E-3456B54C36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94563C9B-709D-4344-A22B-3902E8D7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F2B2BB1-F72E-474B-972D-41AF9016B3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537E84F1-D53B-4A51-B7A1-FC339EE6299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F258F7-051D-449F-A62E-1F59D4CDF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0C86897-FA37-4922-A4E8-A6484940E8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9A278C6-2F95-45D2-8BFC-32C700F9B0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AC9425B-40DF-4D86-A7B6-CA1C7C194F8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91625" cy="6858000"/>
          </a:xfrm>
          <a:prstGeom prst="rect">
            <a:avLst/>
          </a:prstGeom>
          <a:gradFill>
            <a:gsLst>
              <a:gs pos="0">
                <a:srgbClr val="FFFFFF"/>
              </a:gs>
              <a:gs pos="63000">
                <a:srgbClr val="FFFFFF">
                  <a:alpha val="95000"/>
                </a:srgbClr>
              </a:gs>
              <a:gs pos="100000">
                <a:srgbClr val="FFFFFF">
                  <a:alpha val="0"/>
                </a:srgbClr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1CF1DB-DE52-4F08-A2F2-10A8D7B3CE7C}"/>
              </a:ext>
            </a:extLst>
          </p:cNvPr>
          <p:cNvSpPr>
            <a:spLocks noGrp="1"/>
          </p:cNvSpPr>
          <p:nvPr/>
        </p:nvSpPr>
        <p:spPr>
          <a:xfrm>
            <a:off x="8477250" y="0"/>
            <a:ext cx="3714750" cy="1619250"/>
          </a:xfrm>
          <a:prstGeom prst="rect">
            <a:avLst/>
          </a:prstGeom>
          <a:gradFill>
            <a:gsLst>
              <a:gs pos="0">
                <a:srgbClr val="FFFFFF">
                  <a:alpha val="95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858B46-39E0-4E90-AF27-69ABA0630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077325" y="306203"/>
            <a:ext cx="2600325" cy="87349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03EE0E8-0177-4FBE-9A1F-2E2A0F82AE93}"/>
              </a:ext>
            </a:extLst>
          </p:cNvPr>
          <p:cNvSpPr>
            <a:spLocks noGrp="1"/>
          </p:cNvSpPr>
          <p:nvPr/>
        </p:nvSpPr>
        <p:spPr>
          <a:xfrm>
            <a:off x="548640" y="1417320"/>
            <a:ext cx="5669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2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APEDA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A6893-B026-4288-8FCE-62ACCD4E1400}"/>
              </a:ext>
            </a:extLst>
          </p:cNvPr>
          <p:cNvSpPr>
            <a:spLocks noGrp="1"/>
          </p:cNvSpPr>
          <p:nvPr/>
        </p:nvSpPr>
        <p:spPr>
          <a:xfrm>
            <a:off x="548640" y="1965960"/>
            <a:ext cx="6766560" cy="1234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6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6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Bharat Krishi</a:t>
            </a:r>
          </a:p>
          <a:p>
            <a:pPr algn="l">
              <a:defRPr sz="36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Niryat Yojana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486676-31DE-4A71-806F-1F50D224E090}"/>
              </a:ext>
            </a:extLst>
          </p:cNvPr>
          <p:cNvSpPr>
            <a:spLocks noGrp="1"/>
          </p:cNvSpPr>
          <p:nvPr/>
        </p:nvSpPr>
        <p:spPr>
          <a:xfrm>
            <a:off x="566928" y="3429000"/>
            <a:ext cx="649224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Financial Assistance Guidelines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950208"/>
            <a:ext cx="2651760" cy="438912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6E2C60-4811-4315-B523-0E73176E5C1F}"/>
              </a:ext>
            </a:extLst>
          </p:cNvPr>
          <p:cNvSpPr>
            <a:spLocks noGrp="1"/>
          </p:cNvSpPr>
          <p:nvPr/>
        </p:nvSpPr>
        <p:spPr>
          <a:xfrm>
            <a:off x="566928" y="3950208"/>
            <a:ext cx="2651760" cy="43891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2026–27 to 2030–31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2BADDD-4C73-466A-A754-9346A8B496C8}"/>
              </a:ext>
            </a:extLst>
          </p:cNvPr>
          <p:cNvSpPr>
            <a:spLocks noGrp="1"/>
          </p:cNvSpPr>
          <p:nvPr/>
        </p:nvSpPr>
        <p:spPr>
          <a:xfrm>
            <a:off x="566928" y="4617720"/>
            <a:ext cx="61264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Export infrastructure and support for registered exporters</a:t>
            </a:r>
          </a:p>
        </p:txBody>
      </p:sp>
    </p:spTree>
    <p:extLst>
      <p:ext uri="{BB962C8B-B14F-4D97-AF65-F5344CB8AC3E}">
        <p14:creationId xmlns:p14="http://schemas.microsoft.com/office/powerpoint/2010/main" val="1527007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48640" y="1508760"/>
            <a:ext cx="3514344" cy="2788920"/>
          </a:xfrm>
          <a:prstGeom prst="roundRect">
            <a:avLst>
              <a:gd name="adj" fmla="val 1967"/>
            </a:avLst>
          </a:prstGeom>
          <a:solidFill>
            <a:srgbClr val="FFFFFF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337304" y="1508760"/>
            <a:ext cx="3514344" cy="2788920"/>
          </a:xfrm>
          <a:prstGeom prst="roundRect">
            <a:avLst>
              <a:gd name="adj" fmla="val 1967"/>
            </a:avLst>
          </a:prstGeom>
          <a:solidFill>
            <a:srgbClr val="FFFFFF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25968" y="1508760"/>
            <a:ext cx="3514344" cy="2788920"/>
          </a:xfrm>
          <a:prstGeom prst="roundRect">
            <a:avLst>
              <a:gd name="adj" fmla="val 1967"/>
            </a:avLst>
          </a:prstGeom>
          <a:solidFill>
            <a:srgbClr val="FFFFFF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48640" y="4572000"/>
            <a:ext cx="11091672" cy="1508760"/>
          </a:xfrm>
          <a:prstGeom prst="roundRect">
            <a:avLst>
              <a:gd name="adj" fmla="val 3636"/>
            </a:avLst>
          </a:prstGeom>
          <a:solidFill>
            <a:srgbClr val="174F35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CEC2E5-3187-4519-97CE-C0CE3312AA76}"/>
              </a:ext>
            </a:extLst>
          </p:cNvPr>
          <p:cNvSpPr>
            <a:spLocks noGrp="1"/>
          </p:cNvSpPr>
          <p:nvPr/>
        </p:nvSpPr>
        <p:spPr>
          <a:xfrm>
            <a:off x="1417320" y="164592"/>
            <a:ext cx="102412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Eligibility and support areas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47D1D06-4846-4BAE-9717-B1345BFA6A2C}"/>
              </a:ext>
            </a:extLst>
          </p:cNvPr>
          <p:cNvSpPr>
            <a:spLocks noGrp="1"/>
          </p:cNvSpPr>
          <p:nvPr/>
        </p:nvSpPr>
        <p:spPr>
          <a:xfrm>
            <a:off x="548640" y="103327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APEDA scheduled products and NPOP-certified organic products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836760-3C26-48D6-888E-7189427B638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0" t="390" r="83853" b="75390"/>
          <a:stretch/>
        </p:blipFill>
        <p:spPr>
          <a:xfrm>
            <a:off x="1757172" y="1691640"/>
            <a:ext cx="1097280" cy="109728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635A8A-C517-43A6-A774-42CD1A746309}"/>
              </a:ext>
            </a:extLst>
          </p:cNvPr>
          <p:cNvSpPr>
            <a:spLocks noGrp="1"/>
          </p:cNvSpPr>
          <p:nvPr/>
        </p:nvSpPr>
        <p:spPr>
          <a:xfrm>
            <a:off x="822960" y="2926080"/>
            <a:ext cx="296570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b="1" sz="1700">
                <a:solidFill>
                  <a:srgbClr val="174F35"/>
                </a:solidFill>
                <a:latin typeface="Arial"/>
                <a:ea typeface="Arial"/>
                <a:cs typeface="Arial"/>
              </a:rPr>
              <a:t>Export infrastructure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31A380-F927-4BF8-8403-244A0D17D7FA}"/>
              </a:ext>
            </a:extLst>
          </p:cNvPr>
          <p:cNvSpPr>
            <a:spLocks noGrp="1"/>
          </p:cNvSpPr>
          <p:nvPr/>
        </p:nvSpPr>
        <p:spPr>
          <a:xfrm>
            <a:off x="822960" y="3364992"/>
            <a:ext cx="2965704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Packhouses, cold chain and facilities that close processing gaps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98674A-A337-4FEF-948A-5F533A1C29F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520" t="390" r="33853" b="75390"/>
          <a:stretch/>
        </p:blipFill>
        <p:spPr>
          <a:xfrm>
            <a:off x="5545836" y="1691640"/>
            <a:ext cx="1097280" cy="10972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92B0F91-7AAF-404A-B876-78EA1554FF52}"/>
              </a:ext>
            </a:extLst>
          </p:cNvPr>
          <p:cNvSpPr>
            <a:spLocks noGrp="1"/>
          </p:cNvSpPr>
          <p:nvPr/>
        </p:nvSpPr>
        <p:spPr>
          <a:xfrm>
            <a:off x="4611624" y="2926080"/>
            <a:ext cx="296570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b="1" sz="1700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development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57D108-FB28-4FEA-80AC-3D293D0C3364}"/>
              </a:ext>
            </a:extLst>
          </p:cNvPr>
          <p:cNvSpPr>
            <a:spLocks noGrp="1"/>
          </p:cNvSpPr>
          <p:nvPr/>
        </p:nvSpPr>
        <p:spPr>
          <a:xfrm>
            <a:off x="4611624" y="3364992"/>
            <a:ext cx="2965704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Certification, packaging, testing, laboratories and technology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036158F-EDB9-436C-8A92-A1F03FA578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520" t="25390" r="33853" b="50390"/>
          <a:stretch/>
        </p:blipFill>
        <p:spPr>
          <a:xfrm>
            <a:off x="9334500" y="1691640"/>
            <a:ext cx="1097280" cy="109728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6BDDD11-5581-4211-ACBE-C60D9FC7C81D}"/>
              </a:ext>
            </a:extLst>
          </p:cNvPr>
          <p:cNvSpPr>
            <a:spLocks noGrp="1"/>
          </p:cNvSpPr>
          <p:nvPr/>
        </p:nvSpPr>
        <p:spPr>
          <a:xfrm>
            <a:off x="8400288" y="2926080"/>
            <a:ext cx="296570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b="1" sz="1700">
                <a:solidFill>
                  <a:srgbClr val="174F35"/>
                </a:solidFill>
                <a:latin typeface="Arial"/>
                <a:ea typeface="Arial"/>
                <a:cs typeface="Arial"/>
              </a:rPr>
              <a:t>Market development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DA512CC-6DB7-4EC8-AB65-AE9A2FB754E8}"/>
              </a:ext>
            </a:extLst>
          </p:cNvPr>
          <p:cNvSpPr>
            <a:spLocks noGrp="1"/>
          </p:cNvSpPr>
          <p:nvPr/>
        </p:nvSpPr>
        <p:spPr>
          <a:xfrm>
            <a:off x="8400288" y="3364992"/>
            <a:ext cx="2965704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markets, overseas brands, retail access and GI promotion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E00165-AA6E-43FE-B4D7-EE8FEFB18666}"/>
              </a:ext>
            </a:extLst>
          </p:cNvPr>
          <p:cNvSpPr>
            <a:spLocks noGrp="1"/>
          </p:cNvSpPr>
          <p:nvPr/>
        </p:nvSpPr>
        <p:spPr>
          <a:xfrm>
            <a:off x="868680" y="4572000"/>
            <a:ext cx="2965704" cy="1508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b="1" sz="2200">
                <a:solidFill>
                  <a:srgbClr val="FFFFFF"/>
                </a:solidFill>
                <a:latin typeface="Arial"/>
                <a:ea typeface="Arial"/>
                <a:cs typeface="Arial"/>
              </a:rPr>
              <a:t>Who can apply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2743F7-2B07-452E-A711-FA6A5D30FEA7}"/>
              </a:ext>
            </a:extLst>
          </p:cNvPr>
          <p:cNvSpPr>
            <a:spLocks noGrp="1"/>
          </p:cNvSpPr>
          <p:nvPr/>
        </p:nvSpPr>
        <p:spPr>
          <a:xfrm>
            <a:off x="4474464" y="4846320"/>
            <a:ext cx="314858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APEDA RCMC exporters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3E3CD76-07C6-4E21-98F0-24B98C5544D7}"/>
              </a:ext>
            </a:extLst>
          </p:cNvPr>
          <p:cNvSpPr>
            <a:spLocks noGrp="1"/>
          </p:cNvSpPr>
          <p:nvPr/>
        </p:nvSpPr>
        <p:spPr>
          <a:xfrm>
            <a:off x="4474464" y="5212080"/>
            <a:ext cx="314858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Manufacturers, producers and eligible merchant exporters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E3D8C9E-E1B0-4C9E-AB11-BB30AE30877E}"/>
              </a:ext>
            </a:extLst>
          </p:cNvPr>
          <p:cNvSpPr>
            <a:spLocks noGrp="1"/>
          </p:cNvSpPr>
          <p:nvPr/>
        </p:nvSpPr>
        <p:spPr>
          <a:xfrm>
            <a:off x="8263128" y="4846320"/>
            <a:ext cx="314858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Other eligible applicants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83C228-8EAF-43BC-9E1C-3799624D1D8F}"/>
              </a:ext>
            </a:extLst>
          </p:cNvPr>
          <p:cNvSpPr>
            <a:spLocks noGrp="1"/>
          </p:cNvSpPr>
          <p:nvPr/>
        </p:nvSpPr>
        <p:spPr>
          <a:xfrm>
            <a:off x="8263128" y="5212080"/>
            <a:ext cx="314858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NPOP operators, FPOs / PACS, listed labs and institutions</a:t>
            </a:r>
          </a:p>
        </p:txBody>
      </p:sp>
      <p:sp>
        <p:nvSpPr>
          <p:cNvPr id="25" name="Pentagon 24"/>
          <p:cNvSpPr/>
          <p:nvPr/>
        </p:nvSpPr>
        <p:spPr>
          <a:xfrm>
            <a:off x="0" y="237744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3B8DF92-D13B-4FD9-AA12-27928C4B1485}"/>
              </a:ext>
            </a:extLst>
          </p:cNvPr>
          <p:cNvSpPr>
            <a:spLocks noGrp="1"/>
          </p:cNvSpPr>
          <p:nvPr/>
        </p:nvSpPr>
        <p:spPr>
          <a:xfrm>
            <a:off x="384048" y="237744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200144" y="4846320"/>
            <a:ext cx="0" cy="960120"/>
          </a:xfrm>
          <a:prstGeom prst="line">
            <a:avLst/>
          </a:prstGeom>
          <a:ln w="12700">
            <a:solidFill>
              <a:srgbClr val="3F7258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7988808" y="4846320"/>
            <a:ext cx="0" cy="960120"/>
          </a:xfrm>
          <a:prstGeom prst="line">
            <a:avLst/>
          </a:prstGeom>
          <a:ln w="12700">
            <a:solidFill>
              <a:srgbClr val="3F7258"/>
            </a:solidFill>
          </a:ln>
        </p:spPr>
      </p:cxnSp>
    </p:spTree>
    <p:extLst>
      <p:ext uri="{BB962C8B-B14F-4D97-AF65-F5344CB8AC3E}">
        <p14:creationId xmlns:p14="http://schemas.microsoft.com/office/powerpoint/2010/main" val="2128204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48640" y="1508760"/>
            <a:ext cx="3246120" cy="434340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069080" y="2834640"/>
            <a:ext cx="1097280" cy="109728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623560" y="1508760"/>
            <a:ext cx="6016752" cy="4343400"/>
          </a:xfrm>
          <a:prstGeom prst="roundRect">
            <a:avLst>
              <a:gd name="adj" fmla="val 1263"/>
            </a:avLst>
          </a:prstGeom>
          <a:solidFill>
            <a:srgbClr val="FFFFFF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DDE0E75-7FD9-4E28-AF26-633D273D1CAA}"/>
              </a:ext>
            </a:extLst>
          </p:cNvPr>
          <p:cNvSpPr>
            <a:spLocks noGrp="1"/>
          </p:cNvSpPr>
          <p:nvPr/>
        </p:nvSpPr>
        <p:spPr>
          <a:xfrm>
            <a:off x="1417320" y="164592"/>
            <a:ext cx="102412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 assistance for export infrastructure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7695CAB-8A6D-4862-8312-69926A4C6BB2}"/>
              </a:ext>
            </a:extLst>
          </p:cNvPr>
          <p:cNvSpPr>
            <a:spLocks noGrp="1"/>
          </p:cNvSpPr>
          <p:nvPr/>
        </p:nvSpPr>
        <p:spPr>
          <a:xfrm>
            <a:off x="548640" y="103327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Standard route for projects in other states and ordinary beneficiary categories</a:t>
            </a:r>
          </a:p>
        </p:txBody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77AD06A9-C26E-44DA-8BE5-04C6ECEEBD78}"/>
              </a:ext>
            </a:extLst>
          </p:cNvPr>
          <p:cNvGraphicFramePr/>
          <p:nvPr/>
        </p:nvGraphicFramePr>
        <p:xfrm>
          <a:off x="822960" y="1691640"/>
          <a:ext cx="2697480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563AADA8-5F41-40CD-9E58-1D46D5002E0F}"/>
              </a:ext>
            </a:extLst>
          </p:cNvPr>
          <p:cNvSpPr>
            <a:spLocks noGrp="1"/>
          </p:cNvSpPr>
          <p:nvPr/>
        </p:nvSpPr>
        <p:spPr>
          <a:xfrm>
            <a:off x="1252728" y="2734056"/>
            <a:ext cx="1828800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023D79-1285-4EF9-BB04-408D824AA9AA}"/>
              </a:ext>
            </a:extLst>
          </p:cNvPr>
          <p:cNvSpPr>
            <a:spLocks noGrp="1"/>
          </p:cNvSpPr>
          <p:nvPr/>
        </p:nvSpPr>
        <p:spPr>
          <a:xfrm>
            <a:off x="731520" y="4526280"/>
            <a:ext cx="288036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of eligible cost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3DDAEE-3ADA-407D-95EB-DC34EAAAA9C5}"/>
              </a:ext>
            </a:extLst>
          </p:cNvPr>
          <p:cNvSpPr>
            <a:spLocks noGrp="1"/>
          </p:cNvSpPr>
          <p:nvPr/>
        </p:nvSpPr>
        <p:spPr>
          <a:xfrm>
            <a:off x="731520" y="4937760"/>
            <a:ext cx="2880360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Balance financing</a:t>
            </a:r>
          </a:p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from own / bank funds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648781C-D9C3-4064-BD70-68131BBCBED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25390" r="520" b="50390"/>
          <a:stretch/>
        </p:blipFill>
        <p:spPr>
          <a:xfrm>
            <a:off x="4206240" y="2971800"/>
            <a:ext cx="822960" cy="822960"/>
          </a:xfrm>
          <a:prstGeom prst="rect">
            <a:avLst/>
          </a:prstGeom>
        </p:spPr>
      </p:pic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C39BB97E-71DD-49F0-9200-EDEC939B1677}"/>
              </a:ext>
            </a:extLst>
          </p:cNvPr>
          <p:cNvSpPr>
            <a:spLocks noGrp="1"/>
          </p:cNvSpPr>
          <p:nvPr/>
        </p:nvSpPr>
        <p:spPr>
          <a:xfrm flipV="1">
            <a:off x="5138928" y="2020824"/>
            <a:ext cx="265176" cy="1362456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0F6A701-90D8-4585-BF28-1E8B37E141B9}"/>
              </a:ext>
            </a:extLst>
          </p:cNvPr>
          <p:cNvSpPr>
            <a:spLocks noGrp="1"/>
          </p:cNvSpPr>
          <p:nvPr/>
        </p:nvSpPr>
        <p:spPr>
          <a:xfrm>
            <a:off x="5404104" y="1938528"/>
            <a:ext cx="164592" cy="164592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E1FB9A-457A-442A-8BBC-4981B58242BA}"/>
              </a:ext>
            </a:extLst>
          </p:cNvPr>
          <p:cNvSpPr>
            <a:spLocks noGrp="1"/>
          </p:cNvSpPr>
          <p:nvPr/>
        </p:nvSpPr>
        <p:spPr>
          <a:xfrm>
            <a:off x="5897880" y="1801368"/>
            <a:ext cx="192024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9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9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₹250 lakh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741BA38-5E68-42C1-8336-EBC4B2C3A267}"/>
              </a:ext>
            </a:extLst>
          </p:cNvPr>
          <p:cNvSpPr>
            <a:spLocks noGrp="1"/>
          </p:cNvSpPr>
          <p:nvPr/>
        </p:nvSpPr>
        <p:spPr>
          <a:xfrm>
            <a:off x="7863840" y="1801368"/>
            <a:ext cx="361188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integrated packhouse / facility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D4B731EF-EEDD-4497-9A81-2F6762126E2E}"/>
              </a:ext>
            </a:extLst>
          </p:cNvPr>
          <p:cNvSpPr>
            <a:spLocks noGrp="1"/>
          </p:cNvSpPr>
          <p:nvPr/>
        </p:nvSpPr>
        <p:spPr>
          <a:xfrm flipV="1">
            <a:off x="5138928" y="2798064"/>
            <a:ext cx="265176" cy="585216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BF157B8-C84E-4F7B-A496-74A670068288}"/>
              </a:ext>
            </a:extLst>
          </p:cNvPr>
          <p:cNvSpPr>
            <a:spLocks noGrp="1"/>
          </p:cNvSpPr>
          <p:nvPr/>
        </p:nvSpPr>
        <p:spPr>
          <a:xfrm>
            <a:off x="5404104" y="2715768"/>
            <a:ext cx="164592" cy="164592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076044-17EE-4841-8895-6DE803D55E31}"/>
              </a:ext>
            </a:extLst>
          </p:cNvPr>
          <p:cNvSpPr>
            <a:spLocks noGrp="1"/>
          </p:cNvSpPr>
          <p:nvPr/>
        </p:nvSpPr>
        <p:spPr>
          <a:xfrm>
            <a:off x="5897880" y="2578608"/>
            <a:ext cx="192024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9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9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98B015-293E-4BEB-A4A7-041D9E3B5110}"/>
              </a:ext>
            </a:extLst>
          </p:cNvPr>
          <p:cNvSpPr>
            <a:spLocks noGrp="1"/>
          </p:cNvSpPr>
          <p:nvPr/>
        </p:nvSpPr>
        <p:spPr>
          <a:xfrm>
            <a:off x="7863840" y="2578608"/>
            <a:ext cx="361188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Upgrade or expansion of 1(a)</a:t>
            </a: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EEA2718B-54A1-46E5-B02D-25A3FC29E068}"/>
              </a:ext>
            </a:extLst>
          </p:cNvPr>
          <p:cNvSpPr>
            <a:spLocks noGrp="1"/>
          </p:cNvSpPr>
          <p:nvPr/>
        </p:nvSpPr>
        <p:spPr>
          <a:xfrm>
            <a:off x="5138928" y="3383280"/>
            <a:ext cx="265176" cy="192024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8A604D-21DE-4BC0-AD99-73E589FA8FF7}"/>
              </a:ext>
            </a:extLst>
          </p:cNvPr>
          <p:cNvSpPr>
            <a:spLocks noGrp="1"/>
          </p:cNvSpPr>
          <p:nvPr/>
        </p:nvSpPr>
        <p:spPr>
          <a:xfrm>
            <a:off x="5404104" y="3493008"/>
            <a:ext cx="164592" cy="164592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58214-D312-4E0D-A9DB-0831B2303CC6}"/>
              </a:ext>
            </a:extLst>
          </p:cNvPr>
          <p:cNvSpPr>
            <a:spLocks noGrp="1"/>
          </p:cNvSpPr>
          <p:nvPr/>
        </p:nvSpPr>
        <p:spPr>
          <a:xfrm>
            <a:off x="5897880" y="3355848"/>
            <a:ext cx="192024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9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9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B662D24-091B-40FF-9578-CC1043390451}"/>
              </a:ext>
            </a:extLst>
          </p:cNvPr>
          <p:cNvSpPr>
            <a:spLocks noGrp="1"/>
          </p:cNvSpPr>
          <p:nvPr/>
        </p:nvSpPr>
        <p:spPr>
          <a:xfrm>
            <a:off x="7863840" y="3355848"/>
            <a:ext cx="361188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Processing gaps in an existing line</a:t>
            </a: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DA3C9D45-54C0-40EA-A5A1-7C9E31D780E3}"/>
              </a:ext>
            </a:extLst>
          </p:cNvPr>
          <p:cNvSpPr>
            <a:spLocks noGrp="1"/>
          </p:cNvSpPr>
          <p:nvPr/>
        </p:nvSpPr>
        <p:spPr>
          <a:xfrm>
            <a:off x="5138928" y="3383280"/>
            <a:ext cx="265176" cy="969264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92AD6C9-E5E4-4823-8631-B2DF325C562D}"/>
              </a:ext>
            </a:extLst>
          </p:cNvPr>
          <p:cNvSpPr>
            <a:spLocks noGrp="1"/>
          </p:cNvSpPr>
          <p:nvPr/>
        </p:nvSpPr>
        <p:spPr>
          <a:xfrm>
            <a:off x="5404104" y="4270248"/>
            <a:ext cx="164592" cy="164592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12CC4E9-98EA-4ED6-AF61-BC4D04A6FF35}"/>
              </a:ext>
            </a:extLst>
          </p:cNvPr>
          <p:cNvSpPr>
            <a:spLocks noGrp="1"/>
          </p:cNvSpPr>
          <p:nvPr/>
        </p:nvSpPr>
        <p:spPr>
          <a:xfrm>
            <a:off x="5897880" y="4133088"/>
            <a:ext cx="192024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9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9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8111E23-0047-4EA9-9547-073AC198D12C}"/>
              </a:ext>
            </a:extLst>
          </p:cNvPr>
          <p:cNvSpPr>
            <a:spLocks noGrp="1"/>
          </p:cNvSpPr>
          <p:nvPr/>
        </p:nvSpPr>
        <p:spPr>
          <a:xfrm>
            <a:off x="7863840" y="4133088"/>
            <a:ext cx="361188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Reefer / insulated / mobile pre-cooling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1725197-B0F1-49C9-9EEF-6F14BA1467D7}"/>
              </a:ext>
            </a:extLst>
          </p:cNvPr>
          <p:cNvSpPr>
            <a:spLocks noGrp="1"/>
          </p:cNvSpPr>
          <p:nvPr/>
        </p:nvSpPr>
        <p:spPr>
          <a:xfrm>
            <a:off x="548640" y="6035040"/>
            <a:ext cx="11091672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75% for eligible special categories / North-East, Ladakh, J&amp;K and islands. Public common facilities use a separate route.</a:t>
            </a:r>
          </a:p>
        </p:txBody>
      </p:sp>
      <p:sp>
        <p:nvSpPr>
          <p:cNvPr id="30" name="Pentagon 29"/>
          <p:cNvSpPr/>
          <p:nvPr/>
        </p:nvSpPr>
        <p:spPr>
          <a:xfrm>
            <a:off x="0" y="237744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260F299-6D0B-43F8-86A8-6A2A8FC677B2}"/>
              </a:ext>
            </a:extLst>
          </p:cNvPr>
          <p:cNvSpPr>
            <a:spLocks noGrp="1"/>
          </p:cNvSpPr>
          <p:nvPr/>
        </p:nvSpPr>
        <p:spPr>
          <a:xfrm>
            <a:off x="384048" y="237744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897880" y="2423160"/>
            <a:ext cx="546811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5897880" y="3200400"/>
            <a:ext cx="546811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5897880" y="3977640"/>
            <a:ext cx="546811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8" name="Rounded Rectangle 37"/>
          <p:cNvSpPr/>
          <p:nvPr/>
        </p:nvSpPr>
        <p:spPr>
          <a:xfrm>
            <a:off x="5897880" y="4919472"/>
            <a:ext cx="5468112" cy="713232"/>
          </a:xfrm>
          <a:prstGeom prst="roundRect">
            <a:avLst>
              <a:gd name="adj" fmla="val 10256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74C0496-F58E-4EF1-BD57-FD69EE55A293}"/>
              </a:ext>
            </a:extLst>
          </p:cNvPr>
          <p:cNvSpPr>
            <a:spLocks noGrp="1"/>
          </p:cNvSpPr>
          <p:nvPr/>
        </p:nvSpPr>
        <p:spPr>
          <a:xfrm>
            <a:off x="6080760" y="4919472"/>
            <a:ext cx="5120640" cy="7132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₹300 lakh combined assistance limit for 1(a)–1(d) per beneficiary over the plan period</a:t>
            </a:r>
          </a:p>
        </p:txBody>
      </p:sp>
    </p:spTree>
    <p:extLst>
      <p:ext uri="{BB962C8B-B14F-4D97-AF65-F5344CB8AC3E}">
        <p14:creationId xmlns:p14="http://schemas.microsoft.com/office/powerpoint/2010/main" val="11185937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443984" y="1508760"/>
            <a:ext cx="3461004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179308" y="1508760"/>
            <a:ext cx="3461004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443984" y="4800600"/>
            <a:ext cx="7196328" cy="1051560"/>
          </a:xfrm>
          <a:prstGeom prst="roundRect">
            <a:avLst>
              <a:gd name="adj" fmla="val 5217"/>
            </a:avLst>
          </a:prstGeom>
          <a:solidFill>
            <a:srgbClr val="174F35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0739A6-93AD-4D0B-B9AA-51985A1FCCE4}"/>
              </a:ext>
            </a:extLst>
          </p:cNvPr>
          <p:cNvSpPr>
            <a:spLocks noGrp="1"/>
          </p:cNvSpPr>
          <p:nvPr/>
        </p:nvSpPr>
        <p:spPr>
          <a:xfrm>
            <a:off x="1417320" y="164592"/>
            <a:ext cx="102412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New packhouses and facility upgrades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6B661D1-CE16-4146-A191-9FBF99A20B41}"/>
              </a:ext>
            </a:extLst>
          </p:cNvPr>
          <p:cNvSpPr>
            <a:spLocks noGrp="1"/>
          </p:cNvSpPr>
          <p:nvPr/>
        </p:nvSpPr>
        <p:spPr>
          <a:xfrm>
            <a:off x="548640" y="103327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Two investment routes, both at the standard 40% assistance rate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9AA19E-39B1-42DE-B77A-9AD44CDD0F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18" b="5018"/>
          <a:stretch>
            <a:fillRect/>
          </a:stretch>
        </p:blipFill>
        <p:spPr>
          <a:xfrm>
            <a:off x="548640" y="1508760"/>
            <a:ext cx="3621024" cy="43434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73349CF-ED98-4864-8359-35DB0C72B75B}"/>
              </a:ext>
            </a:extLst>
          </p:cNvPr>
          <p:cNvSpPr>
            <a:spLocks noGrp="1"/>
          </p:cNvSpPr>
          <p:nvPr/>
        </p:nvSpPr>
        <p:spPr>
          <a:xfrm>
            <a:off x="5632704" y="1810512"/>
            <a:ext cx="218084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b="1" sz="1500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facility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38E031-4C9E-4658-B000-218E081DE2AA}"/>
              </a:ext>
            </a:extLst>
          </p:cNvPr>
          <p:cNvSpPr>
            <a:spLocks noGrp="1"/>
          </p:cNvSpPr>
          <p:nvPr/>
        </p:nvSpPr>
        <p:spPr>
          <a:xfrm>
            <a:off x="9368028" y="1810512"/>
            <a:ext cx="218084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b="1" sz="1500">
                <a:solidFill>
                  <a:srgbClr val="174F35"/>
                </a:solidFill>
                <a:latin typeface="Arial"/>
                <a:ea typeface="Arial"/>
                <a:cs typeface="Arial"/>
              </a:rPr>
              <a:t>Upgrade / expansion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552AA1-21A9-4C09-BEAF-CCE97CA175FD}"/>
              </a:ext>
            </a:extLst>
          </p:cNvPr>
          <p:cNvSpPr>
            <a:spLocks noGrp="1"/>
          </p:cNvSpPr>
          <p:nvPr/>
        </p:nvSpPr>
        <p:spPr>
          <a:xfrm>
            <a:off x="5632704" y="2212848"/>
            <a:ext cx="218084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b="1" sz="1600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₹250 lakh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9A4B0D-C2DA-45A2-9DDD-E3F1E285444F}"/>
              </a:ext>
            </a:extLst>
          </p:cNvPr>
          <p:cNvSpPr>
            <a:spLocks noGrp="1"/>
          </p:cNvSpPr>
          <p:nvPr/>
        </p:nvSpPr>
        <p:spPr>
          <a:xfrm>
            <a:off x="9368028" y="2212848"/>
            <a:ext cx="218084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b="1" sz="1600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9EA988-DA98-4428-80B3-76D64ED62312}"/>
              </a:ext>
            </a:extLst>
          </p:cNvPr>
          <p:cNvSpPr>
            <a:spLocks noGrp="1"/>
          </p:cNvSpPr>
          <p:nvPr/>
        </p:nvSpPr>
        <p:spPr>
          <a:xfrm>
            <a:off x="4718304" y="3108960"/>
            <a:ext cx="291236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Collection, washing, grading, pre-cooling, packing and cold storage. New projects only.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1DD3FE-044F-44BE-ADA0-52A9B4698330}"/>
              </a:ext>
            </a:extLst>
          </p:cNvPr>
          <p:cNvSpPr>
            <a:spLocks noGrp="1"/>
          </p:cNvSpPr>
          <p:nvPr/>
        </p:nvSpPr>
        <p:spPr>
          <a:xfrm>
            <a:off x="8453628" y="3108960"/>
            <a:ext cx="291236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Machinery upgrades / automation of an existing facility under 1(a).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0A43DB8-3214-4D36-A8A4-89F6E0AAF11F}"/>
              </a:ext>
            </a:extLst>
          </p:cNvPr>
          <p:cNvSpPr>
            <a:spLocks noGrp="1"/>
          </p:cNvSpPr>
          <p:nvPr/>
        </p:nvSpPr>
        <p:spPr>
          <a:xfrm>
            <a:off x="4754880" y="4800600"/>
            <a:ext cx="2743200" cy="1051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Technical civil work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F8EC93-FD70-4C94-B60D-0155DDF0D213}"/>
              </a:ext>
            </a:extLst>
          </p:cNvPr>
          <p:cNvSpPr>
            <a:spLocks noGrp="1"/>
          </p:cNvSpPr>
          <p:nvPr/>
        </p:nvSpPr>
        <p:spPr>
          <a:xfrm>
            <a:off x="7772400" y="4800600"/>
            <a:ext cx="3657600" cy="1051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Maximum 25% of eligible assistance. Land / lease and packhouse norms apply.</a:t>
            </a:r>
          </a:p>
        </p:txBody>
      </p:sp>
      <p:sp>
        <p:nvSpPr>
          <p:cNvPr id="19" name="Pentagon 18"/>
          <p:cNvSpPr/>
          <p:nvPr/>
        </p:nvSpPr>
        <p:spPr>
          <a:xfrm>
            <a:off x="0" y="237744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A42E42-52C7-4F5D-A992-DB3BFC42B0AB}"/>
              </a:ext>
            </a:extLst>
          </p:cNvPr>
          <p:cNvSpPr>
            <a:spLocks noGrp="1"/>
          </p:cNvSpPr>
          <p:nvPr/>
        </p:nvSpPr>
        <p:spPr>
          <a:xfrm>
            <a:off x="384048" y="237744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Oval 21"/>
          <p:cNvSpPr/>
          <p:nvPr/>
        </p:nvSpPr>
        <p:spPr>
          <a:xfrm>
            <a:off x="4672584" y="1783080"/>
            <a:ext cx="777240" cy="77724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486280-155C-4211-95A2-B332427654E0}"/>
              </a:ext>
            </a:extLst>
          </p:cNvPr>
          <p:cNvSpPr>
            <a:spLocks noGrp="1"/>
          </p:cNvSpPr>
          <p:nvPr/>
        </p:nvSpPr>
        <p:spPr>
          <a:xfrm>
            <a:off x="4672584" y="1783080"/>
            <a:ext cx="77724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18304" y="2926080"/>
            <a:ext cx="2912364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5" name="Oval 24"/>
          <p:cNvSpPr/>
          <p:nvPr/>
        </p:nvSpPr>
        <p:spPr>
          <a:xfrm>
            <a:off x="8407908" y="1783080"/>
            <a:ext cx="777240" cy="77724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826FCC-D804-442A-AB47-D97CA788C5DE}"/>
              </a:ext>
            </a:extLst>
          </p:cNvPr>
          <p:cNvSpPr>
            <a:spLocks noGrp="1"/>
          </p:cNvSpPr>
          <p:nvPr/>
        </p:nvSpPr>
        <p:spPr>
          <a:xfrm>
            <a:off x="8407908" y="1783080"/>
            <a:ext cx="77724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53628" y="2926080"/>
            <a:ext cx="2912364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7498080" y="5029200"/>
            <a:ext cx="0" cy="594360"/>
          </a:xfrm>
          <a:prstGeom prst="line">
            <a:avLst/>
          </a:prstGeom>
          <a:ln w="12700">
            <a:solidFill>
              <a:srgbClr val="3F7258"/>
            </a:solidFill>
          </a:ln>
        </p:spPr>
      </p:cxnSp>
    </p:spTree>
    <p:extLst>
      <p:ext uri="{BB962C8B-B14F-4D97-AF65-F5344CB8AC3E}">
        <p14:creationId xmlns:p14="http://schemas.microsoft.com/office/powerpoint/2010/main" val="1493727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48640" y="1508760"/>
            <a:ext cx="2601468" cy="4526280"/>
          </a:xfrm>
          <a:prstGeom prst="roundRect">
            <a:avLst>
              <a:gd name="adj" fmla="val 2108"/>
            </a:avLst>
          </a:prstGeom>
          <a:solidFill>
            <a:srgbClr val="FFFFFF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378708" y="1508760"/>
            <a:ext cx="2601468" cy="4526280"/>
          </a:xfrm>
          <a:prstGeom prst="roundRect">
            <a:avLst>
              <a:gd name="adj" fmla="val 2108"/>
            </a:avLst>
          </a:prstGeom>
          <a:solidFill>
            <a:srgbClr val="FFFFFF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208776" y="1508760"/>
            <a:ext cx="2601468" cy="4526280"/>
          </a:xfrm>
          <a:prstGeom prst="roundRect">
            <a:avLst>
              <a:gd name="adj" fmla="val 2108"/>
            </a:avLst>
          </a:prstGeom>
          <a:solidFill>
            <a:srgbClr val="FFFFFF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038844" y="1508760"/>
            <a:ext cx="2601468" cy="4526280"/>
          </a:xfrm>
          <a:prstGeom prst="roundRect">
            <a:avLst>
              <a:gd name="adj" fmla="val 2108"/>
            </a:avLst>
          </a:prstGeom>
          <a:solidFill>
            <a:srgbClr val="FFFFFF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EEB5CF8-D0E2-464D-A069-E1F43F8E32A6}"/>
              </a:ext>
            </a:extLst>
          </p:cNvPr>
          <p:cNvSpPr>
            <a:spLocks noGrp="1"/>
          </p:cNvSpPr>
          <p:nvPr/>
        </p:nvSpPr>
        <p:spPr>
          <a:xfrm>
            <a:off x="1417320" y="164592"/>
            <a:ext cx="102412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Support along the export supply chain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4FB1CC-FF41-43B4-B9D1-D2D9EF93710B}"/>
              </a:ext>
            </a:extLst>
          </p:cNvPr>
          <p:cNvSpPr>
            <a:spLocks noGrp="1"/>
          </p:cNvSpPr>
          <p:nvPr/>
        </p:nvSpPr>
        <p:spPr>
          <a:xfrm>
            <a:off x="548640" y="103327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Infrastructure support at 40%, followed by separate market-development support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DC29CC-9019-467D-9E33-30C966C65C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87" t="390" r="67187" b="75390"/>
          <a:stretch/>
        </p:blipFill>
        <p:spPr>
          <a:xfrm>
            <a:off x="889254" y="1737360"/>
            <a:ext cx="914400" cy="914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6E6BFAC-80A9-4D6D-B306-B883EF910A0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0" t="25390" r="83853" b="50390"/>
          <a:stretch/>
        </p:blipFill>
        <p:spPr>
          <a:xfrm>
            <a:off x="1922526" y="1764792"/>
            <a:ext cx="841248" cy="841248"/>
          </a:xfrm>
          <a:prstGeom prst="rect">
            <a:avLst/>
          </a:prstGeom>
        </p:spPr>
      </p:pic>
      <p:sp>
        <p:nvSpPr>
          <p:cNvPr id="7" name="Arrow: Chevron 6">
            <a:extLst>
              <a:ext uri="{FF2B5EF4-FFF2-40B4-BE49-F238E27FC236}">
                <a16:creationId xmlns:a16="http://schemas.microsoft.com/office/drawing/2014/main" id="{C8BA048D-39D8-4085-9AC9-FDF751BDC975}"/>
              </a:ext>
            </a:extLst>
          </p:cNvPr>
          <p:cNvSpPr>
            <a:spLocks noGrp="1"/>
          </p:cNvSpPr>
          <p:nvPr/>
        </p:nvSpPr>
        <p:spPr>
          <a:xfrm>
            <a:off x="493776" y="2816352"/>
            <a:ext cx="2766060" cy="566928"/>
          </a:xfrm>
          <a:prstGeom prst="chevron">
            <a:avLst/>
          </a:prstGeom>
          <a:solidFill>
            <a:srgbClr val="174F35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FF31E9-69AD-472D-BAFF-018F97222A4A}"/>
              </a:ext>
            </a:extLst>
          </p:cNvPr>
          <p:cNvSpPr>
            <a:spLocks noGrp="1"/>
          </p:cNvSpPr>
          <p:nvPr/>
        </p:nvSpPr>
        <p:spPr>
          <a:xfrm>
            <a:off x="868680" y="2816352"/>
            <a:ext cx="196138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Packing and cold storage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1C4EED-2EE9-4A1D-ACA9-3669F526445D}"/>
              </a:ext>
            </a:extLst>
          </p:cNvPr>
          <p:cNvSpPr>
            <a:spLocks noGrp="1"/>
          </p:cNvSpPr>
          <p:nvPr/>
        </p:nvSpPr>
        <p:spPr>
          <a:xfrm>
            <a:off x="777240" y="4041648"/>
            <a:ext cx="21442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Integrated handling and storage facilities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F8B536-A495-4332-BAAA-AD10004CAB3B}"/>
              </a:ext>
            </a:extLst>
          </p:cNvPr>
          <p:cNvSpPr>
            <a:spLocks noGrp="1"/>
          </p:cNvSpPr>
          <p:nvPr/>
        </p:nvSpPr>
        <p:spPr>
          <a:xfrm>
            <a:off x="777240" y="5010912"/>
            <a:ext cx="21442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41FAD55-09D8-47BF-8114-66A55ADA4034}"/>
              </a:ext>
            </a:extLst>
          </p:cNvPr>
          <p:cNvSpPr>
            <a:spLocks noGrp="1"/>
          </p:cNvSpPr>
          <p:nvPr/>
        </p:nvSpPr>
        <p:spPr>
          <a:xfrm>
            <a:off x="777240" y="5303520"/>
            <a:ext cx="21442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₹250 lakh new</a:t>
            </a:r>
          </a:p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₹200 lakh upgrade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2F9B5D-3B2A-4057-80F7-BE8763D37C5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87" t="25390" r="67187" b="50390"/>
          <a:stretch/>
        </p:blipFill>
        <p:spPr>
          <a:xfrm>
            <a:off x="4176522" y="1645920"/>
            <a:ext cx="1005840" cy="1005840"/>
          </a:xfrm>
          <a:prstGeom prst="rect">
            <a:avLst/>
          </a:prstGeom>
        </p:spPr>
      </p:pic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664DA1BF-D654-4BCA-982B-71B1669B80CC}"/>
              </a:ext>
            </a:extLst>
          </p:cNvPr>
          <p:cNvSpPr>
            <a:spLocks noGrp="1"/>
          </p:cNvSpPr>
          <p:nvPr/>
        </p:nvSpPr>
        <p:spPr>
          <a:xfrm>
            <a:off x="3323844" y="2816352"/>
            <a:ext cx="2766060" cy="566928"/>
          </a:xfrm>
          <a:prstGeom prst="chevron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BB144A-8951-4BA6-99B7-E05661BE04B7}"/>
              </a:ext>
            </a:extLst>
          </p:cNvPr>
          <p:cNvSpPr>
            <a:spLocks noGrp="1"/>
          </p:cNvSpPr>
          <p:nvPr/>
        </p:nvSpPr>
        <p:spPr>
          <a:xfrm>
            <a:off x="3698748" y="2816352"/>
            <a:ext cx="196138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Processing gaps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250B18-F9BD-4B42-ABE4-E7F3173A4469}"/>
              </a:ext>
            </a:extLst>
          </p:cNvPr>
          <p:cNvSpPr>
            <a:spLocks noGrp="1"/>
          </p:cNvSpPr>
          <p:nvPr/>
        </p:nvSpPr>
        <p:spPr>
          <a:xfrm>
            <a:off x="3607308" y="4041648"/>
            <a:ext cx="21442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Sortex, IQF, X-ray and metal detection for quality / efficiency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89F9D5-9332-4538-A6A4-015C4E58ED50}"/>
              </a:ext>
            </a:extLst>
          </p:cNvPr>
          <p:cNvSpPr>
            <a:spLocks noGrp="1"/>
          </p:cNvSpPr>
          <p:nvPr/>
        </p:nvSpPr>
        <p:spPr>
          <a:xfrm>
            <a:off x="3607308" y="5010912"/>
            <a:ext cx="21442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408B16-0972-4F5F-925B-8B5789D68F84}"/>
              </a:ext>
            </a:extLst>
          </p:cNvPr>
          <p:cNvSpPr>
            <a:spLocks noGrp="1"/>
          </p:cNvSpPr>
          <p:nvPr/>
        </p:nvSpPr>
        <p:spPr>
          <a:xfrm>
            <a:off x="3607308" y="5303520"/>
            <a:ext cx="21442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63E3AEE-A2EB-4E33-8998-A2F4030D111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853" t="390" r="50520" b="75390"/>
          <a:stretch/>
        </p:blipFill>
        <p:spPr>
          <a:xfrm>
            <a:off x="7006590" y="1645920"/>
            <a:ext cx="1005840" cy="1005840"/>
          </a:xfrm>
          <a:prstGeom prst="rect">
            <a:avLst/>
          </a:prstGeom>
        </p:spPr>
      </p:pic>
      <p:sp>
        <p:nvSpPr>
          <p:cNvPr id="21" name="Arrow: Chevron 20">
            <a:extLst>
              <a:ext uri="{FF2B5EF4-FFF2-40B4-BE49-F238E27FC236}">
                <a16:creationId xmlns:a16="http://schemas.microsoft.com/office/drawing/2014/main" id="{F82AE34C-C17D-4278-8795-202E3FDD6957}"/>
              </a:ext>
            </a:extLst>
          </p:cNvPr>
          <p:cNvSpPr>
            <a:spLocks noGrp="1"/>
          </p:cNvSpPr>
          <p:nvPr/>
        </p:nvSpPr>
        <p:spPr>
          <a:xfrm>
            <a:off x="6153912" y="2816352"/>
            <a:ext cx="2766060" cy="566928"/>
          </a:xfrm>
          <a:prstGeom prst="chevron">
            <a:avLst/>
          </a:prstGeom>
          <a:solidFill>
            <a:srgbClr val="6EB189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F0774A2-188A-4303-A6E7-17F50D90DEEF}"/>
              </a:ext>
            </a:extLst>
          </p:cNvPr>
          <p:cNvSpPr>
            <a:spLocks noGrp="1"/>
          </p:cNvSpPr>
          <p:nvPr/>
        </p:nvSpPr>
        <p:spPr>
          <a:xfrm>
            <a:off x="6528816" y="2816352"/>
            <a:ext cx="196138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Reefer logistics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E22F845-3EEF-48D2-9189-767D4074CD0B}"/>
              </a:ext>
            </a:extLst>
          </p:cNvPr>
          <p:cNvSpPr>
            <a:spLocks noGrp="1"/>
          </p:cNvSpPr>
          <p:nvPr/>
        </p:nvSpPr>
        <p:spPr>
          <a:xfrm>
            <a:off x="6437376" y="4041648"/>
            <a:ext cx="21442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Refrigerated / insulated transport and mobile pre-cooling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CCE6DB1-FDE6-4BA0-87E9-B0EF525CB392}"/>
              </a:ext>
            </a:extLst>
          </p:cNvPr>
          <p:cNvSpPr>
            <a:spLocks noGrp="1"/>
          </p:cNvSpPr>
          <p:nvPr/>
        </p:nvSpPr>
        <p:spPr>
          <a:xfrm>
            <a:off x="6437376" y="5010912"/>
            <a:ext cx="21442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69BB519-63FE-4068-AE6A-00C6029A6F66}"/>
              </a:ext>
            </a:extLst>
          </p:cNvPr>
          <p:cNvSpPr>
            <a:spLocks noGrp="1"/>
          </p:cNvSpPr>
          <p:nvPr/>
        </p:nvSpPr>
        <p:spPr>
          <a:xfrm>
            <a:off x="6437376" y="5303520"/>
            <a:ext cx="21442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407D091-FAC0-4696-B793-D4A2D5C77E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187" t="390" r="17187" b="75390"/>
          <a:stretch/>
        </p:blipFill>
        <p:spPr>
          <a:xfrm>
            <a:off x="9836658" y="1645920"/>
            <a:ext cx="1005840" cy="1005840"/>
          </a:xfrm>
          <a:prstGeom prst="rect">
            <a:avLst/>
          </a:prstGeom>
        </p:spPr>
      </p:pic>
      <p:sp>
        <p:nvSpPr>
          <p:cNvPr id="28" name="Arrow: Chevron 27">
            <a:extLst>
              <a:ext uri="{FF2B5EF4-FFF2-40B4-BE49-F238E27FC236}">
                <a16:creationId xmlns:a16="http://schemas.microsoft.com/office/drawing/2014/main" id="{DC61F463-1FB2-40CD-9199-757D5FD8700D}"/>
              </a:ext>
            </a:extLst>
          </p:cNvPr>
          <p:cNvSpPr>
            <a:spLocks noGrp="1"/>
          </p:cNvSpPr>
          <p:nvPr/>
        </p:nvSpPr>
        <p:spPr>
          <a:xfrm>
            <a:off x="8983980" y="2816352"/>
            <a:ext cx="2766060" cy="566928"/>
          </a:xfrm>
          <a:prstGeom prst="chevron">
            <a:avLst/>
          </a:prstGeom>
          <a:solidFill>
            <a:srgbClr val="8CB79B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2C2FEB-AF17-401F-88AF-732525BF6CE5}"/>
              </a:ext>
            </a:extLst>
          </p:cNvPr>
          <p:cNvSpPr>
            <a:spLocks noGrp="1"/>
          </p:cNvSpPr>
          <p:nvPr/>
        </p:nvSpPr>
        <p:spPr>
          <a:xfrm>
            <a:off x="9358884" y="2816352"/>
            <a:ext cx="196138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export shipment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F2F0BB7-12C5-40DA-BF19-71938863E807}"/>
              </a:ext>
            </a:extLst>
          </p:cNvPr>
          <p:cNvSpPr>
            <a:spLocks noGrp="1"/>
          </p:cNvSpPr>
          <p:nvPr/>
        </p:nvSpPr>
        <p:spPr>
          <a:xfrm>
            <a:off x="9267444" y="4041648"/>
            <a:ext cx="21442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market / product trials. Advisor and SOP required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0C8C76-0716-4FCB-8CB8-13BBF68BD0BC}"/>
              </a:ext>
            </a:extLst>
          </p:cNvPr>
          <p:cNvSpPr>
            <a:spLocks noGrp="1"/>
          </p:cNvSpPr>
          <p:nvPr/>
        </p:nvSpPr>
        <p:spPr>
          <a:xfrm>
            <a:off x="9267444" y="5010912"/>
            <a:ext cx="21442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50% assistance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3CB5169-C180-4C85-B34D-89F6ACED79AA}"/>
              </a:ext>
            </a:extLst>
          </p:cNvPr>
          <p:cNvSpPr>
            <a:spLocks noGrp="1"/>
          </p:cNvSpPr>
          <p:nvPr/>
        </p:nvSpPr>
        <p:spPr>
          <a:xfrm>
            <a:off x="9267444" y="5303520"/>
            <a:ext cx="21442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₹10 lakh</a:t>
            </a:r>
          </a:p>
        </p:txBody>
      </p:sp>
      <p:sp>
        <p:nvSpPr>
          <p:cNvPr id="39" name="Pentagon 38"/>
          <p:cNvSpPr/>
          <p:nvPr/>
        </p:nvSpPr>
        <p:spPr>
          <a:xfrm>
            <a:off x="0" y="237744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F63BC0-0E45-4C36-8EB6-B5AF87A0466E}"/>
              </a:ext>
            </a:extLst>
          </p:cNvPr>
          <p:cNvSpPr>
            <a:spLocks noGrp="1"/>
          </p:cNvSpPr>
          <p:nvPr/>
        </p:nvSpPr>
        <p:spPr>
          <a:xfrm>
            <a:off x="384048" y="237744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77240" y="361188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135C2D-2D6A-4773-8CCD-4F8EDDD15735}"/>
              </a:ext>
            </a:extLst>
          </p:cNvPr>
          <p:cNvSpPr>
            <a:spLocks noGrp="1"/>
          </p:cNvSpPr>
          <p:nvPr/>
        </p:nvSpPr>
        <p:spPr>
          <a:xfrm>
            <a:off x="777240" y="361188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1(a) / 1(b)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77240" y="4892040"/>
            <a:ext cx="2144268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7" name="Rounded Rectangle 46"/>
          <p:cNvSpPr/>
          <p:nvPr/>
        </p:nvSpPr>
        <p:spPr>
          <a:xfrm>
            <a:off x="3607308" y="361188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949CA3-7BCB-4742-957C-9D08F7005A9E}"/>
              </a:ext>
            </a:extLst>
          </p:cNvPr>
          <p:cNvSpPr>
            <a:spLocks noGrp="1"/>
          </p:cNvSpPr>
          <p:nvPr/>
        </p:nvSpPr>
        <p:spPr>
          <a:xfrm>
            <a:off x="3607308" y="361188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1(d)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607308" y="4892040"/>
            <a:ext cx="2144268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9" name="Rounded Rectangle 48"/>
          <p:cNvSpPr/>
          <p:nvPr/>
        </p:nvSpPr>
        <p:spPr>
          <a:xfrm>
            <a:off x="6437376" y="361188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59DA51A-559D-41CA-9DCE-9F7E500858C4}"/>
              </a:ext>
            </a:extLst>
          </p:cNvPr>
          <p:cNvSpPr>
            <a:spLocks noGrp="1"/>
          </p:cNvSpPr>
          <p:nvPr/>
        </p:nvSpPr>
        <p:spPr>
          <a:xfrm>
            <a:off x="6437376" y="361188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1(c)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437376" y="4892040"/>
            <a:ext cx="2144268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51" name="Rounded Rectangle 50"/>
          <p:cNvSpPr/>
          <p:nvPr/>
        </p:nvSpPr>
        <p:spPr>
          <a:xfrm>
            <a:off x="9267444" y="361188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96C77B9-42F5-46BE-B90E-FC1479764728}"/>
              </a:ext>
            </a:extLst>
          </p:cNvPr>
          <p:cNvSpPr>
            <a:spLocks noGrp="1"/>
          </p:cNvSpPr>
          <p:nvPr/>
        </p:nvSpPr>
        <p:spPr>
          <a:xfrm>
            <a:off x="9267444" y="361188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15(b)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267444" y="4892040"/>
            <a:ext cx="2144268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</p:spTree>
    <p:extLst>
      <p:ext uri="{BB962C8B-B14F-4D97-AF65-F5344CB8AC3E}">
        <p14:creationId xmlns:p14="http://schemas.microsoft.com/office/powerpoint/2010/main" val="18884867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8640" y="1508760"/>
            <a:ext cx="5408676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31636" y="1508760"/>
            <a:ext cx="5408676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48640" y="4526280"/>
            <a:ext cx="3514344" cy="1325880"/>
          </a:xfrm>
          <a:prstGeom prst="roundRect">
            <a:avLst>
              <a:gd name="adj" fmla="val 4137"/>
            </a:avLst>
          </a:prstGeom>
          <a:solidFill>
            <a:srgbClr val="174F35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337304" y="4526280"/>
            <a:ext cx="3514344" cy="1325880"/>
          </a:xfrm>
          <a:prstGeom prst="roundRect">
            <a:avLst>
              <a:gd name="adj" fmla="val 4137"/>
            </a:avLst>
          </a:prstGeom>
          <a:solidFill>
            <a:srgbClr val="174F35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25968" y="4526280"/>
            <a:ext cx="3514344" cy="1325880"/>
          </a:xfrm>
          <a:prstGeom prst="roundRect">
            <a:avLst>
              <a:gd name="adj" fmla="val 4137"/>
            </a:avLst>
          </a:prstGeom>
          <a:solidFill>
            <a:srgbClr val="174F35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B46D8B-626B-414D-99D6-F79F51C4B742}"/>
              </a:ext>
            </a:extLst>
          </p:cNvPr>
          <p:cNvSpPr>
            <a:spLocks noGrp="1"/>
          </p:cNvSpPr>
          <p:nvPr/>
        </p:nvSpPr>
        <p:spPr>
          <a:xfrm>
            <a:off x="1417320" y="164592"/>
            <a:ext cx="102412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counts for the infrastructure grant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0B5F657-E078-49D5-B316-5287F691CBB1}"/>
              </a:ext>
            </a:extLst>
          </p:cNvPr>
          <p:cNvSpPr>
            <a:spLocks noGrp="1"/>
          </p:cNvSpPr>
          <p:nvPr/>
        </p:nvSpPr>
        <p:spPr>
          <a:xfrm>
            <a:off x="548640" y="103327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Only eligible assets and eligible timing enter the assistance calculation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EA5C02-792A-40CD-91F6-9C5F2D38BD36}"/>
              </a:ext>
            </a:extLst>
          </p:cNvPr>
          <p:cNvSpPr>
            <a:spLocks noGrp="1"/>
          </p:cNvSpPr>
          <p:nvPr/>
        </p:nvSpPr>
        <p:spPr>
          <a:xfrm>
            <a:off x="868680" y="1737360"/>
            <a:ext cx="4768596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b="1" sz="1800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Eligible investment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59E57B-485D-40EC-98C1-CE1902F78ADE}"/>
              </a:ext>
            </a:extLst>
          </p:cNvPr>
          <p:cNvSpPr>
            <a:spLocks noGrp="1"/>
          </p:cNvSpPr>
          <p:nvPr/>
        </p:nvSpPr>
        <p:spPr>
          <a:xfrm>
            <a:off x="868680" y="2377440"/>
            <a:ext cx="4768596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New plant and machinery</a:t>
            </a:r>
          </a:p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Technical civil work for the project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4ABBC8-50C5-4DBC-A270-804A3AF44333}"/>
              </a:ext>
            </a:extLst>
          </p:cNvPr>
          <p:cNvSpPr>
            <a:spLocks noGrp="1"/>
          </p:cNvSpPr>
          <p:nvPr/>
        </p:nvSpPr>
        <p:spPr>
          <a:xfrm>
            <a:off x="6551676" y="1737360"/>
            <a:ext cx="4768596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b="1" sz="1800">
                <a:solidFill>
                  <a:srgbClr val="174F35"/>
                </a:solidFill>
                <a:latin typeface="Arial"/>
                <a:ea typeface="Arial"/>
                <a:cs typeface="Arial"/>
              </a:rPr>
              <a:t>Timing and procurement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D5EC13-A2B4-4D9A-A5E2-FE2E3F90CA52}"/>
              </a:ext>
            </a:extLst>
          </p:cNvPr>
          <p:cNvSpPr>
            <a:spLocks noGrp="1"/>
          </p:cNvSpPr>
          <p:nvPr/>
        </p:nvSpPr>
        <p:spPr>
          <a:xfrm>
            <a:off x="6551676" y="2377440"/>
            <a:ext cx="2743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3 quotations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6F6741-DB3F-4CFA-BCFF-7765037D0E37}"/>
              </a:ext>
            </a:extLst>
          </p:cNvPr>
          <p:cNvSpPr>
            <a:spLocks noGrp="1"/>
          </p:cNvSpPr>
          <p:nvPr/>
        </p:nvSpPr>
        <p:spPr>
          <a:xfrm>
            <a:off x="6551676" y="2880360"/>
            <a:ext cx="4768596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OEM / authorised suppliers. Assistance uses the lowest quoted rate, even if another supplier receives the order.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35FFDD-3B24-4DD1-9A82-33F2D6917887}"/>
              </a:ext>
            </a:extLst>
          </p:cNvPr>
          <p:cNvSpPr>
            <a:spLocks noGrp="1"/>
          </p:cNvSpPr>
          <p:nvPr/>
        </p:nvSpPr>
        <p:spPr>
          <a:xfrm>
            <a:off x="6551676" y="3584448"/>
            <a:ext cx="4768596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Costs before online filing are ineligible. Filing-to-IPA expenditure needs APEDA’s acceptance.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4D1911-B0DF-4221-ACF2-D047CADB231A}"/>
              </a:ext>
            </a:extLst>
          </p:cNvPr>
          <p:cNvSpPr>
            <a:spLocks noGrp="1"/>
          </p:cNvSpPr>
          <p:nvPr/>
        </p:nvSpPr>
        <p:spPr>
          <a:xfrm>
            <a:off x="868680" y="4526280"/>
            <a:ext cx="2874264" cy="13258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15-year registered lease</a:t>
            </a:r>
          </a:p>
          <a:p>
            <a:pPr algn="l">
              <a:defRPr sz="1500" b="1">
                <a:solidFill>
                  <a:srgbClr val="A9D3B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A9D3B7"/>
                </a:solidFill>
                <a:latin typeface="Arial"/>
                <a:ea typeface="Arial"/>
                <a:cs typeface="Arial"/>
              </a:rPr>
              <a:t>or eligible land title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2A282A-38B5-425F-99E9-6BDC86C058E2}"/>
              </a:ext>
            </a:extLst>
          </p:cNvPr>
          <p:cNvSpPr>
            <a:spLocks noGrp="1"/>
          </p:cNvSpPr>
          <p:nvPr/>
        </p:nvSpPr>
        <p:spPr>
          <a:xfrm>
            <a:off x="4657344" y="4526280"/>
            <a:ext cx="2874264" cy="13258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Existing line + FSMS</a:t>
            </a:r>
          </a:p>
          <a:p>
            <a:pPr algn="l">
              <a:defRPr sz="1500" b="1">
                <a:solidFill>
                  <a:srgbClr val="A9D3B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A9D3B7"/>
                </a:solidFill>
                <a:latin typeface="Arial"/>
                <a:ea typeface="Arial"/>
                <a:cs typeface="Arial"/>
              </a:rPr>
              <a:t>for processing gaps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6D22F0-3208-428A-B5DB-60B32514C4A4}"/>
              </a:ext>
            </a:extLst>
          </p:cNvPr>
          <p:cNvSpPr>
            <a:spLocks noGrp="1"/>
          </p:cNvSpPr>
          <p:nvPr/>
        </p:nvSpPr>
        <p:spPr>
          <a:xfrm>
            <a:off x="8446008" y="4526280"/>
            <a:ext cx="2874264" cy="13258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Vehicles per plan</a:t>
            </a:r>
          </a:p>
          <a:p>
            <a:pPr algn="l">
              <a:defRPr sz="1500" b="1">
                <a:solidFill>
                  <a:srgbClr val="A9D3B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A9D3B7"/>
                </a:solidFill>
                <a:latin typeface="Arial"/>
                <a:ea typeface="Arial"/>
                <a:cs typeface="Arial"/>
              </a:rPr>
              <a:t>2 merchant / 5 manufacturer</a:t>
            </a:r>
          </a:p>
        </p:txBody>
      </p:sp>
      <p:sp>
        <p:nvSpPr>
          <p:cNvPr id="19" name="Pentagon 18"/>
          <p:cNvSpPr/>
          <p:nvPr/>
        </p:nvSpPr>
        <p:spPr>
          <a:xfrm>
            <a:off x="0" y="237744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C5F27DD-C627-4773-91D1-352C6F0697E5}"/>
              </a:ext>
            </a:extLst>
          </p:cNvPr>
          <p:cNvSpPr>
            <a:spLocks noGrp="1"/>
          </p:cNvSpPr>
          <p:nvPr/>
        </p:nvSpPr>
        <p:spPr>
          <a:xfrm>
            <a:off x="384048" y="237744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68680" y="2240280"/>
            <a:ext cx="4768596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6551676" y="2240280"/>
            <a:ext cx="4768596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5" name="Rounded Rectangle 24"/>
          <p:cNvSpPr/>
          <p:nvPr/>
        </p:nvSpPr>
        <p:spPr>
          <a:xfrm>
            <a:off x="868680" y="3108960"/>
            <a:ext cx="4768596" cy="914400"/>
          </a:xfrm>
          <a:prstGeom prst="roundRect">
            <a:avLst>
              <a:gd name="adj" fmla="val 8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CE279-C0C4-45FF-8BA9-8DEF2AE5BC0A}"/>
              </a:ext>
            </a:extLst>
          </p:cNvPr>
          <p:cNvSpPr>
            <a:spLocks noGrp="1"/>
          </p:cNvSpPr>
          <p:nvPr/>
        </p:nvSpPr>
        <p:spPr>
          <a:xfrm>
            <a:off x="1051560" y="3108960"/>
            <a:ext cx="4402836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Technical civil assistance cannot exceed 25% of total eligible assistance. Submit a certified BOQ and equipment specifications.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51676" y="3474720"/>
            <a:ext cx="4768596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</p:spTree>
    <p:extLst>
      <p:ext uri="{BB962C8B-B14F-4D97-AF65-F5344CB8AC3E}">
        <p14:creationId xmlns:p14="http://schemas.microsoft.com/office/powerpoint/2010/main" val="9945094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48640" y="4206240"/>
            <a:ext cx="3291840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114800" y="1508760"/>
            <a:ext cx="2356104" cy="4343400"/>
          </a:xfrm>
          <a:prstGeom prst="roundRect">
            <a:avLst>
              <a:gd name="adj" fmla="val 2328"/>
            </a:avLst>
          </a:prstGeom>
          <a:solidFill>
            <a:srgbClr val="FFFFFF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699504" y="1508760"/>
            <a:ext cx="2356104" cy="4343400"/>
          </a:xfrm>
          <a:prstGeom prst="roundRect">
            <a:avLst>
              <a:gd name="adj" fmla="val 2328"/>
            </a:avLst>
          </a:prstGeom>
          <a:solidFill>
            <a:srgbClr val="FFFFFF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284208" y="1508760"/>
            <a:ext cx="2356104" cy="4343400"/>
          </a:xfrm>
          <a:prstGeom prst="roundRect">
            <a:avLst>
              <a:gd name="adj" fmla="val 2328"/>
            </a:avLst>
          </a:prstGeom>
          <a:solidFill>
            <a:srgbClr val="FFFFFF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93FE842-3F20-4234-A783-6157EB762C01}"/>
              </a:ext>
            </a:extLst>
          </p:cNvPr>
          <p:cNvSpPr>
            <a:spLocks noGrp="1"/>
          </p:cNvSpPr>
          <p:nvPr/>
        </p:nvSpPr>
        <p:spPr>
          <a:xfrm>
            <a:off x="1417320" y="164592"/>
            <a:ext cx="102412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Quality, testing and laboratory assistance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82B203-557A-47F5-B6CC-F127BF62D230}"/>
              </a:ext>
            </a:extLst>
          </p:cNvPr>
          <p:cNvSpPr>
            <a:spLocks noGrp="1"/>
          </p:cNvSpPr>
          <p:nvPr/>
        </p:nvSpPr>
        <p:spPr>
          <a:xfrm>
            <a:off x="548640" y="103327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Standard rates for certification, shelf life and export-quality verification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4A34DC-4A78-4ACC-94AD-7A8F677F7D9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62" r="1562"/>
          <a:stretch>
            <a:fillRect/>
          </a:stretch>
        </p:blipFill>
        <p:spPr>
          <a:xfrm>
            <a:off x="548640" y="1508760"/>
            <a:ext cx="3291840" cy="255117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4EFF528-3E46-4BCA-B96B-39BE78344F8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390" r="520" b="75390"/>
          <a:stretch/>
        </p:blipFill>
        <p:spPr>
          <a:xfrm>
            <a:off x="4389120" y="1691640"/>
            <a:ext cx="868680" cy="86868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2B7CD0E-D37D-432E-9CF8-66E7BDCF1134}"/>
              </a:ext>
            </a:extLst>
          </p:cNvPr>
          <p:cNvSpPr>
            <a:spLocks noGrp="1"/>
          </p:cNvSpPr>
          <p:nvPr/>
        </p:nvSpPr>
        <p:spPr>
          <a:xfrm>
            <a:off x="4389120" y="2697480"/>
            <a:ext cx="1807464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Certification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28C0E7-AC9C-4F95-AED4-9EC37BE6B784}"/>
              </a:ext>
            </a:extLst>
          </p:cNvPr>
          <p:cNvSpPr>
            <a:spLocks noGrp="1"/>
          </p:cNvSpPr>
          <p:nvPr/>
        </p:nvSpPr>
        <p:spPr>
          <a:xfrm>
            <a:off x="4389120" y="3291840"/>
            <a:ext cx="180746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30CE1B-5752-4DCA-8324-74BA1423A5D3}"/>
              </a:ext>
            </a:extLst>
          </p:cNvPr>
          <p:cNvSpPr>
            <a:spLocks noGrp="1"/>
          </p:cNvSpPr>
          <p:nvPr/>
        </p:nvSpPr>
        <p:spPr>
          <a:xfrm>
            <a:off x="4389120" y="3886200"/>
            <a:ext cx="1807464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b="1" sz="1800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 lakh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BD44E6-F9A0-467F-B298-D3B2F1AEE616}"/>
              </a:ext>
            </a:extLst>
          </p:cNvPr>
          <p:cNvSpPr>
            <a:spLocks noGrp="1"/>
          </p:cNvSpPr>
          <p:nvPr/>
        </p:nvSpPr>
        <p:spPr>
          <a:xfrm>
            <a:off x="4389120" y="4434840"/>
            <a:ext cx="1807464" cy="822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certification, including renewals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FB17C41-5DB6-49A8-AF78-2B089AD095E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25390" r="50520" b="50390"/>
          <a:stretch/>
        </p:blipFill>
        <p:spPr>
          <a:xfrm>
            <a:off x="6973824" y="1691640"/>
            <a:ext cx="868680" cy="86868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D42ECF3-B377-4025-952B-78555F2B649D}"/>
              </a:ext>
            </a:extLst>
          </p:cNvPr>
          <p:cNvSpPr>
            <a:spLocks noGrp="1"/>
          </p:cNvSpPr>
          <p:nvPr/>
        </p:nvSpPr>
        <p:spPr>
          <a:xfrm>
            <a:off x="6973824" y="2697480"/>
            <a:ext cx="1807464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packaging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015215C-4960-4C66-8EAC-37D687C6951C}"/>
              </a:ext>
            </a:extLst>
          </p:cNvPr>
          <p:cNvSpPr>
            <a:spLocks noGrp="1"/>
          </p:cNvSpPr>
          <p:nvPr/>
        </p:nvSpPr>
        <p:spPr>
          <a:xfrm>
            <a:off x="6973824" y="3291840"/>
            <a:ext cx="180746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B0628D-1C82-4069-883E-DC0DEEA0E61D}"/>
              </a:ext>
            </a:extLst>
          </p:cNvPr>
          <p:cNvSpPr>
            <a:spLocks noGrp="1"/>
          </p:cNvSpPr>
          <p:nvPr/>
        </p:nvSpPr>
        <p:spPr>
          <a:xfrm>
            <a:off x="6973824" y="3886200"/>
            <a:ext cx="1807464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b="1" sz="1800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19D1124-38E2-46A2-9913-8897A6755D39}"/>
              </a:ext>
            </a:extLst>
          </p:cNvPr>
          <p:cNvSpPr>
            <a:spLocks noGrp="1"/>
          </p:cNvSpPr>
          <p:nvPr/>
        </p:nvSpPr>
        <p:spPr>
          <a:xfrm>
            <a:off x="6973824" y="4434840"/>
            <a:ext cx="1807464" cy="822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Equipment that improves quality / shelf life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441C190-2072-4ACA-8EE7-A686CEBA62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558528" y="1691640"/>
            <a:ext cx="868680" cy="86868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FA1D1E9-08A5-49C7-AA98-75FCF9C851BE}"/>
              </a:ext>
            </a:extLst>
          </p:cNvPr>
          <p:cNvSpPr>
            <a:spLocks noGrp="1"/>
          </p:cNvSpPr>
          <p:nvPr/>
        </p:nvSpPr>
        <p:spPr>
          <a:xfrm>
            <a:off x="9558528" y="2697480"/>
            <a:ext cx="1807464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Mandatory testing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B4B916-DF8B-4264-9819-B5E50C73376C}"/>
              </a:ext>
            </a:extLst>
          </p:cNvPr>
          <p:cNvSpPr>
            <a:spLocks noGrp="1"/>
          </p:cNvSpPr>
          <p:nvPr/>
        </p:nvSpPr>
        <p:spPr>
          <a:xfrm>
            <a:off x="9558528" y="3291840"/>
            <a:ext cx="180746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5BAD81-BD60-48F3-9A6E-A178BC64F514}"/>
              </a:ext>
            </a:extLst>
          </p:cNvPr>
          <p:cNvSpPr>
            <a:spLocks noGrp="1"/>
          </p:cNvSpPr>
          <p:nvPr/>
        </p:nvSpPr>
        <p:spPr>
          <a:xfrm>
            <a:off x="9558528" y="3886200"/>
            <a:ext cx="1807464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b="1" sz="1800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₹5,000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4FA37F-8B3F-44CF-86C0-9464222E8412}"/>
              </a:ext>
            </a:extLst>
          </p:cNvPr>
          <p:cNvSpPr>
            <a:spLocks noGrp="1"/>
          </p:cNvSpPr>
          <p:nvPr/>
        </p:nvSpPr>
        <p:spPr>
          <a:xfrm>
            <a:off x="9558528" y="4434840"/>
            <a:ext cx="1807464" cy="822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sample, ₹20 lakh plan cap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866D34-E81E-457B-8B5A-9C12BC9CA2C9}"/>
              </a:ext>
            </a:extLst>
          </p:cNvPr>
          <p:cNvSpPr>
            <a:spLocks noGrp="1"/>
          </p:cNvSpPr>
          <p:nvPr/>
        </p:nvSpPr>
        <p:spPr>
          <a:xfrm>
            <a:off x="822960" y="4343400"/>
            <a:ext cx="27432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Laboratory equipment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C62FBC-EEC0-4E68-A9C7-4E179E1009C5}"/>
              </a:ext>
            </a:extLst>
          </p:cNvPr>
          <p:cNvSpPr>
            <a:spLocks noGrp="1"/>
          </p:cNvSpPr>
          <p:nvPr/>
        </p:nvSpPr>
        <p:spPr>
          <a:xfrm>
            <a:off x="822960" y="4846320"/>
            <a:ext cx="27432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 support</a:t>
            </a:r>
          </a:p>
          <a:p>
            <a: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 listed labs</a:t>
            </a:r>
          </a:p>
          <a:p>
            <a: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₹100 lakh in-house labs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A3010BF-BBCD-4D4E-8D83-B825B66C7FDB}"/>
              </a:ext>
            </a:extLst>
          </p:cNvPr>
          <p:cNvSpPr>
            <a:spLocks noGrp="1"/>
          </p:cNvSpPr>
          <p:nvPr/>
        </p:nvSpPr>
        <p:spPr>
          <a:xfrm>
            <a:off x="548640" y="6035040"/>
            <a:ext cx="11091672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Packaging: line + FSMS. Testing: no IPA. Lab consumables, civil works, furniture and office equipment excluded.</a:t>
            </a:r>
          </a:p>
        </p:txBody>
      </p:sp>
      <p:sp>
        <p:nvSpPr>
          <p:cNvPr id="26" name="Pentagon 25"/>
          <p:cNvSpPr/>
          <p:nvPr/>
        </p:nvSpPr>
        <p:spPr>
          <a:xfrm>
            <a:off x="0" y="237744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F50093-F7A0-4AFC-9A7D-8050DC6FB96A}"/>
              </a:ext>
            </a:extLst>
          </p:cNvPr>
          <p:cNvSpPr>
            <a:spLocks noGrp="1"/>
          </p:cNvSpPr>
          <p:nvPr/>
        </p:nvSpPr>
        <p:spPr>
          <a:xfrm>
            <a:off x="384048" y="237744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22960" y="4754880"/>
            <a:ext cx="274320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4389120" y="3154680"/>
            <a:ext cx="1807464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6973824" y="3154680"/>
            <a:ext cx="1807464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9558528" y="3154680"/>
            <a:ext cx="1807464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</p:spTree>
    <p:extLst>
      <p:ext uri="{BB962C8B-B14F-4D97-AF65-F5344CB8AC3E}">
        <p14:creationId xmlns:p14="http://schemas.microsoft.com/office/powerpoint/2010/main" val="510508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48640" y="1508760"/>
            <a:ext cx="11091672" cy="2880360"/>
          </a:xfrm>
          <a:prstGeom prst="roundRect">
            <a:avLst>
              <a:gd name="adj" fmla="val 1904"/>
            </a:avLst>
          </a:prstGeom>
          <a:solidFill>
            <a:srgbClr val="FFFFFF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48640" y="4617720"/>
            <a:ext cx="11091672" cy="1417320"/>
          </a:xfrm>
          <a:prstGeom prst="roundRect">
            <a:avLst>
              <a:gd name="adj" fmla="val 3870"/>
            </a:avLst>
          </a:prstGeom>
          <a:solidFill>
            <a:srgbClr val="FFFFFF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D774943-9A12-4C2E-8561-45CC617D5B0E}"/>
              </a:ext>
            </a:extLst>
          </p:cNvPr>
          <p:cNvSpPr>
            <a:spLocks noGrp="1"/>
          </p:cNvSpPr>
          <p:nvPr/>
        </p:nvSpPr>
        <p:spPr>
          <a:xfrm>
            <a:off x="1417320" y="164592"/>
            <a:ext cx="102412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Innovation, startups and export capability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47C23C2-DD04-4CF8-BF34-B8A5746A70C9}"/>
              </a:ext>
            </a:extLst>
          </p:cNvPr>
          <p:cNvSpPr>
            <a:spLocks noGrp="1"/>
          </p:cNvSpPr>
          <p:nvPr/>
        </p:nvSpPr>
        <p:spPr>
          <a:xfrm>
            <a:off x="548640" y="103327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Targeted assistance beyond the standard infrastructure routes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2D8DA3-8B20-48FB-B811-F2032929D8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853" t="50390" r="520" b="25390"/>
          <a:stretch/>
        </p:blipFill>
        <p:spPr>
          <a:xfrm>
            <a:off x="777240" y="2103120"/>
            <a:ext cx="1600200" cy="16002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78B82F6-9284-4AB7-AA43-540F0FB11452}"/>
              </a:ext>
            </a:extLst>
          </p:cNvPr>
          <p:cNvSpPr>
            <a:spLocks noGrp="1"/>
          </p:cNvSpPr>
          <p:nvPr/>
        </p:nvSpPr>
        <p:spPr>
          <a:xfrm>
            <a:off x="2880360" y="1691640"/>
            <a:ext cx="5486400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b="1" sz="1800">
                <a:solidFill>
                  <a:srgbClr val="174F35"/>
                </a:solidFill>
                <a:latin typeface="Arial"/>
                <a:ea typeface="Arial"/>
                <a:cs typeface="Arial"/>
              </a:rPr>
              <a:t>Innovation and startups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93E395-DBA3-4834-9BE7-2EF1DB660D5B}"/>
              </a:ext>
            </a:extLst>
          </p:cNvPr>
          <p:cNvSpPr>
            <a:spLocks noGrp="1"/>
          </p:cNvSpPr>
          <p:nvPr/>
        </p:nvSpPr>
        <p:spPr>
          <a:xfrm>
            <a:off x="2880360" y="2240280"/>
            <a:ext cx="41148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Innovative ideas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3A1D5C-9328-455D-A5F8-CED8CAE3CE02}"/>
              </a:ext>
            </a:extLst>
          </p:cNvPr>
          <p:cNvSpPr>
            <a:spLocks noGrp="1"/>
          </p:cNvSpPr>
          <p:nvPr/>
        </p:nvSpPr>
        <p:spPr>
          <a:xfrm>
            <a:off x="2880360" y="2532888"/>
            <a:ext cx="41148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Up to ₹100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37999C-2187-4C81-A1FE-881762DF279E}"/>
              </a:ext>
            </a:extLst>
          </p:cNvPr>
          <p:cNvSpPr>
            <a:spLocks noGrp="1"/>
          </p:cNvSpPr>
          <p:nvPr/>
        </p:nvSpPr>
        <p:spPr>
          <a:xfrm>
            <a:off x="2880360" y="2843784"/>
            <a:ext cx="41148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Novel solution and proof of concept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1CCB8F-4A60-49B3-800E-AADECF6CAD2F}"/>
              </a:ext>
            </a:extLst>
          </p:cNvPr>
          <p:cNvSpPr>
            <a:spLocks noGrp="1"/>
          </p:cNvSpPr>
          <p:nvPr/>
        </p:nvSpPr>
        <p:spPr>
          <a:xfrm>
            <a:off x="7315200" y="2240280"/>
            <a:ext cx="41148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BHARATI startups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640AF66-6F51-4351-9821-73EF9CA53963}"/>
              </a:ext>
            </a:extLst>
          </p:cNvPr>
          <p:cNvSpPr>
            <a:spLocks noGrp="1"/>
          </p:cNvSpPr>
          <p:nvPr/>
        </p:nvSpPr>
        <p:spPr>
          <a:xfrm>
            <a:off x="7315200" y="2532888"/>
            <a:ext cx="41148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₹100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95A766-2D00-4D38-8B7F-4D214DC8CECD}"/>
              </a:ext>
            </a:extLst>
          </p:cNvPr>
          <p:cNvSpPr>
            <a:spLocks noGrp="1"/>
          </p:cNvSpPr>
          <p:nvPr/>
        </p:nvSpPr>
        <p:spPr>
          <a:xfrm>
            <a:off x="7315200" y="2843784"/>
            <a:ext cx="41148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BHARATI registration + 3-year export projections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BC1F68-A626-4A38-8731-24C17B72D62D}"/>
              </a:ext>
            </a:extLst>
          </p:cNvPr>
          <p:cNvSpPr>
            <a:spLocks noGrp="1"/>
          </p:cNvSpPr>
          <p:nvPr/>
        </p:nvSpPr>
        <p:spPr>
          <a:xfrm>
            <a:off x="2880360" y="3246120"/>
            <a:ext cx="41148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SPS activities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5B3865-7D00-4342-8033-D47B2365B8FA}"/>
              </a:ext>
            </a:extLst>
          </p:cNvPr>
          <p:cNvSpPr>
            <a:spLocks noGrp="1"/>
          </p:cNvSpPr>
          <p:nvPr/>
        </p:nvSpPr>
        <p:spPr>
          <a:xfrm>
            <a:off x="2880360" y="3538728"/>
            <a:ext cx="41148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₹25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D8C6DA2-D9A6-4C85-927B-562A9B191C53}"/>
              </a:ext>
            </a:extLst>
          </p:cNvPr>
          <p:cNvSpPr>
            <a:spLocks noGrp="1"/>
          </p:cNvSpPr>
          <p:nvPr/>
        </p:nvSpPr>
        <p:spPr>
          <a:xfrm>
            <a:off x="2880360" y="3849624"/>
            <a:ext cx="41148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SPS evidence, target market and measurable outcome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43C96A-0AA8-43E0-8847-221A783CEE28}"/>
              </a:ext>
            </a:extLst>
          </p:cNvPr>
          <p:cNvSpPr>
            <a:spLocks noGrp="1"/>
          </p:cNvSpPr>
          <p:nvPr/>
        </p:nvSpPr>
        <p:spPr>
          <a:xfrm>
            <a:off x="7315200" y="3246120"/>
            <a:ext cx="41148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Startup traceability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459178-BD46-47B8-9BC0-FF65EA5C2D09}"/>
              </a:ext>
            </a:extLst>
          </p:cNvPr>
          <p:cNvSpPr>
            <a:spLocks noGrp="1"/>
          </p:cNvSpPr>
          <p:nvPr/>
        </p:nvSpPr>
        <p:spPr>
          <a:xfrm>
            <a:off x="7315200" y="3538728"/>
            <a:ext cx="41148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₹20 lakh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2223D58-09D8-426D-9871-804BEEABD1A0}"/>
              </a:ext>
            </a:extLst>
          </p:cNvPr>
          <p:cNvSpPr>
            <a:spLocks noGrp="1"/>
          </p:cNvSpPr>
          <p:nvPr/>
        </p:nvSpPr>
        <p:spPr>
          <a:xfrm>
            <a:off x="7315200" y="3849624"/>
            <a:ext cx="41148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Eligible farm traceability hardware / software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F05B3C4-918F-4B35-96CE-2A9ECCAC9CF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853" t="75390" r="520" b="390"/>
          <a:stretch/>
        </p:blipFill>
        <p:spPr>
          <a:xfrm>
            <a:off x="914400" y="4690872"/>
            <a:ext cx="1280160" cy="128016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490195F0-E3CC-4C51-9037-6E148D6F8FFD}"/>
              </a:ext>
            </a:extLst>
          </p:cNvPr>
          <p:cNvSpPr>
            <a:spLocks noGrp="1"/>
          </p:cNvSpPr>
          <p:nvPr/>
        </p:nvSpPr>
        <p:spPr>
          <a:xfrm>
            <a:off x="2880360" y="4846320"/>
            <a:ext cx="269748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varieties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6D189D-F762-4764-875E-CA292C986FB2}"/>
              </a:ext>
            </a:extLst>
          </p:cNvPr>
          <p:cNvSpPr>
            <a:spLocks noGrp="1"/>
          </p:cNvSpPr>
          <p:nvPr/>
        </p:nvSpPr>
        <p:spPr>
          <a:xfrm>
            <a:off x="2880360" y="5212080"/>
            <a:ext cx="269748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60%, up to ₹50 lakh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product / plan, exporters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DD4F8E-7F59-4C85-9580-734C5FE7D611}"/>
              </a:ext>
            </a:extLst>
          </p:cNvPr>
          <p:cNvSpPr>
            <a:spLocks noGrp="1"/>
          </p:cNvSpPr>
          <p:nvPr/>
        </p:nvSpPr>
        <p:spPr>
          <a:xfrm>
            <a:off x="5852160" y="4846320"/>
            <a:ext cx="269748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Training / study tours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7B1AD16-59B7-477E-A33D-616F593C1A18}"/>
              </a:ext>
            </a:extLst>
          </p:cNvPr>
          <p:cNvSpPr>
            <a:spLocks noGrp="1"/>
          </p:cNvSpPr>
          <p:nvPr/>
        </p:nvSpPr>
        <p:spPr>
          <a:xfrm>
            <a:off x="5852160" y="5212080"/>
            <a:ext cx="269748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50%, ₹3 lakh / person / year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One participant / organisation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679CFAE-2B56-4712-B7E4-C746C72A3DAE}"/>
              </a:ext>
            </a:extLst>
          </p:cNvPr>
          <p:cNvSpPr>
            <a:spLocks noGrp="1"/>
          </p:cNvSpPr>
          <p:nvPr/>
        </p:nvSpPr>
        <p:spPr>
          <a:xfrm>
            <a:off x="8778240" y="4846320"/>
            <a:ext cx="269748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Workshops and ToT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C67355-CA8E-4209-8A31-9EDCEC0B7C32}"/>
              </a:ext>
            </a:extLst>
          </p:cNvPr>
          <p:cNvSpPr>
            <a:spLocks noGrp="1"/>
          </p:cNvSpPr>
          <p:nvPr/>
        </p:nvSpPr>
        <p:spPr>
          <a:xfrm>
            <a:off x="8778240" y="5212080"/>
            <a:ext cx="269748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₹5 lakh / event / beneficiary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ToT: 50%, ₹5 lakh / year</a:t>
            </a:r>
          </a:p>
        </p:txBody>
      </p:sp>
      <p:sp>
        <p:nvSpPr>
          <p:cNvPr id="29" name="Pentagon 28"/>
          <p:cNvSpPr/>
          <p:nvPr/>
        </p:nvSpPr>
        <p:spPr>
          <a:xfrm>
            <a:off x="0" y="237744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683B51E-CD6E-4A6B-9379-70A89CA79D57}"/>
              </a:ext>
            </a:extLst>
          </p:cNvPr>
          <p:cNvSpPr>
            <a:spLocks noGrp="1"/>
          </p:cNvSpPr>
          <p:nvPr/>
        </p:nvSpPr>
        <p:spPr>
          <a:xfrm>
            <a:off x="384048" y="237744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606040" y="1737360"/>
            <a:ext cx="0" cy="24231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2880360" y="3127248"/>
            <a:ext cx="848563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7086600" y="2286000"/>
            <a:ext cx="0" cy="18745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2606040" y="4846320"/>
            <a:ext cx="0" cy="9601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5623560" y="4846320"/>
            <a:ext cx="0" cy="9601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8549640" y="4846320"/>
            <a:ext cx="0" cy="9601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</p:spTree>
    <p:extLst>
      <p:ext uri="{BB962C8B-B14F-4D97-AF65-F5344CB8AC3E}">
        <p14:creationId xmlns:p14="http://schemas.microsoft.com/office/powerpoint/2010/main" val="17958539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48640" y="1508760"/>
            <a:ext cx="2057400" cy="43434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807208" y="1508760"/>
            <a:ext cx="2057400" cy="43434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65776" y="1508760"/>
            <a:ext cx="2057400" cy="43434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324344" y="1508760"/>
            <a:ext cx="2057400" cy="43434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582912" y="1508760"/>
            <a:ext cx="2057400" cy="43434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3A39878-8053-4993-95B3-76F5D65A4CC0}"/>
              </a:ext>
            </a:extLst>
          </p:cNvPr>
          <p:cNvSpPr>
            <a:spLocks noGrp="1"/>
          </p:cNvSpPr>
          <p:nvPr/>
        </p:nvSpPr>
        <p:spPr>
          <a:xfrm>
            <a:off x="1417320" y="164592"/>
            <a:ext cx="102412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Market access and overseas promotion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D6F162-974E-4424-9182-7552DC918536}"/>
              </a:ext>
            </a:extLst>
          </p:cNvPr>
          <p:cNvSpPr>
            <a:spLocks noGrp="1"/>
          </p:cNvSpPr>
          <p:nvPr/>
        </p:nvSpPr>
        <p:spPr>
          <a:xfrm>
            <a:off x="548640" y="103327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Base assistance is 50% for the five routes below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E9B8A4-FC2B-4FCA-9284-17A18E8CFC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0" t="75390" r="83853" b="390"/>
          <a:stretch/>
        </p:blipFill>
        <p:spPr>
          <a:xfrm>
            <a:off x="937260" y="1691640"/>
            <a:ext cx="1280160" cy="128016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E1B6339-5519-4FC2-AB33-EF6AF5FB744F}"/>
              </a:ext>
            </a:extLst>
          </p:cNvPr>
          <p:cNvSpPr>
            <a:spLocks noGrp="1"/>
          </p:cNvSpPr>
          <p:nvPr/>
        </p:nvSpPr>
        <p:spPr>
          <a:xfrm>
            <a:off x="731520" y="3154680"/>
            <a:ext cx="169164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47F84C-3BB5-4878-B58C-F38B4C863CF0}"/>
              </a:ext>
            </a:extLst>
          </p:cNvPr>
          <p:cNvSpPr>
            <a:spLocks noGrp="1"/>
          </p:cNvSpPr>
          <p:nvPr/>
        </p:nvSpPr>
        <p:spPr>
          <a:xfrm>
            <a:off x="731520" y="3749040"/>
            <a:ext cx="169164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2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2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2C1655-B7BF-4F19-A15E-1BC14935FDD5}"/>
              </a:ext>
            </a:extLst>
          </p:cNvPr>
          <p:cNvSpPr>
            <a:spLocks noGrp="1"/>
          </p:cNvSpPr>
          <p:nvPr/>
        </p:nvSpPr>
        <p:spPr>
          <a:xfrm>
            <a:off x="731520" y="4800600"/>
            <a:ext cx="1691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study / beneficiary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AA1F2C7-F5D5-43E2-A2B6-736F54452F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87" t="75390" r="64267" b="390"/>
          <a:stretch/>
        </p:blipFill>
        <p:spPr>
          <a:xfrm>
            <a:off x="3195828" y="1691640"/>
            <a:ext cx="1280160" cy="128016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566F764-2C2B-4730-BE20-D471A8D8C35D}"/>
              </a:ext>
            </a:extLst>
          </p:cNvPr>
          <p:cNvSpPr>
            <a:spLocks noGrp="1"/>
          </p:cNvSpPr>
          <p:nvPr/>
        </p:nvSpPr>
        <p:spPr>
          <a:xfrm>
            <a:off x="2990088" y="3154680"/>
            <a:ext cx="169164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74F163-7D79-479F-B65A-37D9A013FF67}"/>
              </a:ext>
            </a:extLst>
          </p:cNvPr>
          <p:cNvSpPr>
            <a:spLocks noGrp="1"/>
          </p:cNvSpPr>
          <p:nvPr/>
        </p:nvSpPr>
        <p:spPr>
          <a:xfrm>
            <a:off x="2990088" y="3749040"/>
            <a:ext cx="169164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2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2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177BB6-8C0C-404D-83E2-09189E783147}"/>
              </a:ext>
            </a:extLst>
          </p:cNvPr>
          <p:cNvSpPr>
            <a:spLocks noGrp="1"/>
          </p:cNvSpPr>
          <p:nvPr/>
        </p:nvSpPr>
        <p:spPr>
          <a:xfrm>
            <a:off x="2990088" y="4800600"/>
            <a:ext cx="1691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 / products</a:t>
            </a:r>
          </a:p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Multimodal transport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C15802B-9F5F-4B4F-B013-D9A19EDBC7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853" t="75390" r="50520" b="390"/>
          <a:stretch/>
        </p:blipFill>
        <p:spPr>
          <a:xfrm>
            <a:off x="5454396" y="1691640"/>
            <a:ext cx="1280160" cy="128016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E614C10-61B7-4D3B-A4EC-9C7F7FE33346}"/>
              </a:ext>
            </a:extLst>
          </p:cNvPr>
          <p:cNvSpPr>
            <a:spLocks noGrp="1"/>
          </p:cNvSpPr>
          <p:nvPr/>
        </p:nvSpPr>
        <p:spPr>
          <a:xfrm>
            <a:off x="5248656" y="3154680"/>
            <a:ext cx="169164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 abroad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BC3C74-5E11-45D8-AED9-58F0DF391A3E}"/>
              </a:ext>
            </a:extLst>
          </p:cNvPr>
          <p:cNvSpPr>
            <a:spLocks noGrp="1"/>
          </p:cNvSpPr>
          <p:nvPr/>
        </p:nvSpPr>
        <p:spPr>
          <a:xfrm>
            <a:off x="5248656" y="3749040"/>
            <a:ext cx="169164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2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2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₹50 lakh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8A26537-FD5B-4326-B7E0-68DB0EA399A7}"/>
              </a:ext>
            </a:extLst>
          </p:cNvPr>
          <p:cNvSpPr>
            <a:spLocks noGrp="1"/>
          </p:cNvSpPr>
          <p:nvPr/>
        </p:nvSpPr>
        <p:spPr>
          <a:xfrm>
            <a:off x="5248656" y="4800600"/>
            <a:ext cx="1691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 / plan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5D572CA-9A0A-4838-8B37-7A4D9A18B58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520" t="75390" r="33853" b="390"/>
          <a:stretch/>
        </p:blipFill>
        <p:spPr>
          <a:xfrm>
            <a:off x="7712964" y="1691640"/>
            <a:ext cx="1280160" cy="128016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29BC7A8-B739-4485-B4A6-B4BF37D12094}"/>
              </a:ext>
            </a:extLst>
          </p:cNvPr>
          <p:cNvSpPr>
            <a:spLocks noGrp="1"/>
          </p:cNvSpPr>
          <p:nvPr/>
        </p:nvSpPr>
        <p:spPr>
          <a:xfrm>
            <a:off x="7507224" y="3154680"/>
            <a:ext cx="169164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shelf / listing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59A380A-6203-4F49-8DB9-0266E052797A}"/>
              </a:ext>
            </a:extLst>
          </p:cNvPr>
          <p:cNvSpPr>
            <a:spLocks noGrp="1"/>
          </p:cNvSpPr>
          <p:nvPr/>
        </p:nvSpPr>
        <p:spPr>
          <a:xfrm>
            <a:off x="7507224" y="3749040"/>
            <a:ext cx="169164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2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2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₹8 lakh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1BD53F0-01B6-4796-B6D5-12C0ED8195C9}"/>
              </a:ext>
            </a:extLst>
          </p:cNvPr>
          <p:cNvSpPr>
            <a:spLocks noGrp="1"/>
          </p:cNvSpPr>
          <p:nvPr/>
        </p:nvSpPr>
        <p:spPr>
          <a:xfrm>
            <a:off x="7507224" y="4800600"/>
            <a:ext cx="1691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 / year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04C96D48-B5BD-4AC3-90B9-16210A107B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187" t="75390" r="17187" b="390"/>
          <a:stretch/>
        </p:blipFill>
        <p:spPr>
          <a:xfrm>
            <a:off x="9971532" y="1691640"/>
            <a:ext cx="1280160" cy="128016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FCDE053D-880D-45EE-8535-F254F084BF37}"/>
              </a:ext>
            </a:extLst>
          </p:cNvPr>
          <p:cNvSpPr>
            <a:spLocks noGrp="1"/>
          </p:cNvSpPr>
          <p:nvPr/>
        </p:nvSpPr>
        <p:spPr>
          <a:xfrm>
            <a:off x="9765792" y="3154680"/>
            <a:ext cx="169164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brand promotion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543C29-8A65-430C-A5FF-C5B4D69A3B1F}"/>
              </a:ext>
            </a:extLst>
          </p:cNvPr>
          <p:cNvSpPr>
            <a:spLocks noGrp="1"/>
          </p:cNvSpPr>
          <p:nvPr/>
        </p:nvSpPr>
        <p:spPr>
          <a:xfrm>
            <a:off x="9765792" y="3749040"/>
            <a:ext cx="169164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2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2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₹100 lakh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6910F01-DB7F-4CBA-846F-39FDCD5B4451}"/>
              </a:ext>
            </a:extLst>
          </p:cNvPr>
          <p:cNvSpPr>
            <a:spLocks noGrp="1"/>
          </p:cNvSpPr>
          <p:nvPr/>
        </p:nvSpPr>
        <p:spPr>
          <a:xfrm>
            <a:off x="9765792" y="4800600"/>
            <a:ext cx="1691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</a:t>
            </a:r>
          </a:p>
        </p:txBody>
      </p:sp>
      <p:sp>
        <p:nvSpPr>
          <p:cNvPr id="36" name="Pentagon 35"/>
          <p:cNvSpPr/>
          <p:nvPr/>
        </p:nvSpPr>
        <p:spPr>
          <a:xfrm>
            <a:off x="0" y="237744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A554AF-4B9D-4D74-ABE1-6DB95ACB6FC5}"/>
              </a:ext>
            </a:extLst>
          </p:cNvPr>
          <p:cNvSpPr>
            <a:spLocks noGrp="1"/>
          </p:cNvSpPr>
          <p:nvPr/>
        </p:nvSpPr>
        <p:spPr>
          <a:xfrm>
            <a:off x="384048" y="237744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05840" y="3611880"/>
            <a:ext cx="114300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0" name="Rounded Rectangle 39"/>
          <p:cNvSpPr/>
          <p:nvPr/>
        </p:nvSpPr>
        <p:spPr>
          <a:xfrm>
            <a:off x="1165860" y="4315968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EE3AB8-3B82-4658-9B9A-6652094819F1}"/>
              </a:ext>
            </a:extLst>
          </p:cNvPr>
          <p:cNvSpPr>
            <a:spLocks noGrp="1"/>
          </p:cNvSpPr>
          <p:nvPr/>
        </p:nvSpPr>
        <p:spPr>
          <a:xfrm>
            <a:off x="1165860" y="4315968"/>
            <a:ext cx="822960" cy="31089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64408" y="3611880"/>
            <a:ext cx="114300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Rounded Rectangle 42"/>
          <p:cNvSpPr/>
          <p:nvPr/>
        </p:nvSpPr>
        <p:spPr>
          <a:xfrm>
            <a:off x="3424428" y="4315968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D94B8C-6064-4174-B01D-C02EE9C1740B}"/>
              </a:ext>
            </a:extLst>
          </p:cNvPr>
          <p:cNvSpPr>
            <a:spLocks noGrp="1"/>
          </p:cNvSpPr>
          <p:nvPr/>
        </p:nvSpPr>
        <p:spPr>
          <a:xfrm>
            <a:off x="3424428" y="4315968"/>
            <a:ext cx="822960" cy="31089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522976" y="3611880"/>
            <a:ext cx="114300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6" name="Rounded Rectangle 45"/>
          <p:cNvSpPr/>
          <p:nvPr/>
        </p:nvSpPr>
        <p:spPr>
          <a:xfrm>
            <a:off x="5682996" y="4315968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BEAED71-425A-47BC-9641-EB4CE5EC231B}"/>
              </a:ext>
            </a:extLst>
          </p:cNvPr>
          <p:cNvSpPr>
            <a:spLocks noGrp="1"/>
          </p:cNvSpPr>
          <p:nvPr/>
        </p:nvSpPr>
        <p:spPr>
          <a:xfrm>
            <a:off x="5682996" y="4315968"/>
            <a:ext cx="822960" cy="31089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781544" y="3611880"/>
            <a:ext cx="114300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9" name="Rounded Rectangle 48"/>
          <p:cNvSpPr/>
          <p:nvPr/>
        </p:nvSpPr>
        <p:spPr>
          <a:xfrm>
            <a:off x="7941564" y="4315968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EC939CF-5AC6-4C20-A17A-FAE9D932B5C3}"/>
              </a:ext>
            </a:extLst>
          </p:cNvPr>
          <p:cNvSpPr>
            <a:spLocks noGrp="1"/>
          </p:cNvSpPr>
          <p:nvPr/>
        </p:nvSpPr>
        <p:spPr>
          <a:xfrm>
            <a:off x="7941564" y="4315968"/>
            <a:ext cx="822960" cy="31089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0040112" y="3611880"/>
            <a:ext cx="114300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52" name="Rounded Rectangle 51"/>
          <p:cNvSpPr/>
          <p:nvPr/>
        </p:nvSpPr>
        <p:spPr>
          <a:xfrm>
            <a:off x="10200132" y="4315968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7B2BDF8-6E8E-4F80-97B6-0D389ADC19F2}"/>
              </a:ext>
            </a:extLst>
          </p:cNvPr>
          <p:cNvSpPr>
            <a:spLocks noGrp="1"/>
          </p:cNvSpPr>
          <p:nvPr/>
        </p:nvSpPr>
        <p:spPr>
          <a:xfrm>
            <a:off x="10200132" y="4315968"/>
            <a:ext cx="822960" cy="31089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</p:spTree>
    <p:extLst>
      <p:ext uri="{BB962C8B-B14F-4D97-AF65-F5344CB8AC3E}">
        <p14:creationId xmlns:p14="http://schemas.microsoft.com/office/powerpoint/2010/main" val="13918372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48640" y="1508760"/>
            <a:ext cx="5408676" cy="4343400"/>
          </a:xfrm>
          <a:prstGeom prst="roundRect">
            <a:avLst>
              <a:gd name="adj" fmla="val 1263"/>
            </a:avLst>
          </a:prstGeom>
          <a:solidFill>
            <a:srgbClr val="FFFFFF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31636" y="1508760"/>
            <a:ext cx="5408676" cy="4343400"/>
          </a:xfrm>
          <a:prstGeom prst="roundRect">
            <a:avLst>
              <a:gd name="adj" fmla="val 1263"/>
            </a:avLst>
          </a:prstGeom>
          <a:solidFill>
            <a:srgbClr val="FFFFFF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008888A-788F-4871-8783-E3DE7E81BA4B}"/>
              </a:ext>
            </a:extLst>
          </p:cNvPr>
          <p:cNvSpPr>
            <a:spLocks noGrp="1"/>
          </p:cNvSpPr>
          <p:nvPr/>
        </p:nvSpPr>
        <p:spPr>
          <a:xfrm>
            <a:off x="1417320" y="164592"/>
            <a:ext cx="102412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Market proposals: eligibility and evidence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ABA444-3BF6-41C2-818F-C25E65881FE7}"/>
              </a:ext>
            </a:extLst>
          </p:cNvPr>
          <p:cNvSpPr>
            <a:spLocks noGrp="1"/>
          </p:cNvSpPr>
          <p:nvPr/>
        </p:nvSpPr>
        <p:spPr>
          <a:xfrm>
            <a:off x="548640" y="103327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The proposal must establish the target market and the activity-specific case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A92C5C-64BA-478C-94BB-0E8D5B3ECCE3}"/>
              </a:ext>
            </a:extLst>
          </p:cNvPr>
          <p:cNvSpPr>
            <a:spLocks noGrp="1"/>
          </p:cNvSpPr>
          <p:nvPr/>
        </p:nvSpPr>
        <p:spPr>
          <a:xfrm>
            <a:off x="1234440" y="2377440"/>
            <a:ext cx="44028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C4A97A-2BCF-4DE5-A736-108760E31418}"/>
              </a:ext>
            </a:extLst>
          </p:cNvPr>
          <p:cNvSpPr>
            <a:spLocks noGrp="1"/>
          </p:cNvSpPr>
          <p:nvPr/>
        </p:nvSpPr>
        <p:spPr>
          <a:xfrm>
            <a:off x="1234440" y="2724912"/>
            <a:ext cx="44028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Consultant with 5 years’ experience, scope, quotation and justification. No repetition of a previous study.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4E1C3F-156F-4226-8505-702269087D4D}"/>
              </a:ext>
            </a:extLst>
          </p:cNvPr>
          <p:cNvSpPr>
            <a:spLocks noGrp="1"/>
          </p:cNvSpPr>
          <p:nvPr/>
        </p:nvSpPr>
        <p:spPr>
          <a:xfrm>
            <a:off x="1234440" y="3520440"/>
            <a:ext cx="44028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1AAB807-DC03-4DFD-BEFC-D2ABD7CB191B}"/>
              </a:ext>
            </a:extLst>
          </p:cNvPr>
          <p:cNvSpPr>
            <a:spLocks noGrp="1"/>
          </p:cNvSpPr>
          <p:nvPr/>
        </p:nvSpPr>
        <p:spPr>
          <a:xfrm>
            <a:off x="1234440" y="3867912"/>
            <a:ext cx="44028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technical advisor and SOP. Validation report after shipment.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975A314-DC93-458C-936D-F4B74FE4B312}"/>
              </a:ext>
            </a:extLst>
          </p:cNvPr>
          <p:cNvSpPr>
            <a:spLocks noGrp="1"/>
          </p:cNvSpPr>
          <p:nvPr/>
        </p:nvSpPr>
        <p:spPr>
          <a:xfrm>
            <a:off x="6551676" y="2414016"/>
            <a:ext cx="219456" cy="219456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Oval 10"/>
          <p:cNvSpPr>
            <a:spLocks noGrp="1"/>
          </p:cNvSpPr>
          <p:nvPr/>
        </p:nvSpPr>
        <p:spPr>
          <a:xfrm>
            <a:off x="868680" y="3557016"/>
            <a:ext cx="219456" cy="219456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Oval 10"/>
          <p:cNvSpPr>
            <a:spLocks noGrp="1"/>
          </p:cNvSpPr>
          <p:nvPr/>
        </p:nvSpPr>
        <p:spPr>
          <a:xfrm>
            <a:off x="868680" y="2414016"/>
            <a:ext cx="219456" cy="219456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8F34B2-D4BF-4204-8D59-F6FA8FBAB8D7}"/>
              </a:ext>
            </a:extLst>
          </p:cNvPr>
          <p:cNvSpPr>
            <a:spLocks noGrp="1"/>
          </p:cNvSpPr>
          <p:nvPr/>
        </p:nvSpPr>
        <p:spPr>
          <a:xfrm>
            <a:off x="6917436" y="2377440"/>
            <a:ext cx="44028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1AFBB0-FA35-467A-B07B-DC1A09F3BDF7}"/>
              </a:ext>
            </a:extLst>
          </p:cNvPr>
          <p:cNvSpPr>
            <a:spLocks noGrp="1"/>
          </p:cNvSpPr>
          <p:nvPr/>
        </p:nvSpPr>
        <p:spPr>
          <a:xfrm>
            <a:off x="6917436" y="2724912"/>
            <a:ext cx="44028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foreign country / justification, product / brand and overseas fee estimate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1C3FBC7-BBC1-45B0-8F7E-39D557F5C80A}"/>
              </a:ext>
            </a:extLst>
          </p:cNvPr>
          <p:cNvSpPr>
            <a:spLocks noGrp="1"/>
          </p:cNvSpPr>
          <p:nvPr/>
        </p:nvSpPr>
        <p:spPr>
          <a:xfrm>
            <a:off x="6551676" y="3557016"/>
            <a:ext cx="219456" cy="219456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00FCE6-54F0-4B7B-9718-2F85409D20D0}"/>
              </a:ext>
            </a:extLst>
          </p:cNvPr>
          <p:cNvSpPr>
            <a:spLocks noGrp="1"/>
          </p:cNvSpPr>
          <p:nvPr/>
        </p:nvSpPr>
        <p:spPr>
          <a:xfrm>
            <a:off x="6917436" y="3520440"/>
            <a:ext cx="44028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listing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64EF35-DD37-4000-9221-10B8DF33E56B}"/>
              </a:ext>
            </a:extLst>
          </p:cNvPr>
          <p:cNvSpPr>
            <a:spLocks noGrp="1"/>
          </p:cNvSpPr>
          <p:nvPr/>
        </p:nvSpPr>
        <p:spPr>
          <a:xfrm>
            <a:off x="6917436" y="3867912"/>
            <a:ext cx="44028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FPOs, women, SC/ST and startups. Foreign chain agreement / intent and fees. Pay chain / authorised entity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E02A076-B157-4028-94CD-F84468C690E2}"/>
              </a:ext>
            </a:extLst>
          </p:cNvPr>
          <p:cNvSpPr>
            <a:spLocks noGrp="1"/>
          </p:cNvSpPr>
          <p:nvPr/>
        </p:nvSpPr>
        <p:spPr>
          <a:xfrm>
            <a:off x="6551676" y="4700016"/>
            <a:ext cx="219456" cy="219456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D119964-CBD1-4707-B84A-D2733D05ADF5}"/>
              </a:ext>
            </a:extLst>
          </p:cNvPr>
          <p:cNvSpPr>
            <a:spLocks noGrp="1"/>
          </p:cNvSpPr>
          <p:nvPr/>
        </p:nvSpPr>
        <p:spPr>
          <a:xfrm>
            <a:off x="6917436" y="4663440"/>
            <a:ext cx="44028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promotion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C13210C-F38D-40CF-8415-A398FA5B5418}"/>
              </a:ext>
            </a:extLst>
          </p:cNvPr>
          <p:cNvSpPr>
            <a:spLocks noGrp="1"/>
          </p:cNvSpPr>
          <p:nvPr/>
        </p:nvSpPr>
        <p:spPr>
          <a:xfrm>
            <a:off x="6917436" y="5010912"/>
            <a:ext cx="44028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GI product from designated area. International promotion + activity budget. Domestic promotion excluded</a:t>
            </a:r>
          </a:p>
        </p:txBody>
      </p:sp>
      <p:sp>
        <p:nvSpPr>
          <p:cNvPr id="23" name="Pentagon 22"/>
          <p:cNvSpPr/>
          <p:nvPr/>
        </p:nvSpPr>
        <p:spPr>
          <a:xfrm>
            <a:off x="0" y="237744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794B093-C0B1-48BA-8352-DC75E69B02AB}"/>
              </a:ext>
            </a:extLst>
          </p:cNvPr>
          <p:cNvSpPr>
            <a:spLocks noGrp="1"/>
          </p:cNvSpPr>
          <p:nvPr/>
        </p:nvSpPr>
        <p:spPr>
          <a:xfrm>
            <a:off x="384048" y="237744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1508760"/>
            <a:ext cx="5408676" cy="566928"/>
          </a:xfrm>
          <a:prstGeom prst="roundRect">
            <a:avLst>
              <a:gd name="adj" fmla="val 9677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231636" y="1508760"/>
            <a:ext cx="5408676" cy="566928"/>
          </a:xfrm>
          <a:prstGeom prst="roundRect">
            <a:avLst>
              <a:gd name="adj" fmla="val 9677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44326E-839F-42C4-881F-3A0D70BF073D}"/>
              </a:ext>
            </a:extLst>
          </p:cNvPr>
          <p:cNvSpPr>
            <a:spLocks noGrp="1"/>
          </p:cNvSpPr>
          <p:nvPr/>
        </p:nvSpPr>
        <p:spPr>
          <a:xfrm>
            <a:off x="868680" y="1508760"/>
            <a:ext cx="4768596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New market / product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4C97C1-EEAC-4EEB-9736-BC0910359F8F}"/>
              </a:ext>
            </a:extLst>
          </p:cNvPr>
          <p:cNvSpPr>
            <a:spLocks noGrp="1"/>
          </p:cNvSpPr>
          <p:nvPr/>
        </p:nvSpPr>
        <p:spPr>
          <a:xfrm>
            <a:off x="6551676" y="1508760"/>
            <a:ext cx="4768596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Overseas brand and retail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917436" y="3401568"/>
            <a:ext cx="4402836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6917436" y="4544568"/>
            <a:ext cx="4402836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1234440" y="3401568"/>
            <a:ext cx="4402836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</p:spTree>
    <p:extLst>
      <p:ext uri="{BB962C8B-B14F-4D97-AF65-F5344CB8AC3E}">
        <p14:creationId xmlns:p14="http://schemas.microsoft.com/office/powerpoint/2010/main" val="14495126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48640" y="1508760"/>
            <a:ext cx="11091672" cy="242316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48640" y="4160520"/>
            <a:ext cx="11091672" cy="1874520"/>
          </a:xfrm>
          <a:prstGeom prst="roundRect">
            <a:avLst>
              <a:gd name="adj" fmla="val 2926"/>
            </a:avLst>
          </a:prstGeom>
          <a:solidFill>
            <a:srgbClr val="FFFFFF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73534DC-1801-48D6-9C8A-12D887E7EB91}"/>
              </a:ext>
            </a:extLst>
          </p:cNvPr>
          <p:cNvSpPr>
            <a:spLocks noGrp="1"/>
          </p:cNvSpPr>
          <p:nvPr/>
        </p:nvSpPr>
        <p:spPr>
          <a:xfrm>
            <a:off x="1417320" y="164592"/>
            <a:ext cx="102412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Application, approval and reimbursement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D59541-498A-409C-8E69-C03276DFF483}"/>
              </a:ext>
            </a:extLst>
          </p:cNvPr>
          <p:cNvSpPr>
            <a:spLocks noGrp="1"/>
          </p:cNvSpPr>
          <p:nvPr/>
        </p:nvSpPr>
        <p:spPr>
          <a:xfrm>
            <a:off x="548640" y="103327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APEDA website: Schemes menu, “Submit BKNY Application”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95DD6F-14C8-4E3A-8691-0D59E45816E6}"/>
              </a:ext>
            </a:extLst>
          </p:cNvPr>
          <p:cNvSpPr>
            <a:spLocks noGrp="1"/>
          </p:cNvSpPr>
          <p:nvPr/>
        </p:nvSpPr>
        <p:spPr>
          <a:xfrm>
            <a:off x="822960" y="1645920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4EC98EC3-48C3-43C1-B012-2ACC7B350875}"/>
              </a:ext>
            </a:extLst>
          </p:cNvPr>
          <p:cNvSpPr>
            <a:spLocks noGrp="1"/>
          </p:cNvSpPr>
          <p:nvPr/>
        </p:nvSpPr>
        <p:spPr>
          <a:xfrm>
            <a:off x="1078992" y="2359152"/>
            <a:ext cx="8229600" cy="0"/>
          </a:xfrm>
          <a:prstGeom prst="line">
            <a:avLst/>
          </a:prstGeom>
          <a:noFill/>
          <a:ln w="19050">
            <a:solidFill>
              <a:srgbClr val="E39B2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C5C2D11-BB4F-4CBE-AD3B-08A18BAA6281}"/>
              </a:ext>
            </a:extLst>
          </p:cNvPr>
          <p:cNvSpPr>
            <a:spLocks noGrp="1"/>
          </p:cNvSpPr>
          <p:nvPr/>
        </p:nvSpPr>
        <p:spPr>
          <a:xfrm>
            <a:off x="822960" y="2103120"/>
            <a:ext cx="512064" cy="512064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E4A272-CE74-4798-93DC-DD49316798EA}"/>
              </a:ext>
            </a:extLst>
          </p:cNvPr>
          <p:cNvSpPr>
            <a:spLocks noGrp="1"/>
          </p:cNvSpPr>
          <p:nvPr/>
        </p:nvSpPr>
        <p:spPr>
          <a:xfrm>
            <a:off x="822960" y="2103120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F3F6AE-FC90-42AF-9B4C-F0DBFDD9CA2A}"/>
              </a:ext>
            </a:extLst>
          </p:cNvPr>
          <p:cNvSpPr>
            <a:spLocks noGrp="1"/>
          </p:cNvSpPr>
          <p:nvPr/>
        </p:nvSpPr>
        <p:spPr>
          <a:xfrm>
            <a:off x="822960" y="2761488"/>
            <a:ext cx="246888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call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EFEF51-4CAF-4248-9E47-8A95E81897A6}"/>
              </a:ext>
            </a:extLst>
          </p:cNvPr>
          <p:cNvSpPr>
            <a:spLocks noGrp="1"/>
          </p:cNvSpPr>
          <p:nvPr/>
        </p:nvSpPr>
        <p:spPr>
          <a:xfrm>
            <a:off x="822960" y="3090672"/>
            <a:ext cx="246888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Priority groups / products. Window closes at twice available funds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A0BB264-5295-4F13-89CB-4EFA264E54B2}"/>
              </a:ext>
            </a:extLst>
          </p:cNvPr>
          <p:cNvSpPr>
            <a:spLocks noGrp="1"/>
          </p:cNvSpPr>
          <p:nvPr/>
        </p:nvSpPr>
        <p:spPr>
          <a:xfrm>
            <a:off x="3566160" y="2103120"/>
            <a:ext cx="512064" cy="512064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2DCF26-EB22-452B-B6CA-F4C76C735BEA}"/>
              </a:ext>
            </a:extLst>
          </p:cNvPr>
          <p:cNvSpPr>
            <a:spLocks noGrp="1"/>
          </p:cNvSpPr>
          <p:nvPr/>
        </p:nvSpPr>
        <p:spPr>
          <a:xfrm>
            <a:off x="3566160" y="2103120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BD3FB2-0D20-4438-BAD0-4E03218F2A2E}"/>
              </a:ext>
            </a:extLst>
          </p:cNvPr>
          <p:cNvSpPr>
            <a:spLocks noGrp="1"/>
          </p:cNvSpPr>
          <p:nvPr/>
        </p:nvSpPr>
        <p:spPr>
          <a:xfrm>
            <a:off x="3566160" y="2761488"/>
            <a:ext cx="246888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Complete proposal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0078B8-D219-481A-A863-8C639C5FFA1C}"/>
              </a:ext>
            </a:extLst>
          </p:cNvPr>
          <p:cNvSpPr>
            <a:spLocks noGrp="1"/>
          </p:cNvSpPr>
          <p:nvPr/>
        </p:nvSpPr>
        <p:spPr>
          <a:xfrm>
            <a:off x="3566160" y="3090672"/>
            <a:ext cx="246888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Online form and prescribed supporting documents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F3EA748-D950-4168-BD0B-E16776CEB3EA}"/>
              </a:ext>
            </a:extLst>
          </p:cNvPr>
          <p:cNvSpPr>
            <a:spLocks noGrp="1"/>
          </p:cNvSpPr>
          <p:nvPr/>
        </p:nvSpPr>
        <p:spPr>
          <a:xfrm>
            <a:off x="6309360" y="2103120"/>
            <a:ext cx="512064" cy="512064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15D803F-08E9-4E96-BF6D-3A515CE13906}"/>
              </a:ext>
            </a:extLst>
          </p:cNvPr>
          <p:cNvSpPr>
            <a:spLocks noGrp="1"/>
          </p:cNvSpPr>
          <p:nvPr/>
        </p:nvSpPr>
        <p:spPr>
          <a:xfrm>
            <a:off x="6309360" y="2103120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14035ED-33DF-4914-B8A5-1814B230B5F0}"/>
              </a:ext>
            </a:extLst>
          </p:cNvPr>
          <p:cNvSpPr>
            <a:spLocks noGrp="1"/>
          </p:cNvSpPr>
          <p:nvPr/>
        </p:nvSpPr>
        <p:spPr>
          <a:xfrm>
            <a:off x="6309360" y="2761488"/>
            <a:ext cx="246888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fee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A50598-C6D8-48CE-BBA7-DF0C7C65B714}"/>
              </a:ext>
            </a:extLst>
          </p:cNvPr>
          <p:cNvSpPr>
            <a:spLocks noGrp="1"/>
          </p:cNvSpPr>
          <p:nvPr/>
        </p:nvSpPr>
        <p:spPr>
          <a:xfrm>
            <a:off x="6309360" y="3090672"/>
            <a:ext cx="246888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Pay prescribed non-refundable submission fee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DFF0D90-A932-40E2-BCCB-A57BA185809B}"/>
              </a:ext>
            </a:extLst>
          </p:cNvPr>
          <p:cNvSpPr>
            <a:spLocks noGrp="1"/>
          </p:cNvSpPr>
          <p:nvPr/>
        </p:nvSpPr>
        <p:spPr>
          <a:xfrm>
            <a:off x="9052560" y="2103120"/>
            <a:ext cx="512064" cy="512064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CA5D4E-8FD8-4E42-920B-1AC0616ED72A}"/>
              </a:ext>
            </a:extLst>
          </p:cNvPr>
          <p:cNvSpPr>
            <a:spLocks noGrp="1"/>
          </p:cNvSpPr>
          <p:nvPr/>
        </p:nvSpPr>
        <p:spPr>
          <a:xfrm>
            <a:off x="9052560" y="2103120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7D80832-0D6C-4271-BDB0-452188E413A3}"/>
              </a:ext>
            </a:extLst>
          </p:cNvPr>
          <p:cNvSpPr>
            <a:spLocks noGrp="1"/>
          </p:cNvSpPr>
          <p:nvPr/>
        </p:nvSpPr>
        <p:spPr>
          <a:xfrm>
            <a:off x="9052560" y="2761488"/>
            <a:ext cx="246888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Tracking number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F64FBF-F342-47EB-917A-F1884C63F12C}"/>
              </a:ext>
            </a:extLst>
          </p:cNvPr>
          <p:cNvSpPr>
            <a:spLocks noGrp="1"/>
          </p:cNvSpPr>
          <p:nvPr/>
        </p:nvSpPr>
        <p:spPr>
          <a:xfrm>
            <a:off x="9052560" y="3090672"/>
            <a:ext cx="246888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Scheme system generates the application reference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1AD3B44-FF65-4F77-96A9-768903611439}"/>
              </a:ext>
            </a:extLst>
          </p:cNvPr>
          <p:cNvSpPr>
            <a:spLocks noGrp="1"/>
          </p:cNvSpPr>
          <p:nvPr/>
        </p:nvSpPr>
        <p:spPr>
          <a:xfrm>
            <a:off x="822960" y="4297680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Evaluation and release</a:t>
            </a:r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D8F38BD0-51FA-4B94-9F26-91ECEC299549}"/>
              </a:ext>
            </a:extLst>
          </p:cNvPr>
          <p:cNvSpPr>
            <a:spLocks noGrp="1"/>
          </p:cNvSpPr>
          <p:nvPr/>
        </p:nvSpPr>
        <p:spPr>
          <a:xfrm>
            <a:off x="1078992" y="4928616"/>
            <a:ext cx="8229600" cy="0"/>
          </a:xfrm>
          <a:prstGeom prst="line">
            <a:avLst/>
          </a:prstGeom>
          <a:noFill/>
          <a:ln w="15875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Diamond 24">
            <a:extLst>
              <a:ext uri="{FF2B5EF4-FFF2-40B4-BE49-F238E27FC236}">
                <a16:creationId xmlns:a16="http://schemas.microsoft.com/office/drawing/2014/main" id="{DEA52BD3-A4ED-46CF-B5EA-DF7B9DC0BA08}"/>
              </a:ext>
            </a:extLst>
          </p:cNvPr>
          <p:cNvSpPr>
            <a:spLocks noGrp="1"/>
          </p:cNvSpPr>
          <p:nvPr/>
        </p:nvSpPr>
        <p:spPr>
          <a:xfrm>
            <a:off x="950976" y="4800600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198E80E-C223-4CAD-9A34-E82673CAC2FA}"/>
              </a:ext>
            </a:extLst>
          </p:cNvPr>
          <p:cNvSpPr>
            <a:spLocks noGrp="1"/>
          </p:cNvSpPr>
          <p:nvPr/>
        </p:nvSpPr>
        <p:spPr>
          <a:xfrm>
            <a:off x="822960" y="5212080"/>
            <a:ext cx="246888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APEDA scrutiny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DB5C353-65A1-4BA1-BF70-FB622E8C0599}"/>
              </a:ext>
            </a:extLst>
          </p:cNvPr>
          <p:cNvSpPr>
            <a:spLocks noGrp="1"/>
          </p:cNvSpPr>
          <p:nvPr/>
        </p:nvSpPr>
        <p:spPr>
          <a:xfrm>
            <a:off x="822960" y="5532120"/>
            <a:ext cx="246888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/ financial</a:t>
            </a: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563BA5B9-6012-4CC0-8731-13E6EBEF7858}"/>
              </a:ext>
            </a:extLst>
          </p:cNvPr>
          <p:cNvSpPr>
            <a:spLocks noGrp="1"/>
          </p:cNvSpPr>
          <p:nvPr/>
        </p:nvSpPr>
        <p:spPr>
          <a:xfrm>
            <a:off x="3694176" y="4800600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0633A2E-0405-43DC-B942-AD664D98C607}"/>
              </a:ext>
            </a:extLst>
          </p:cNvPr>
          <p:cNvSpPr>
            <a:spLocks noGrp="1"/>
          </p:cNvSpPr>
          <p:nvPr/>
        </p:nvSpPr>
        <p:spPr>
          <a:xfrm>
            <a:off x="3566160" y="5212080"/>
            <a:ext cx="246888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Technical Committee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607BDD2-E54F-452F-9781-7DA3735C251F}"/>
              </a:ext>
            </a:extLst>
          </p:cNvPr>
          <p:cNvSpPr>
            <a:spLocks noGrp="1"/>
          </p:cNvSpPr>
          <p:nvPr/>
        </p:nvSpPr>
        <p:spPr>
          <a:xfrm>
            <a:off x="3566160" y="5532120"/>
            <a:ext cx="246888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Evaluation</a:t>
            </a:r>
          </a:p>
        </p:txBody>
      </p:sp>
      <p:sp>
        <p:nvSpPr>
          <p:cNvPr id="31" name="Diamond 30">
            <a:extLst>
              <a:ext uri="{FF2B5EF4-FFF2-40B4-BE49-F238E27FC236}">
                <a16:creationId xmlns:a16="http://schemas.microsoft.com/office/drawing/2014/main" id="{C7055554-D609-456C-8DE0-2EBAE6937B3D}"/>
              </a:ext>
            </a:extLst>
          </p:cNvPr>
          <p:cNvSpPr>
            <a:spLocks noGrp="1"/>
          </p:cNvSpPr>
          <p:nvPr/>
        </p:nvSpPr>
        <p:spPr>
          <a:xfrm>
            <a:off x="6437376" y="4800600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F63310F-1BA8-4890-9283-3C122D0B7691}"/>
              </a:ext>
            </a:extLst>
          </p:cNvPr>
          <p:cNvSpPr>
            <a:spLocks noGrp="1"/>
          </p:cNvSpPr>
          <p:nvPr/>
        </p:nvSpPr>
        <p:spPr>
          <a:xfrm>
            <a:off x="6309360" y="5212080"/>
            <a:ext cx="246888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IPA / Authority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02F11B-E4C0-4D3B-A928-95073B217864}"/>
              </a:ext>
            </a:extLst>
          </p:cNvPr>
          <p:cNvSpPr>
            <a:spLocks noGrp="1"/>
          </p:cNvSpPr>
          <p:nvPr/>
        </p:nvSpPr>
        <p:spPr>
          <a:xfrm>
            <a:off x="6309360" y="5532120"/>
            <a:ext cx="246888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Cost &gt;₹250 lakh: Authority</a:t>
            </a:r>
          </a:p>
        </p:txBody>
      </p:sp>
      <p:sp>
        <p:nvSpPr>
          <p:cNvPr id="34" name="Diamond 33">
            <a:extLst>
              <a:ext uri="{FF2B5EF4-FFF2-40B4-BE49-F238E27FC236}">
                <a16:creationId xmlns:a16="http://schemas.microsoft.com/office/drawing/2014/main" id="{EDDFF11F-D991-45CD-AE81-1BEA6EEA712E}"/>
              </a:ext>
            </a:extLst>
          </p:cNvPr>
          <p:cNvSpPr>
            <a:spLocks noGrp="1"/>
          </p:cNvSpPr>
          <p:nvPr/>
        </p:nvSpPr>
        <p:spPr>
          <a:xfrm>
            <a:off x="9180576" y="4800600"/>
            <a:ext cx="256032" cy="256032"/>
          </a:xfrm>
          <a:prstGeom prst="diamond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2B0A209-7909-4E59-899D-ADEC4B0CA187}"/>
              </a:ext>
            </a:extLst>
          </p:cNvPr>
          <p:cNvSpPr>
            <a:spLocks noGrp="1"/>
          </p:cNvSpPr>
          <p:nvPr/>
        </p:nvSpPr>
        <p:spPr>
          <a:xfrm>
            <a:off x="9052560" y="5212080"/>
            <a:ext cx="246888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FB037A8-A84B-41D6-BC21-C377E9C1BA85}"/>
              </a:ext>
            </a:extLst>
          </p:cNvPr>
          <p:cNvSpPr>
            <a:spLocks noGrp="1"/>
          </p:cNvSpPr>
          <p:nvPr/>
        </p:nvSpPr>
        <p:spPr>
          <a:xfrm>
            <a:off x="9052560" y="5532120"/>
            <a:ext cx="246888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40" name="Pentagon 39"/>
          <p:cNvSpPr/>
          <p:nvPr/>
        </p:nvSpPr>
        <p:spPr>
          <a:xfrm>
            <a:off x="0" y="237744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E51FE1F-D915-4FE4-AC53-37603A21500B}"/>
              </a:ext>
            </a:extLst>
          </p:cNvPr>
          <p:cNvSpPr>
            <a:spLocks noGrp="1"/>
          </p:cNvSpPr>
          <p:nvPr/>
        </p:nvSpPr>
        <p:spPr>
          <a:xfrm>
            <a:off x="384048" y="237744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266839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48640" y="1508760"/>
            <a:ext cx="3514344" cy="20574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337304" y="1508760"/>
            <a:ext cx="3514344" cy="20574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125968" y="1508760"/>
            <a:ext cx="3514344" cy="20574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48640" y="3794760"/>
            <a:ext cx="3514344" cy="20574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337304" y="3794760"/>
            <a:ext cx="3514344" cy="20574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125968" y="3794760"/>
            <a:ext cx="3514344" cy="20574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B9BC66E-FBA0-4D46-BD85-3780897C6C0F}"/>
              </a:ext>
            </a:extLst>
          </p:cNvPr>
          <p:cNvSpPr>
            <a:spLocks noGrp="1"/>
          </p:cNvSpPr>
          <p:nvPr/>
        </p:nvSpPr>
        <p:spPr>
          <a:xfrm>
            <a:off x="1417320" y="164592"/>
            <a:ext cx="102412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Documents supporting the application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3CE42F-56C6-45D2-886D-99B31FFA3DB0}"/>
              </a:ext>
            </a:extLst>
          </p:cNvPr>
          <p:cNvSpPr>
            <a:spLocks noGrp="1"/>
          </p:cNvSpPr>
          <p:nvPr/>
        </p:nvSpPr>
        <p:spPr>
          <a:xfrm>
            <a:off x="548640" y="103327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Six groups cover the core file. Each sub-component adds its prescribed formats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21995D-3063-4DAA-A24B-0BF51CFA9B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0" t="50390" r="83853" b="25390"/>
          <a:stretch/>
        </p:blipFill>
        <p:spPr>
          <a:xfrm>
            <a:off x="822960" y="1737360"/>
            <a:ext cx="731520" cy="73152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001714C-4B11-4589-A5BA-F26F38EE0FDE}"/>
              </a:ext>
            </a:extLst>
          </p:cNvPr>
          <p:cNvSpPr>
            <a:spLocks noGrp="1"/>
          </p:cNvSpPr>
          <p:nvPr/>
        </p:nvSpPr>
        <p:spPr>
          <a:xfrm>
            <a:off x="2874264" y="1783080"/>
            <a:ext cx="9144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B3A1ED-99EF-4838-80C4-5CE114F6427F}"/>
              </a:ext>
            </a:extLst>
          </p:cNvPr>
          <p:cNvSpPr>
            <a:spLocks noGrp="1"/>
          </p:cNvSpPr>
          <p:nvPr/>
        </p:nvSpPr>
        <p:spPr>
          <a:xfrm>
            <a:off x="822960" y="2606040"/>
            <a:ext cx="29657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Land and approvals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99AE43-CBA4-4E13-B5D8-DC377213E42B}"/>
              </a:ext>
            </a:extLst>
          </p:cNvPr>
          <p:cNvSpPr>
            <a:spLocks noGrp="1"/>
          </p:cNvSpPr>
          <p:nvPr/>
        </p:nvSpPr>
        <p:spPr>
          <a:xfrm>
            <a:off x="822960" y="2926080"/>
            <a:ext cx="29657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Title / 15-year lease, CLU, NOC and approvals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00E2586-D617-4AB8-B70A-D0F5E5B2F3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187" t="25390" r="17187" b="50390"/>
          <a:stretch/>
        </p:blipFill>
        <p:spPr>
          <a:xfrm>
            <a:off x="4611624" y="1737360"/>
            <a:ext cx="731520" cy="73152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090B198-208C-46E8-9B03-FE86F685449E}"/>
              </a:ext>
            </a:extLst>
          </p:cNvPr>
          <p:cNvSpPr>
            <a:spLocks noGrp="1"/>
          </p:cNvSpPr>
          <p:nvPr/>
        </p:nvSpPr>
        <p:spPr>
          <a:xfrm>
            <a:off x="6662928" y="1783080"/>
            <a:ext cx="9144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179B76-F1FF-46F1-B40C-8777D6B7C33D}"/>
              </a:ext>
            </a:extLst>
          </p:cNvPr>
          <p:cNvSpPr>
            <a:spLocks noGrp="1"/>
          </p:cNvSpPr>
          <p:nvPr/>
        </p:nvSpPr>
        <p:spPr>
          <a:xfrm>
            <a:off x="4611624" y="2606040"/>
            <a:ext cx="29657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Project proposal / DPR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762C26-6E7A-484A-AE8E-73D039EF1C8A}"/>
              </a:ext>
            </a:extLst>
          </p:cNvPr>
          <p:cNvSpPr>
            <a:spLocks noGrp="1"/>
          </p:cNvSpPr>
          <p:nvPr/>
        </p:nvSpPr>
        <p:spPr>
          <a:xfrm>
            <a:off x="4611624" y="2926080"/>
            <a:ext cx="29657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Profile, process flow, costs and export-market benefits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F3DF211-34C2-4E2A-9739-34E6810E558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853" t="50390" r="50520" b="25390"/>
          <a:stretch/>
        </p:blipFill>
        <p:spPr>
          <a:xfrm>
            <a:off x="8400288" y="1737360"/>
            <a:ext cx="731520" cy="73152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88A65D2-3B08-404B-9236-C16AFDBC9F5B}"/>
              </a:ext>
            </a:extLst>
          </p:cNvPr>
          <p:cNvSpPr>
            <a:spLocks noGrp="1"/>
          </p:cNvSpPr>
          <p:nvPr/>
        </p:nvSpPr>
        <p:spPr>
          <a:xfrm>
            <a:off x="10451592" y="1783080"/>
            <a:ext cx="9144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18958C-917D-45A1-A54F-968AB13EBBB7}"/>
              </a:ext>
            </a:extLst>
          </p:cNvPr>
          <p:cNvSpPr>
            <a:spLocks noGrp="1"/>
          </p:cNvSpPr>
          <p:nvPr/>
        </p:nvSpPr>
        <p:spPr>
          <a:xfrm>
            <a:off x="8400288" y="2606040"/>
            <a:ext cx="29657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Finance and appraisal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CE49870-6A6F-4290-BECB-4EEAA6D2834B}"/>
              </a:ext>
            </a:extLst>
          </p:cNvPr>
          <p:cNvSpPr>
            <a:spLocks noGrp="1"/>
          </p:cNvSpPr>
          <p:nvPr/>
        </p:nvSpPr>
        <p:spPr>
          <a:xfrm>
            <a:off x="8400288" y="2926080"/>
            <a:ext cx="29657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Appraisal / loan or relevant financial evidence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9A60DC1-AF8F-4949-8C8E-CE281F848A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187" t="50390" r="17187" b="25390"/>
          <a:stretch/>
        </p:blipFill>
        <p:spPr>
          <a:xfrm>
            <a:off x="822960" y="4023360"/>
            <a:ext cx="731520" cy="73152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DAAF040-C319-4DD8-A9F8-E3BC15D2C2D8}"/>
              </a:ext>
            </a:extLst>
          </p:cNvPr>
          <p:cNvSpPr>
            <a:spLocks noGrp="1"/>
          </p:cNvSpPr>
          <p:nvPr/>
        </p:nvSpPr>
        <p:spPr>
          <a:xfrm>
            <a:off x="2874264" y="4069080"/>
            <a:ext cx="9144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83D2C2-6219-42AC-8643-F666409982CD}"/>
              </a:ext>
            </a:extLst>
          </p:cNvPr>
          <p:cNvSpPr>
            <a:spLocks noGrp="1"/>
          </p:cNvSpPr>
          <p:nvPr/>
        </p:nvSpPr>
        <p:spPr>
          <a:xfrm>
            <a:off x="822960" y="4892040"/>
            <a:ext cx="29657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Quotations and cost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36ED1D-FECF-4386-B82A-EDC0F23589F0}"/>
              </a:ext>
            </a:extLst>
          </p:cNvPr>
          <p:cNvSpPr>
            <a:spLocks noGrp="1"/>
          </p:cNvSpPr>
          <p:nvPr/>
        </p:nvSpPr>
        <p:spPr>
          <a:xfrm>
            <a:off x="822960" y="5212080"/>
            <a:ext cx="29657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Minimum 3 equipment quotes, specifications and eligible costs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8943285-CE12-4DF0-B244-14F6CFB0C3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87" t="50390" r="67187" b="25390"/>
          <a:stretch/>
        </p:blipFill>
        <p:spPr>
          <a:xfrm>
            <a:off x="4611624" y="4023360"/>
            <a:ext cx="731520" cy="73152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A7007458-6632-4412-ABA8-70E89E642911}"/>
              </a:ext>
            </a:extLst>
          </p:cNvPr>
          <p:cNvSpPr>
            <a:spLocks noGrp="1"/>
          </p:cNvSpPr>
          <p:nvPr/>
        </p:nvSpPr>
        <p:spPr>
          <a:xfrm>
            <a:off x="6662928" y="4069080"/>
            <a:ext cx="9144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1288C3-4868-4C95-8AD5-623A889E3642}"/>
              </a:ext>
            </a:extLst>
          </p:cNvPr>
          <p:cNvSpPr>
            <a:spLocks noGrp="1"/>
          </p:cNvSpPr>
          <p:nvPr/>
        </p:nvSpPr>
        <p:spPr>
          <a:xfrm>
            <a:off x="4611624" y="4892040"/>
            <a:ext cx="29657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Civil works / layout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39C14C2-33DD-4C25-A896-DDC4F72B07B6}"/>
              </a:ext>
            </a:extLst>
          </p:cNvPr>
          <p:cNvSpPr>
            <a:spLocks noGrp="1"/>
          </p:cNvSpPr>
          <p:nvPr/>
        </p:nvSpPr>
        <p:spPr>
          <a:xfrm>
            <a:off x="4611624" y="5212080"/>
            <a:ext cx="29657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Engineer-certified BOQ and project drawing / layout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F451CE2-1308-403F-A6C5-B32115936F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520" t="50390" r="33853" b="25390"/>
          <a:stretch/>
        </p:blipFill>
        <p:spPr>
          <a:xfrm>
            <a:off x="8400288" y="4023360"/>
            <a:ext cx="731520" cy="73152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6E453F9E-F185-4C60-B149-2A76FB4A3431}"/>
              </a:ext>
            </a:extLst>
          </p:cNvPr>
          <p:cNvSpPr>
            <a:spLocks noGrp="1"/>
          </p:cNvSpPr>
          <p:nvPr/>
        </p:nvSpPr>
        <p:spPr>
          <a:xfrm>
            <a:off x="10451592" y="4069080"/>
            <a:ext cx="9144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371C67C-4F97-4404-B8E6-AFF485FD0875}"/>
              </a:ext>
            </a:extLst>
          </p:cNvPr>
          <p:cNvSpPr>
            <a:spLocks noGrp="1"/>
          </p:cNvSpPr>
          <p:nvPr/>
        </p:nvSpPr>
        <p:spPr>
          <a:xfrm>
            <a:off x="8400288" y="4892040"/>
            <a:ext cx="29657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Eligibility and declarations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2D6F336-3581-4DA0-82F6-A9D4A29CDD54}"/>
              </a:ext>
            </a:extLst>
          </p:cNvPr>
          <p:cNvSpPr>
            <a:spLocks noGrp="1"/>
          </p:cNvSpPr>
          <p:nvPr/>
        </p:nvSpPr>
        <p:spPr>
          <a:xfrm>
            <a:off x="8400288" y="5212080"/>
            <a:ext cx="29657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RCMC / NPOP / category, entity and other-assistance declarations</a:t>
            </a:r>
          </a:p>
        </p:txBody>
      </p:sp>
      <p:sp>
        <p:nvSpPr>
          <p:cNvPr id="36" name="Pentagon 35"/>
          <p:cNvSpPr/>
          <p:nvPr/>
        </p:nvSpPr>
        <p:spPr>
          <a:xfrm>
            <a:off x="0" y="237744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A579080-D023-46C8-87D5-1300441AC608}"/>
              </a:ext>
            </a:extLst>
          </p:cNvPr>
          <p:cNvSpPr>
            <a:spLocks noGrp="1"/>
          </p:cNvSpPr>
          <p:nvPr/>
        </p:nvSpPr>
        <p:spPr>
          <a:xfrm>
            <a:off x="384048" y="237744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6490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48640" y="1508760"/>
            <a:ext cx="11091672" cy="1874520"/>
          </a:xfrm>
          <a:prstGeom prst="roundRect">
            <a:avLst>
              <a:gd name="adj" fmla="val 2926"/>
            </a:avLst>
          </a:prstGeom>
          <a:solidFill>
            <a:srgbClr val="FFFFFF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48640" y="3547872"/>
            <a:ext cx="11091672" cy="384048"/>
          </a:xfrm>
          <a:prstGeom prst="roundRect">
            <a:avLst>
              <a:gd name="adj" fmla="val 19047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48640" y="4160520"/>
            <a:ext cx="3514344" cy="1691640"/>
          </a:xfrm>
          <a:prstGeom prst="roundRect">
            <a:avLst>
              <a:gd name="adj" fmla="val 3243"/>
            </a:avLst>
          </a:prstGeom>
          <a:solidFill>
            <a:srgbClr val="174F35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337304" y="4160520"/>
            <a:ext cx="3514344" cy="1691640"/>
          </a:xfrm>
          <a:prstGeom prst="roundRect">
            <a:avLst>
              <a:gd name="adj" fmla="val 3243"/>
            </a:avLst>
          </a:prstGeom>
          <a:solidFill>
            <a:srgbClr val="174F35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25968" y="4160520"/>
            <a:ext cx="3514344" cy="1691640"/>
          </a:xfrm>
          <a:prstGeom prst="roundRect">
            <a:avLst>
              <a:gd name="adj" fmla="val 3243"/>
            </a:avLst>
          </a:prstGeom>
          <a:solidFill>
            <a:srgbClr val="174F35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8A249A6-9A2F-47E3-A2E4-EB8C585E6739}"/>
              </a:ext>
            </a:extLst>
          </p:cNvPr>
          <p:cNvSpPr>
            <a:spLocks noGrp="1"/>
          </p:cNvSpPr>
          <p:nvPr/>
        </p:nvSpPr>
        <p:spPr>
          <a:xfrm>
            <a:off x="1417320" y="164592"/>
            <a:ext cx="102412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Release of assistance and continuing obligations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8048403-0520-4792-96F0-A48C576D9144}"/>
              </a:ext>
            </a:extLst>
          </p:cNvPr>
          <p:cNvSpPr>
            <a:spLocks noGrp="1"/>
          </p:cNvSpPr>
          <p:nvPr/>
        </p:nvSpPr>
        <p:spPr>
          <a:xfrm>
            <a:off x="548640" y="1033272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Standard exporter assistance reimburses approved eligible cost after completion and verification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B1D470AC-AB83-4692-95E6-83150ACABE51}"/>
              </a:ext>
            </a:extLst>
          </p:cNvPr>
          <p:cNvSpPr>
            <a:spLocks noGrp="1"/>
          </p:cNvSpPr>
          <p:nvPr/>
        </p:nvSpPr>
        <p:spPr>
          <a:xfrm>
            <a:off x="960120" y="1856232"/>
            <a:ext cx="7577328" cy="0"/>
          </a:xfrm>
          <a:prstGeom prst="line">
            <a:avLst/>
          </a:prstGeom>
          <a:noFill/>
          <a:ln w="1905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6268665-F276-42E8-A8D4-E5502076B86C}"/>
              </a:ext>
            </a:extLst>
          </p:cNvPr>
          <p:cNvSpPr>
            <a:spLocks noGrp="1"/>
          </p:cNvSpPr>
          <p:nvPr/>
        </p:nvSpPr>
        <p:spPr>
          <a:xfrm>
            <a:off x="822960" y="1719072"/>
            <a:ext cx="274320" cy="274320"/>
          </a:xfrm>
          <a:prstGeom prst="ellipse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0A50FF-9661-4523-9D09-48E693FED7F6}"/>
              </a:ext>
            </a:extLst>
          </p:cNvPr>
          <p:cNvSpPr>
            <a:spLocks noGrp="1"/>
          </p:cNvSpPr>
          <p:nvPr/>
        </p:nvSpPr>
        <p:spPr>
          <a:xfrm>
            <a:off x="822960" y="2148840"/>
            <a:ext cx="29657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Implementation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564AEE-CA41-446F-A0C9-2911FE5BBFD5}"/>
              </a:ext>
            </a:extLst>
          </p:cNvPr>
          <p:cNvSpPr>
            <a:spLocks noGrp="1"/>
          </p:cNvSpPr>
          <p:nvPr/>
        </p:nvSpPr>
        <p:spPr>
          <a:xfrm>
            <a:off x="822960" y="2487168"/>
            <a:ext cx="2965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Approved eligible assets / activity within IPA validity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1A04D46-DE00-41E4-ACC8-31564E5A1492}"/>
              </a:ext>
            </a:extLst>
          </p:cNvPr>
          <p:cNvSpPr>
            <a:spLocks noGrp="1"/>
          </p:cNvSpPr>
          <p:nvPr/>
        </p:nvSpPr>
        <p:spPr>
          <a:xfrm>
            <a:off x="4611624" y="1719072"/>
            <a:ext cx="274320" cy="274320"/>
          </a:xfrm>
          <a:prstGeom prst="ellipse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0B14A4-930A-4F62-A1D1-53F101C5C3C8}"/>
              </a:ext>
            </a:extLst>
          </p:cNvPr>
          <p:cNvSpPr>
            <a:spLocks noGrp="1"/>
          </p:cNvSpPr>
          <p:nvPr/>
        </p:nvSpPr>
        <p:spPr>
          <a:xfrm>
            <a:off x="4611624" y="2148840"/>
            <a:ext cx="29657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3249D7-5926-4424-AF6B-DF872AD3AF51}"/>
              </a:ext>
            </a:extLst>
          </p:cNvPr>
          <p:cNvSpPr>
            <a:spLocks noGrp="1"/>
          </p:cNvSpPr>
          <p:nvPr/>
        </p:nvSpPr>
        <p:spPr>
          <a:xfrm>
            <a:off x="4611624" y="2487168"/>
            <a:ext cx="2965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CA / UDIN, invoices, bank payments and completion evidence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A6DAAB4-0BDB-4130-86F4-0C3A56949170}"/>
              </a:ext>
            </a:extLst>
          </p:cNvPr>
          <p:cNvSpPr>
            <a:spLocks noGrp="1"/>
          </p:cNvSpPr>
          <p:nvPr/>
        </p:nvSpPr>
        <p:spPr>
          <a:xfrm>
            <a:off x="8400288" y="1719072"/>
            <a:ext cx="274320" cy="274320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FD01162-F1F8-4D19-BDBB-D2F4AFD2B9EB}"/>
              </a:ext>
            </a:extLst>
          </p:cNvPr>
          <p:cNvSpPr>
            <a:spLocks noGrp="1"/>
          </p:cNvSpPr>
          <p:nvPr/>
        </p:nvSpPr>
        <p:spPr>
          <a:xfrm>
            <a:off x="8400288" y="2148840"/>
            <a:ext cx="29657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9986324-57A7-44AF-B86B-C384138DB9CD}"/>
              </a:ext>
            </a:extLst>
          </p:cNvPr>
          <p:cNvSpPr>
            <a:spLocks noGrp="1"/>
          </p:cNvSpPr>
          <p:nvPr/>
        </p:nvSpPr>
        <p:spPr>
          <a:xfrm>
            <a:off x="8400288" y="2487168"/>
            <a:ext cx="2965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scrutiny / inspection. Processing fee: 5% + GST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F735C0-510E-48D2-8593-790F26DBF9AC}"/>
              </a:ext>
            </a:extLst>
          </p:cNvPr>
          <p:cNvSpPr>
            <a:spLocks noGrp="1"/>
          </p:cNvSpPr>
          <p:nvPr/>
        </p:nvSpPr>
        <p:spPr>
          <a:xfrm>
            <a:off x="777240" y="3547872"/>
            <a:ext cx="10634472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pPr>
            <a:r>
              <a:rPr sz="1150" b="0">
                <a:solidFill>
                  <a:srgbClr val="6B4A12"/>
                </a:solidFill>
                <a:latin typeface="Arial"/>
                <a:ea typeface="Arial"/>
                <a:cs typeface="Arial"/>
              </a:rPr>
              <a:t>Claims before IPA expiry. For activities exempt from IPA, submit within 3 months of completion. Assistance depends on available funds.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F4AE6D-8085-4BBD-A47D-BC1BEE1AF29F}"/>
              </a:ext>
            </a:extLst>
          </p:cNvPr>
          <p:cNvSpPr>
            <a:spLocks noGrp="1"/>
          </p:cNvSpPr>
          <p:nvPr/>
        </p:nvSpPr>
        <p:spPr>
          <a:xfrm>
            <a:off x="868680" y="4343400"/>
            <a:ext cx="2874264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25% BG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42AB2BB-7C55-465B-A52E-1B8FADA7CA13}"/>
              </a:ext>
            </a:extLst>
          </p:cNvPr>
          <p:cNvSpPr>
            <a:spLocks noGrp="1"/>
          </p:cNvSpPr>
          <p:nvPr/>
        </p:nvSpPr>
        <p:spPr>
          <a:xfrm>
            <a:off x="868680" y="4937760"/>
            <a:ext cx="2874264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 years or until performance, whichever is later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112D56E-8E39-41BB-ABBC-9A4464B74BBD}"/>
              </a:ext>
            </a:extLst>
          </p:cNvPr>
          <p:cNvSpPr>
            <a:spLocks noGrp="1"/>
          </p:cNvSpPr>
          <p:nvPr/>
        </p:nvSpPr>
        <p:spPr>
          <a:xfrm>
            <a:off x="4657344" y="4343400"/>
            <a:ext cx="2874264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Quarterly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33BE32-CA2D-4386-9A9E-223C96948113}"/>
              </a:ext>
            </a:extLst>
          </p:cNvPr>
          <p:cNvSpPr>
            <a:spLocks noGrp="1"/>
          </p:cNvSpPr>
          <p:nvPr/>
        </p:nvSpPr>
        <p:spPr>
          <a:xfrm>
            <a:off x="4657344" y="4937760"/>
            <a:ext cx="2874264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Online performance return, even when exports are nil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1D82A82-5650-41DD-8177-4F5405F9CFCE}"/>
              </a:ext>
            </a:extLst>
          </p:cNvPr>
          <p:cNvSpPr>
            <a:spLocks noGrp="1"/>
          </p:cNvSpPr>
          <p:nvPr/>
        </p:nvSpPr>
        <p:spPr>
          <a:xfrm>
            <a:off x="8446008" y="4343400"/>
            <a:ext cx="2874264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5 years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7AFFAEC-CB89-45D4-B898-050B1D20A9C9}"/>
              </a:ext>
            </a:extLst>
          </p:cNvPr>
          <p:cNvSpPr>
            <a:spLocks noGrp="1"/>
          </p:cNvSpPr>
          <p:nvPr/>
        </p:nvSpPr>
        <p:spPr>
          <a:xfrm>
            <a:off x="8446008" y="4937760"/>
            <a:ext cx="2874264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Retain assets. No sale / transfer. Recovery for breach</a:t>
            </a:r>
          </a:p>
        </p:txBody>
      </p:sp>
      <p:sp>
        <p:nvSpPr>
          <p:cNvPr id="28" name="Pentagon 27"/>
          <p:cNvSpPr/>
          <p:nvPr/>
        </p:nvSpPr>
        <p:spPr>
          <a:xfrm>
            <a:off x="0" y="237744"/>
            <a:ext cx="1078992" cy="420624"/>
          </a:xfrm>
          <a:prstGeom prst="homePlat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CDFDD3-1100-4B94-89BA-5F9E210B7152}"/>
              </a:ext>
            </a:extLst>
          </p:cNvPr>
          <p:cNvSpPr>
            <a:spLocks noGrp="1"/>
          </p:cNvSpPr>
          <p:nvPr/>
        </p:nvSpPr>
        <p:spPr>
          <a:xfrm>
            <a:off x="384048" y="237744"/>
            <a:ext cx="566928" cy="42062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8554135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/>
          <p:cNvSpPr/>
          <p:nvPr/>
        </p:nvSpPr>
        <p:spPr>
          <a:xfrm>
            <a:off x="685800" y="2240280"/>
            <a:ext cx="10817352" cy="3840480"/>
          </a:xfrm>
          <a:prstGeom prst="roundRect">
            <a:avLst>
              <a:gd name="adj" fmla="val 1428"/>
            </a:avLst>
          </a:prstGeom>
          <a:solidFill>
            <a:srgbClr val="FFFFFF"/>
          </a:solidFill>
          <a:ln>
            <a:noFill/>
          </a:ln>
          <a:effectLst>
            <a:outerShdw blurRad="127000" dist="31750" dir="5400000" algn="t" rotWithShape="0">
              <a:srgbClr val="1E3A2B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F69469-81AA-4ABC-8006-17B4B6DB0AF6}"/>
              </a:ext>
            </a:extLst>
          </p:cNvPr>
          <p:cNvSpPr>
            <a:spLocks noGrp="1"/>
          </p:cNvSpPr>
          <p:nvPr/>
        </p:nvSpPr>
        <p:spPr>
          <a:xfrm>
            <a:off x="685800" y="731520"/>
            <a:ext cx="10607040" cy="822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4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4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4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Thank You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01F021B-675D-4F13-A0BB-134A4E414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51560" y="3520440"/>
            <a:ext cx="4014216" cy="1344168"/>
          </a:xfrm>
          <a:prstGeom prst="rect">
            <a:avLst/>
          </a:prstGeom>
        </p:spPr>
      </p:pic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C57BEB9B-FA74-47DA-93D0-C2DF31C7B705}"/>
              </a:ext>
            </a:extLst>
          </p:cNvPr>
          <p:cNvSpPr>
            <a:spLocks noGrp="1"/>
          </p:cNvSpPr>
          <p:nvPr/>
        </p:nvSpPr>
        <p:spPr>
          <a:xfrm>
            <a:off x="5486400" y="2606040"/>
            <a:ext cx="0" cy="3108960"/>
          </a:xfrm>
          <a:prstGeom prst="line">
            <a:avLst/>
          </a:prstGeom>
          <a:noFill/>
          <a:ln w="15875">
            <a:solidFill>
              <a:srgbClr val="D8E2D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59816D-28B4-4BED-B984-810D0920828D}"/>
              </a:ext>
            </a:extLst>
          </p:cNvPr>
          <p:cNvSpPr>
            <a:spLocks noGrp="1"/>
          </p:cNvSpPr>
          <p:nvPr/>
        </p:nvSpPr>
        <p:spPr>
          <a:xfrm>
            <a:off x="5943600" y="2697480"/>
            <a:ext cx="530352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Mr. Sandeep Bohra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95BA85-A2D5-4A10-BE59-CB9FC896A6FF}"/>
              </a:ext>
            </a:extLst>
          </p:cNvPr>
          <p:cNvSpPr>
            <a:spLocks noGrp="1"/>
          </p:cNvSpPr>
          <p:nvPr/>
        </p:nvSpPr>
        <p:spPr>
          <a:xfrm>
            <a:off x="5943600" y="3200400"/>
            <a:ext cx="5303520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FCA, MBA, CAIIB</a:t>
            </a:r>
          </a:p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Founder &amp; Chief Executive Officer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F05097-9EFE-4C8F-B503-8D8EAFB69157}"/>
              </a:ext>
            </a:extLst>
          </p:cNvPr>
          <p:cNvSpPr>
            <a:spLocks noGrp="1"/>
          </p:cNvSpPr>
          <p:nvPr/>
        </p:nvSpPr>
        <p:spPr>
          <a:xfrm>
            <a:off x="5943600" y="4023360"/>
            <a:ext cx="530352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D8651"/>
                </a:solidFill>
                <a:latin typeface="Arial"/>
                <a:ea typeface="Arial"/>
                <a:cs typeface="Arial"/>
              </a:rPr>
              <a:t>+91 99710 57298</a:t>
            </a:r>
          </a:p>
          <a:p>
            <a: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D8651"/>
                </a:solidFill>
                <a:latin typeface="Arial"/>
                <a:ea typeface="Arial"/>
                <a:cs typeface="Arial"/>
              </a:rPr>
              <a:t>sandeep@krishikaadvisory.com</a:t>
            </a:r>
          </a:p>
          <a:p>
            <a: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D8651"/>
                </a:solidFill>
                <a:latin typeface="Arial"/>
                <a:ea typeface="Arial"/>
                <a:cs typeface="Arial"/>
              </a:rPr>
              <a:t>krishikaadvisory.com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8BA510-D146-40A4-99C3-7B9CA6C8D3F8}"/>
              </a:ext>
            </a:extLst>
          </p:cNvPr>
          <p:cNvSpPr>
            <a:spLocks noGrp="1"/>
          </p:cNvSpPr>
          <p:nvPr/>
        </p:nvSpPr>
        <p:spPr>
          <a:xfrm>
            <a:off x="5943600" y="4983480"/>
            <a:ext cx="53035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Block B, 818 &amp; 817, 8th Floor, West Bank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Opp. Gold Cinema, Ashram Road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Ahmedabad – 380009</a:t>
            </a:r>
          </a:p>
        </p:txBody>
      </p:sp>
    </p:spTree>
    <p:extLst>
      <p:ext uri="{BB962C8B-B14F-4D97-AF65-F5344CB8AC3E}">
        <p14:creationId xmlns:p14="http://schemas.microsoft.com/office/powerpoint/2010/main" val="120177841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929B2EE-EBE7-4C91-A761-2921A3CB0A37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b0a04840-1deb-40f0-8c18-9d7b3dc83a5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3036</Words>
  <Application>Microsoft Office PowerPoint</Application>
  <DocSecurity>0</DocSecurity>
  <PresentationFormat>Widescreen</PresentationFormat>
  <Paragraphs>273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Aptos</vt:lpstr>
      <vt:lpstr>Arial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Ishaan Sharma</cp:lastModifiedBy>
  <cp:revision>1</cp:revision>
  <dcterms:created xsi:type="dcterms:W3CDTF">2026-10-13T08:41:00Z</dcterms:created>
  <dcterms:modified xsi:type="dcterms:W3CDTF">2026-10-13T09:13:17Z</dcterms:modified>
</cp:coreProperties>
</file>