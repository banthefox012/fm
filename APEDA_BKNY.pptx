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12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60017" y="3510169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8780" y="3517416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380220" y="3510169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2"/>
          <a:srcRect l="30000" t="44000" b="47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lang="en-US" sz="27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Abbreviations</a:t>
            </a:r>
            <a:endParaRPr sz="2700" b="1" dirty="0">
              <a:solidFill>
                <a:srgbClr val="FFFFFF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1325880"/>
            <a:ext cx="3422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Approvals and paperwork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48640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548640" y="187452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IPA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1874520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In-Principle Approval from APEDA before work starts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48640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548640" y="2404872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RCMC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45920" y="2404872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APEDA Registration-cum-Membership Certificate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8640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548640" y="2935224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DPR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45920" y="2935224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Detailed Project Report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3465576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BOQ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3465576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Bill of Quantities for civil work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8640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548640" y="399592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CLU / NOC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45920" y="3995928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Change of Land Use / No Objection Certificate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48640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7" name="TextBox 66"/>
          <p:cNvSpPr txBox="1"/>
          <p:nvPr/>
        </p:nvSpPr>
        <p:spPr>
          <a:xfrm>
            <a:off x="548640" y="45262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45920" y="4526280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Bank Guarantee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48640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548640" y="5056632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CA / UDIN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45920" y="5056632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Chartered Accountant certificate with its unique document number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48640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548640" y="5586984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O&amp;M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45920" y="5586984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Operation and maintenance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83024" y="1325880"/>
            <a:ext cx="3422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Quality and equipment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383024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77" name="TextBox 76"/>
          <p:cNvSpPr txBox="1"/>
          <p:nvPr/>
        </p:nvSpPr>
        <p:spPr>
          <a:xfrm>
            <a:off x="4383024" y="187452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FSMS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80304" y="1874520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Food Safety Management System, e.g. HACCP, ISO 22000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383024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0" name="TextBox 79"/>
          <p:cNvSpPr txBox="1"/>
          <p:nvPr/>
        </p:nvSpPr>
        <p:spPr>
          <a:xfrm>
            <a:off x="4383024" y="2404872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NABL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0304" y="2404872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Accreditation body for testing labs (ISO 17025)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383024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3" name="TextBox 82"/>
          <p:cNvSpPr txBox="1"/>
          <p:nvPr/>
        </p:nvSpPr>
        <p:spPr>
          <a:xfrm>
            <a:off x="4383024" y="2935224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SPS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0304" y="2935224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Sanitary and phytosanitary (food and plant-health) rules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383024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6" name="TextBox 85"/>
          <p:cNvSpPr txBox="1"/>
          <p:nvPr/>
        </p:nvSpPr>
        <p:spPr>
          <a:xfrm>
            <a:off x="4383024" y="3465576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IQF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0304" y="3465576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Individually Quick Frozen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383024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9" name="TextBox 88"/>
          <p:cNvSpPr txBox="1"/>
          <p:nvPr/>
        </p:nvSpPr>
        <p:spPr>
          <a:xfrm>
            <a:off x="4383024" y="399592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OEM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0304" y="3995928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Original Equipment Manufacturer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4383024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2" name="TextBox 91"/>
          <p:cNvSpPr txBox="1"/>
          <p:nvPr/>
        </p:nvSpPr>
        <p:spPr>
          <a:xfrm>
            <a:off x="4383024" y="45262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SOP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80304" y="4526280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Standard Operating Procedure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4383024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5" name="TextBox 94"/>
          <p:cNvSpPr txBox="1"/>
          <p:nvPr/>
        </p:nvSpPr>
        <p:spPr>
          <a:xfrm>
            <a:off x="4383024" y="5056632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80304" y="5056632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Chartered Engineer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383024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cxnSp>
        <p:nvCxnSpPr>
          <p:cNvPr id="100" name="Connector 99"/>
          <p:cNvCxnSpPr/>
          <p:nvPr/>
        </p:nvCxnSpPr>
        <p:spPr>
          <a:xfrm>
            <a:off x="4177284" y="1371600"/>
            <a:ext cx="0" cy="46634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1" name="TextBox 100"/>
          <p:cNvSpPr txBox="1"/>
          <p:nvPr/>
        </p:nvSpPr>
        <p:spPr>
          <a:xfrm>
            <a:off x="8217408" y="1325880"/>
            <a:ext cx="3422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Groups and programmes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8217408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103" name="TextBox 102"/>
          <p:cNvSpPr txBox="1"/>
          <p:nvPr/>
        </p:nvSpPr>
        <p:spPr>
          <a:xfrm>
            <a:off x="8217408" y="187452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FPO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14688" y="1874520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Farmer Producer Organisation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217408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06" name="TextBox 105"/>
          <p:cNvSpPr txBox="1"/>
          <p:nvPr/>
        </p:nvSpPr>
        <p:spPr>
          <a:xfrm>
            <a:off x="8217408" y="2404872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PACS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14688" y="2404872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Primary Agricultural Co-operative Credit Society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8217408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09" name="TextBox 108"/>
          <p:cNvSpPr txBox="1"/>
          <p:nvPr/>
        </p:nvSpPr>
        <p:spPr>
          <a:xfrm>
            <a:off x="8217408" y="2935224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NPOP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14688" y="2935224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National Programme for Organic Production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8217408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2" name="TextBox 111"/>
          <p:cNvSpPr txBox="1"/>
          <p:nvPr/>
        </p:nvSpPr>
        <p:spPr>
          <a:xfrm>
            <a:off x="8217408" y="3465576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DPIIT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14688" y="3465576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Govt department that certifies startups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217408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5" name="TextBox 114"/>
          <p:cNvSpPr txBox="1"/>
          <p:nvPr/>
        </p:nvSpPr>
        <p:spPr>
          <a:xfrm>
            <a:off x="8217408" y="399592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BHARATI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14688" y="3995928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APEDA's agri-food startup programme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8217408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8" name="TextBox 117"/>
          <p:cNvSpPr txBox="1"/>
          <p:nvPr/>
        </p:nvSpPr>
        <p:spPr>
          <a:xfrm>
            <a:off x="8217408" y="45262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GI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14688" y="4526280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Geographical Indication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8217408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21" name="TextBox 120"/>
          <p:cNvSpPr txBox="1"/>
          <p:nvPr/>
        </p:nvSpPr>
        <p:spPr>
          <a:xfrm>
            <a:off x="8217408" y="5056632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ODOP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314688" y="5056632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One District One Product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8217408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24" name="TextBox 123"/>
          <p:cNvSpPr txBox="1"/>
          <p:nvPr/>
        </p:nvSpPr>
        <p:spPr>
          <a:xfrm>
            <a:off x="4383024" y="5650992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ToT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480304" y="5650992"/>
            <a:ext cx="232562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Training of Trainers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8011668" y="1371600"/>
            <a:ext cx="0" cy="46634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</a:t>
            </a:r>
            <a:r>
              <a:rPr lang="en-IN"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packhouse / facility</a:t>
            </a:r>
            <a:endParaRPr sz="1250" b="1" dirty="0">
              <a:solidFill>
                <a:srgbClr val="2235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limit across the four items above,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islands, with the same ceilings; special categories file an annual eligibility undertaking for 3 years.</a:t>
            </a:r>
          </a:p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Public common facilities use a separate route (slide 15).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010912"/>
            <a:ext cx="110916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1">
                <a:solidFill>
                  <a:srgbClr val="2D8651"/>
                </a:solidFill>
                <a:latin typeface="Arial"/>
              </a:rPr>
              <a:t>Who counts for the 75% rate: </a:t>
            </a:r>
            <a:r>
              <a:rPr sz="1050" i="1" b="0">
                <a:solidFill>
                  <a:srgbClr val="2D8651"/>
                </a:solidFill>
                <a:latin typeface="Arial"/>
              </a:rPr>
              <a:t>SC/ST: SC/ST proprietor, or SC/ST partners / directors holding at least 51% for one year before applying. Women: woman proprietor, or all partners / directors women. The business must be at least one year old, and ownership must stay so for the plan period or 3 years from disbursement, whichever is longer.</a:t>
            </a:r>
          </a:p>
        </p:txBody>
      </p: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572768"/>
            <a:ext cx="2999232" cy="12435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 Washing / grading only for fresh fruit &amp; vegetables, flowers and F&amp;V seeds.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packhouse or facility.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in own name or 15-year registered lease; packhouses must meet NCCD / MIDH cold-chain norms.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i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Costs between filing and IPA count only if APEDA accepts them.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Processing-gap support: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existing line + HACCP / ISO 22000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Reefer vehicles per plan: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 exporters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1005840" y="1823482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6973443" y="1823482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10698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1">
                <a:solidFill>
                  <a:srgbClr val="8A5300"/>
                </a:solidFill>
                <a:latin typeface="Arial"/>
              </a:rPr>
              <a:t>No double funding: </a:t>
            </a:r>
            <a:r>
              <a:rPr sz="1100" i="1" b="0">
                <a:solidFill>
                  <a:srgbClr val="8A5300"/>
                </a:solidFill>
                <a:latin typeface="Arial"/>
              </a:rPr>
              <a:t>a component already funded by another government agency is not eligible; other applications for the same project must be declared.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incl. renewals. FSMS: own manufacturing unit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88152" y="4206240"/>
            <a:ext cx="2258568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 where the importing country / APEDA requires testing;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 support needs an existing line and food-safety certification. Testing claims need no prior approval (IPA). Lab equipment excludes consumables, glassware, computers,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sp>
        <p:nvSpPr>
          <p:cNvPr id="65" name="Guideline note 65"/>
          <p:cNvSpPr>
            <a:spLocks noGrp="1"/>
          </p:cNvSpPr>
          <p:nvPr/>
        </p:nvSpPr>
        <p:spPr>
          <a:xfrm>
            <a:off x="548640" y="5705856"/>
            <a:ext cx="749808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Listed-lab upgrades need APEDA recognition + NABL ISO 17025. Special categories get 75% on all items here, same ceilings.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654296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Registered under APEDA's BHARATI startup programme; 3-year export plan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Fix an importing country's food / plant-safety (SPS) issue; show target market and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791456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 (not merchant exporters)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252847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252847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233805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2" name="Guideline note 52"/>
          <p:cNvSpPr>
            <a:spLocks noGrp="1"/>
          </p:cNvSpPr>
          <p:nvPr/>
        </p:nvSpPr>
        <p:spPr>
          <a:xfrm>
            <a:off x="2898648" y="4389120"/>
            <a:ext cx="64008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Startup = APEDA RCMC holder with DPIIT certificate, 2–5 years old, turnover up to ₹500 lakh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891540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 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50108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150108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08676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408676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25812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9925812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</a:t>
            </a:r>
            <a:r>
              <a:rPr lang="en-IN"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%</a:t>
            </a:r>
            <a:endParaRPr sz="1200" b="1" dirty="0">
              <a:solidFill>
                <a:srgbClr val="9A5F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  <p:sp>
        <p:nvSpPr>
          <p:cNvPr id="57" name="Guideline note 57"/>
          <p:cNvSpPr>
            <a:spLocks noGrp="1"/>
          </p:cNvSpPr>
          <p:nvPr/>
        </p:nvSpPr>
        <p:spPr>
          <a:xfrm>
            <a:off x="548640" y="6089904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Trade fairs, buyer-seller meets and GI / ODOP / organic promotion are run directly by APEDA, with preference to new participants.</a:t>
            </a:r>
          </a:p>
        </p:txBody>
      </p:sp>
      <p:sp>
        <p:nvSpPr>
          <p:cNvPr id="58" name="Rate note"/>
          <p:cNvSpPr>
            <a:spLocks noGrp="1"/>
          </p:cNvSpPr>
          <p:nvPr/>
        </p:nvSpPr>
        <p:spPr>
          <a:xfrm>
            <a:off x="548640" y="5897880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8A5300"/>
                </a:solidFill>
                <a:latin typeface="Arial"/>
                <a:ea typeface="Arial"/>
                <a:cs typeface="Arial"/>
              </a:rPr>
              <a:t>*75% for special categories (North-East, Ladakh, J&amp;K, islands; FPO, PACS, SC/ST, women, startups); for studies also trade bodies, Indian missions, govt agencies and organic exporters.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Fee paid directly to the retail chain or its authorised agent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once requests reach twice the funds available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Approval (IPA)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43016"/>
            <a:ext cx="25603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Over ₹250 lakh: APEDA Authority approval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0CA6F88-971D-9448-2DC6-2FE9169B5EBD}"/>
              </a:ext>
            </a:extLst>
          </p:cNvPr>
          <p:cNvCxnSpPr/>
          <p:nvPr/>
        </p:nvCxnSpPr>
        <p:spPr>
          <a:xfrm>
            <a:off x="701802" y="1781175"/>
            <a:ext cx="79095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5EB7C8-0A02-760D-C3E6-80EE419E571D}"/>
              </a:ext>
            </a:extLst>
          </p:cNvPr>
          <p:cNvCxnSpPr>
            <a:cxnSpLocks/>
          </p:cNvCxnSpPr>
          <p:nvPr/>
        </p:nvCxnSpPr>
        <p:spPr>
          <a:xfrm>
            <a:off x="694944" y="4792627"/>
            <a:ext cx="167944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109728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1">
                <a:solidFill>
                  <a:srgbClr val="8A5300"/>
                </a:solidFill>
                <a:latin typeface="Arial"/>
              </a:rPr>
              <a:t>Rejected outright if </a:t>
            </a:r>
            <a:r>
              <a:rPr sz="1100" i="1" b="0">
                <a:solidFill>
                  <a:srgbClr val="8A5300"/>
                </a:solidFill>
                <a:latin typeface="Arial"/>
              </a:rPr>
              <a:t>the application is incomplete, the pre-inspection is unsatisfactory, or more than one application is filed for the same sub-component.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common facilities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public common facilities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certificate, invoices, bank payments; APEDA logo painted on assets (no stickers)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25% of the grant, held 3 years from payment, or longer until the declared export performance is met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20656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Keep assisted assets for 5 years; selling or transferring them means refund with interest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" y="109728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1">
                <a:solidFill>
                  <a:srgbClr val="8A5300"/>
                </a:solidFill>
                <a:latin typeface="Arial"/>
              </a:rPr>
              <a:t>You fund the full project first. </a:t>
            </a:r>
            <a:r>
              <a:rPr sz="1100" i="1" b="0">
                <a:solidFill>
                  <a:srgbClr val="8A5300"/>
                </a:solidFill>
                <a:latin typeface="Arial"/>
              </a:rPr>
              <a:t>APEDA reimburses the approved assistance in one payment after completion and verification; there is no advance or instalment.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3593592"/>
            <a:ext cx="1109167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8A5300"/>
                </a:solidFill>
                <a:latin typeface="Arial"/>
              </a:rPr>
              <a:t>No claims can be carried beyond the plan period (2026–27 to 2030–31); assistance also depends on the scheme continuing.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2"/>
          <a:srcRect l="30000" t="52000" b="39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Common infrastructure for public institutions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15</a:t>
            </a:r>
          </a:p>
        </p:txBody>
      </p:sp>
      <p:sp>
        <p:nvSpPr>
          <p:cNvPr id="50" name="Oval 49"/>
          <p:cNvSpPr/>
          <p:nvPr/>
        </p:nvSpPr>
        <p:spPr>
          <a:xfrm>
            <a:off x="548640" y="146304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146304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60" y="141732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New common facility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737360" y="178308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₹600 lakh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214884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Integrated pack houses, processing units, laboratories etc. set up by Central / State government institutions</a:t>
            </a:r>
          </a:p>
        </p:txBody>
      </p:sp>
      <p:sp>
        <p:nvSpPr>
          <p:cNvPr id="55" name="Oval 54"/>
          <p:cNvSpPr/>
          <p:nvPr/>
        </p:nvSpPr>
        <p:spPr>
          <a:xfrm>
            <a:off x="548640" y="288036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288036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283464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Upgrade of existing common facilities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737360" y="320040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₹200 lakh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356616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Up-gradation and modernisation of existing common facilities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2697480"/>
            <a:ext cx="52578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4224528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Only in these regions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449884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48640" y="4498848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North-East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20" y="4498848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645920" y="4498848"/>
            <a:ext cx="74980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Ladakh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87168" y="4498848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487168" y="449884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J&amp;K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45536" y="44988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145536" y="4498848"/>
            <a:ext cx="14813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Andaman &amp; Nicobar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718304" y="4498848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718304" y="4498848"/>
            <a:ext cx="10789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Lakshadweep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89904" y="1463040"/>
            <a:ext cx="0" cy="33375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355080" y="1417320"/>
            <a:ext cx="52852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74F35"/>
                </a:solidFill>
                <a:latin typeface="Arial"/>
              </a:rPr>
              <a:t>Grant released in three instalments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55080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355080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69173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469173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83266" y="1874520"/>
            <a:ext cx="1020470" cy="457200"/>
          </a:xfrm>
          <a:prstGeom prst="roundRect">
            <a:avLst>
              <a:gd name="adj" fmla="val 12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583266" y="1874520"/>
            <a:ext cx="102047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20%</a:t>
            </a:r>
          </a:p>
        </p:txBody>
      </p:sp>
      <p:sp>
        <p:nvSpPr>
          <p:cNvPr id="80" name="Oval 79"/>
          <p:cNvSpPr/>
          <p:nvPr/>
        </p:nvSpPr>
        <p:spPr>
          <a:xfrm>
            <a:off x="6355080" y="2651760"/>
            <a:ext cx="182880" cy="182880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647688" y="260604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1st 40%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26680" y="2606040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a bank guarantee of 50% of the assistance, valid for the project period plus 12 months</a:t>
            </a:r>
          </a:p>
        </p:txBody>
      </p:sp>
      <p:sp>
        <p:nvSpPr>
          <p:cNvPr id="83" name="Oval 82"/>
          <p:cNvSpPr/>
          <p:nvPr/>
        </p:nvSpPr>
        <p:spPr>
          <a:xfrm>
            <a:off x="6355080" y="3310128"/>
            <a:ext cx="182880" cy="18288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647688" y="326440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2nd 40%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26680" y="3264408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proof of expenditure including own share, utilisation and CA certificates, and APEDA inspection</a:t>
            </a:r>
          </a:p>
        </p:txBody>
      </p:sp>
      <p:sp>
        <p:nvSpPr>
          <p:cNvPr id="86" name="Oval 85"/>
          <p:cNvSpPr/>
          <p:nvPr/>
        </p:nvSpPr>
        <p:spPr>
          <a:xfrm>
            <a:off x="6355080" y="3968496"/>
            <a:ext cx="182880" cy="182880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647688" y="392277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Final 20%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26680" y="3922776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On commissioning and an O&amp;M contract with end users (labs: NABL ISO 17025)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572000"/>
            <a:ext cx="528523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i="1" dirty="0">
                <a:solidFill>
                  <a:srgbClr val="8A5300"/>
                </a:solidFill>
                <a:latin typeface="Arial"/>
              </a:rPr>
              <a:t>If n</a:t>
            </a:r>
            <a:r>
              <a:rPr sz="1050" b="0" i="1" dirty="0">
                <a:solidFill>
                  <a:srgbClr val="8A5300"/>
                </a:solidFill>
                <a:latin typeface="Arial"/>
              </a:rPr>
              <a:t>ot implemented as approved: refund with interest; bank guarantee forfeited.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9834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548640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8"/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685800" y="5276088"/>
            <a:ext cx="566928" cy="5669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508760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DPR + CE certificate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Annexure I format</a:t>
            </a:r>
          </a:p>
        </p:txBody>
      </p:sp>
      <p:sp>
        <p:nvSpPr>
          <p:cNvPr id="94" name="Oval 93"/>
          <p:cNvSpPr/>
          <p:nvPr/>
        </p:nvSpPr>
        <p:spPr>
          <a:xfrm>
            <a:off x="3378708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5" name="Picture 24"/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3515868" y="5276088"/>
            <a:ext cx="566928" cy="56692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38828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Appraisal note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bank, or own if no loan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264408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6208776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9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345936" y="5276088"/>
            <a:ext cx="566928" cy="56692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68896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Land title / 15-yr lease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encumbrance-free, with CLU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094476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9038844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2"/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9176004" y="5276088"/>
            <a:ext cx="566928" cy="5669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998964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Separate bank account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for the grant released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924544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174F35"/>
                </a:solidFill>
                <a:effectLst>
                  <a:outerShdw blurRad="38100" dist="38100" dir="2700000" algn="tl" rotWithShape="0">
                    <a:srgbClr val="000000">
                      <a:alpha val="35000"/>
                    </a:srgbClr>
                  </a:outerShdw>
                </a:effectLst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0" y="3429000"/>
            <a:ext cx="2834640" cy="950976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120640" y="2788920"/>
            <a:ext cx="0" cy="2926080"/>
          </a:xfrm>
          <a:prstGeom prst="line">
            <a:avLst/>
          </a:prstGeom>
          <a:noFill/>
          <a:ln w="28575">
            <a:solidFill>
              <a:srgbClr val="7F8A8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394960" y="2971800"/>
            <a:ext cx="59436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394960" y="3364992"/>
            <a:ext cx="5943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394960" y="3931920"/>
            <a:ext cx="594360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Contact: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Email: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Website: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394960" y="4846320"/>
            <a:ext cx="594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Address: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1858</Words>
  <Application>Microsoft Office PowerPoint</Application>
  <DocSecurity>0</DocSecurity>
  <PresentationFormat>Widescreen</PresentationFormat>
  <Paragraphs>333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20</cp:revision>
  <dcterms:created xsi:type="dcterms:W3CDTF">2026-10-13T08:41:00Z</dcterms:created>
  <dcterms:modified xsi:type="dcterms:W3CDTF">2026-10-13T13:24:58Z</dcterms:modified>
</cp:coreProperties>
</file>