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12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2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Contents</a:t>
            </a:r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548640" y="1435608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48640" y="143560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34440" y="1371600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Eligibility and support areas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234440" y="2011680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1" name="Oval 50"/>
          <p:cNvSpPr/>
          <p:nvPr/>
        </p:nvSpPr>
        <p:spPr>
          <a:xfrm>
            <a:off x="548640" y="2112264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48640" y="211226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34440" y="2048256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40% assistance for export infrastructure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234440" y="2688336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5" name="Oval 54"/>
          <p:cNvSpPr/>
          <p:nvPr/>
        </p:nvSpPr>
        <p:spPr>
          <a:xfrm>
            <a:off x="548640" y="2788920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278892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34440" y="2724912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New packhouses and facility upgrades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234440" y="3364992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9" name="Oval 58"/>
          <p:cNvSpPr/>
          <p:nvPr/>
        </p:nvSpPr>
        <p:spPr>
          <a:xfrm>
            <a:off x="548640" y="3465576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48640" y="346557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4440" y="3401568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Support along the export supply chain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234440" y="4041648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548640" y="4142232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48640" y="4142232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4440" y="4078224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What counts for the infrastructure grant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234440" y="4718304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7" name="Oval 66"/>
          <p:cNvSpPr/>
          <p:nvPr/>
        </p:nvSpPr>
        <p:spPr>
          <a:xfrm>
            <a:off x="548640" y="4818888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48640" y="481888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34440" y="4754880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Quality, testing and laboratory assistance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234440" y="5394960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1" name="Oval 70"/>
          <p:cNvSpPr/>
          <p:nvPr/>
        </p:nvSpPr>
        <p:spPr>
          <a:xfrm>
            <a:off x="548640" y="5495544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48640" y="549554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4440" y="5431536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Innovation, startups and export capability</a:t>
            </a:r>
          </a:p>
        </p:txBody>
      </p:sp>
      <p:sp>
        <p:nvSpPr>
          <p:cNvPr id="74" name="Oval 73"/>
          <p:cNvSpPr/>
          <p:nvPr/>
        </p:nvSpPr>
        <p:spPr>
          <a:xfrm>
            <a:off x="6460236" y="1435608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460236" y="143560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46036" y="1371600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Market access and overseas promotion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146036" y="2011680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6460236" y="2112264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460236" y="211226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6036" y="2048256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Market proposals: eligibility and evidence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146036" y="2688336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2" name="Oval 81"/>
          <p:cNvSpPr/>
          <p:nvPr/>
        </p:nvSpPr>
        <p:spPr>
          <a:xfrm>
            <a:off x="6460236" y="2788920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460236" y="278892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46036" y="2724912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Application, approval and reimbursement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146036" y="3364992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6" name="Oval 85"/>
          <p:cNvSpPr/>
          <p:nvPr/>
        </p:nvSpPr>
        <p:spPr>
          <a:xfrm>
            <a:off x="6460236" y="3465576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460236" y="346557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46036" y="3401568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Documents supporting the application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7146036" y="4041648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0" name="Oval 89"/>
          <p:cNvSpPr/>
          <p:nvPr/>
        </p:nvSpPr>
        <p:spPr>
          <a:xfrm>
            <a:off x="6460236" y="4142232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460236" y="4142232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46036" y="4078224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Release of assistance and continuing obligations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146036" y="4718304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4" name="Oval 93"/>
          <p:cNvSpPr/>
          <p:nvPr/>
        </p:nvSpPr>
        <p:spPr>
          <a:xfrm>
            <a:off x="6460236" y="4818888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460236" y="481888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146036" y="4754880"/>
            <a:ext cx="4494276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Common infrastructure for public institutions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094476" y="1417320"/>
            <a:ext cx="0" cy="4572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60017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8780" y="3517416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380220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</a:t>
            </a:r>
            <a:r>
              <a:rPr lang="en-IN"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 / facility</a:t>
            </a:r>
            <a:endParaRPr sz="1250" b="1" dirty="0">
              <a:solidFill>
                <a:srgbClr val="2235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limit across the four items above,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instead of 40%, with the same ceilings, for exporters in North-East, Ladakh, J&amp;K, Andaman &amp; Nicobar or Lakshadweep, and for FPO, PACS, SC/ST, women and startups anywhere in India; they file an annual eligibility undertaking for 3 years.</a:t>
            </a:r>
          </a:p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Public common facilities use a separate route (13).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2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packhouse or facility.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in own name or 15-year registered lease; packhouses must meet NCCD / MIDH cold-chain norms.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3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760720" y="2596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i="1">
                <a:solidFill>
                  <a:srgbClr val="8A5300"/>
                </a:solidFill>
                <a:latin typeface="Arial"/>
              </a:rPr>
              <a:t>75% for special categories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0" y="41056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i="1">
                <a:solidFill>
                  <a:srgbClr val="8A5300"/>
                </a:solidFill>
                <a:latin typeface="Arial"/>
              </a:rPr>
              <a:t>75% for special categories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· 75%*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· 75%*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· 75%*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· 75%*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4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i="1">
                <a:solidFill>
                  <a:srgbClr val="8A5300"/>
                </a:solidFill>
                <a:latin typeface="Arial"/>
              </a:rPr>
              <a:t>*75% for exporters in North-East, Ladakh, J&amp;K and the islands, and for FPO, PACS, SC/ST, women and startups; same ceilings.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i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between filing and IPA count only if APEDA accepts them.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Processing-gap support: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existing line + HACCP / ISO 22000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Reefer vehicles per plan: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 exporters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5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1005840" y="1823482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6973443" y="1823482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10698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8A5300"/>
                </a:solidFill>
                <a:latin typeface="Arial"/>
              </a:rPr>
              <a:t>No double funding: </a:t>
            </a:r>
            <a:r>
              <a:rPr sz="1100" b="0" i="1">
                <a:solidFill>
                  <a:srgbClr val="8A5300"/>
                </a:solidFill>
                <a:latin typeface="Arial"/>
              </a:rPr>
              <a:t>a component already funded by another government agency is not eligible; other applications for the same project must be declared.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88152" y="4206240"/>
            <a:ext cx="2258568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 where the importing country / APEDA requires testing;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 support needs an existing line and food-safety certification. Testing claims need no prior approval (IPA). Lab equipment excludes consumables, glassware, computers,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6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+ NABL ISO 17025. Special categories get 75% on all items here, same ceilings.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654296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Registered under APEDA's BHARATI startup programme; 3-year export plan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Fix an importing country's food / plant-safety (SPS) issue; show target market and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791456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7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252847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252847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233805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38912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891540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 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50108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150108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8676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408676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5812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9925812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</a:t>
            </a:r>
            <a:r>
              <a:rPr lang="en-IN"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%</a:t>
            </a:r>
            <a:endParaRPr sz="1200" b="1" dirty="0">
              <a:solidFill>
                <a:srgbClr val="9A5F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8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89904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  <p:sp>
        <p:nvSpPr>
          <p:cNvPr id="58" name="Rate note"/>
          <p:cNvSpPr>
            <a:spLocks noGrp="1"/>
          </p:cNvSpPr>
          <p:nvPr/>
        </p:nvSpPr>
        <p:spPr>
          <a:xfrm>
            <a:off x="548640" y="5897880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8A5300"/>
                </a:solidFill>
                <a:latin typeface="Arial"/>
                <a:ea typeface="Arial"/>
                <a:cs typeface="Arial"/>
              </a:rPr>
              <a:t>*75% for special categories (North-East, Ladakh, J&amp;K, islands; FPO, PACS, SC/ST, women, startups); for studies also trade bodies, Indian missions, govt agencies and organic exporters.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Fee paid directly to the retail chain or its authorised agent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once requests reach twice the funds available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Approval (IPA)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43016"/>
            <a:ext cx="25603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Over ₹250 lakh: APEDA Authority approval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0CA6F88-971D-9448-2DC6-2FE9169B5EBD}"/>
              </a:ext>
            </a:extLst>
          </p:cNvPr>
          <p:cNvCxnSpPr/>
          <p:nvPr/>
        </p:nvCxnSpPr>
        <p:spPr>
          <a:xfrm>
            <a:off x="701802" y="1781175"/>
            <a:ext cx="79095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5EB7C8-0A02-760D-C3E6-80EE419E571D}"/>
              </a:ext>
            </a:extLst>
          </p:cNvPr>
          <p:cNvCxnSpPr>
            <a:cxnSpLocks/>
          </p:cNvCxnSpPr>
          <p:nvPr/>
        </p:nvCxnSpPr>
        <p:spPr>
          <a:xfrm>
            <a:off x="694944" y="4792627"/>
            <a:ext cx="167944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8A5300"/>
                </a:solidFill>
                <a:latin typeface="Arial"/>
              </a:rPr>
              <a:t>Rejected outright if </a:t>
            </a:r>
            <a:r>
              <a:rPr sz="1100" b="0" i="1">
                <a:solidFill>
                  <a:srgbClr val="8A5300"/>
                </a:solidFill>
                <a:latin typeface="Arial"/>
              </a:rPr>
              <a:t>the application is incomplete, the pre-inspection is unsatisfactory, or more than one application is filed for the same sub-component.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common facilities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public common facilities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25% of the grant, held 3 years from payment, or longer until the declared export performance is met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20656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Keep assisted assets for 5 years; selling or transferring them means refund with interest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2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dirty="0">
                <a:solidFill>
                  <a:srgbClr val="8A5300"/>
                </a:solidFill>
                <a:latin typeface="Arial"/>
              </a:rPr>
              <a:t>You fund the full project first. </a:t>
            </a:r>
            <a:r>
              <a:rPr sz="1100" b="0" i="1" dirty="0">
                <a:solidFill>
                  <a:srgbClr val="8A5300"/>
                </a:solidFill>
                <a:latin typeface="Arial"/>
              </a:rPr>
              <a:t>APEDA reimburses the approved assistance in one payment after completion and verification; there is no advance or instalment.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3593592"/>
            <a:ext cx="1109167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1">
                <a:solidFill>
                  <a:srgbClr val="8A5300"/>
                </a:solidFill>
                <a:latin typeface="Arial"/>
              </a:rPr>
              <a:t>No claims can be carried beyond the plan period (2026–27 to 2030–31); assistance also depends on the scheme continuing.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2"/>
          <a:srcRect l="30000" t="52000" b="39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Common infrastructure for public institutions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3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548640" y="14630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146304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141732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New common facility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737360" y="178308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₹600 lakh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214884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Integrated pack houses, processing units, laboratories etc. set up by Central / State government institutions</a:t>
            </a:r>
          </a:p>
        </p:txBody>
      </p:sp>
      <p:sp>
        <p:nvSpPr>
          <p:cNvPr id="55" name="Oval 54"/>
          <p:cNvSpPr/>
          <p:nvPr/>
        </p:nvSpPr>
        <p:spPr>
          <a:xfrm>
            <a:off x="548640" y="288036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288036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283464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Upgrade of existing common facilities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737360" y="320040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₹200 lakh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6616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Up-gradation and modernisation of existing common facilities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2697480"/>
            <a:ext cx="52578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422452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Only in these regions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44988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48640" y="449884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North-East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20" y="4498848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645920" y="4498848"/>
            <a:ext cx="74980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Ladakh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87168" y="449884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487168" y="449884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J&amp;K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45536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145536" y="4498848"/>
            <a:ext cx="14813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Andaman &amp; Nicobar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718304" y="4498848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718304" y="4498848"/>
            <a:ext cx="10789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Lakshadweep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89904" y="1463040"/>
            <a:ext cx="0" cy="33375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355080" y="1417320"/>
            <a:ext cx="52852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Grant released in three instalments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55080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69173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469173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83266" y="1874520"/>
            <a:ext cx="1020470" cy="457200"/>
          </a:xfrm>
          <a:prstGeom prst="roundRect">
            <a:avLst>
              <a:gd name="adj" fmla="val 12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583266" y="1874520"/>
            <a:ext cx="102047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80" name="Oval 79"/>
          <p:cNvSpPr/>
          <p:nvPr/>
        </p:nvSpPr>
        <p:spPr>
          <a:xfrm>
            <a:off x="6355080" y="2651760"/>
            <a:ext cx="182880" cy="182880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647688" y="26060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1st 40%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26680" y="2606040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a bank guarantee of 50% of the assistance, valid for the project period plus 12 months</a:t>
            </a:r>
          </a:p>
        </p:txBody>
      </p:sp>
      <p:sp>
        <p:nvSpPr>
          <p:cNvPr id="83" name="Oval 82"/>
          <p:cNvSpPr/>
          <p:nvPr/>
        </p:nvSpPr>
        <p:spPr>
          <a:xfrm>
            <a:off x="6355080" y="3310128"/>
            <a:ext cx="182880" cy="18288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647688" y="326440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2nd 40%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80" y="3264408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proof of expenditure including own share, utilisation and CA certificates, and APEDA inspection</a:t>
            </a:r>
          </a:p>
        </p:txBody>
      </p:sp>
      <p:sp>
        <p:nvSpPr>
          <p:cNvPr id="86" name="Oval 85"/>
          <p:cNvSpPr/>
          <p:nvPr/>
        </p:nvSpPr>
        <p:spPr>
          <a:xfrm>
            <a:off x="6355080" y="3968496"/>
            <a:ext cx="182880" cy="182880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647688" y="392277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Final 20%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26680" y="3922776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On commissioning and an O&amp;M contract with end users (labs: NABL ISO 17025)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72000"/>
            <a:ext cx="528523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i="1" dirty="0">
                <a:solidFill>
                  <a:srgbClr val="8A5300"/>
                </a:solidFill>
                <a:latin typeface="Arial"/>
              </a:rPr>
              <a:t>If n</a:t>
            </a:r>
            <a:r>
              <a:rPr sz="1050" b="0" i="1" dirty="0">
                <a:solidFill>
                  <a:srgbClr val="8A5300"/>
                </a:solidFill>
                <a:latin typeface="Arial"/>
              </a:rPr>
              <a:t>ot implemented as approved: refund with interest; bank guarantee forfeited.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548640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685800" y="5276088"/>
            <a:ext cx="566928" cy="5669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508760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DPR + CE certificate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Annexure I format</a:t>
            </a:r>
          </a:p>
        </p:txBody>
      </p:sp>
      <p:sp>
        <p:nvSpPr>
          <p:cNvPr id="94" name="Oval 93"/>
          <p:cNvSpPr/>
          <p:nvPr/>
        </p:nvSpPr>
        <p:spPr>
          <a:xfrm>
            <a:off x="3378708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3515868" y="5276088"/>
            <a:ext cx="566928" cy="5669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38828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Appraisal note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bank, or own if no loan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264408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6208776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345936" y="5276088"/>
            <a:ext cx="566928" cy="5669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68896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Land title / 15-yr lease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encumbrance-free, with CLU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094476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9038844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9176004" y="5276088"/>
            <a:ext cx="566928" cy="5669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998964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Separate bank account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for the grant released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924544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1901</Words>
  <Application>Microsoft Office PowerPoint</Application>
  <DocSecurity>0</DocSecurity>
  <PresentationFormat>Widescreen</PresentationFormat>
  <Paragraphs>313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24</cp:revision>
  <dcterms:created xsi:type="dcterms:W3CDTF">2026-10-13T08:41:00Z</dcterms:created>
  <dcterms:modified xsi:type="dcterms:W3CDTF">2026-10-14T12:31:26Z</dcterms:modified>
</cp:coreProperties>
</file>